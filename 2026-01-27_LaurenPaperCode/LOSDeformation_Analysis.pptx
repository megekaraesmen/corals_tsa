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8"/>
  </p:normalViewPr>
  <p:slideViewPr>
    <p:cSldViewPr snapToGrid="0">
      <p:cViewPr varScale="1">
        <p:scale>
          <a:sx n="93" d="100"/>
          <a:sy n="93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991DF-A6BC-9946-AEFA-844534E2490E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142C6-9E33-4244-AF28-CE46C3A0D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2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Instead of interpolation, can also use the values from the fit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142C6-9E33-4244-AF28-CE46C3A0DE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9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F7DC-2D39-2DB0-DE1C-7D402EAB9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571A6-B5AA-F00C-1AB4-4D7A123BC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466AD-E802-BA11-7E52-D2FAB755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488F9-FEA2-1E8A-ABAF-C54F1EF4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52991-1ECE-7D45-652F-64CD6111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93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1BE55-9FDC-51BF-F25B-2678A097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063C-00E3-E462-EFE3-DFFCDB215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02AB7-05EC-7B0C-C56F-D98395D10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740B7-AC55-62D3-1D37-6068ADCF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E06C3-51B2-3BCF-E44F-937697FE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7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874F-6437-C5D9-651C-0D2E9712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329B2-0F2D-AEE4-8089-EDC85A99E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4446-CBD9-5CC6-2E2F-7A5B4332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39814-8A67-FEFB-53FB-B6965764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40B7-C437-28A9-9D81-46F4F38F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3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384B-1705-0E04-A050-306DFC55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4E98-B038-25C2-91C0-508E1E34E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66B3B-6152-E7CA-A2DD-0B50A5BAF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0AD2C-218F-BF40-1D7D-DD728D09B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351D6-907F-F0F1-CF5A-5CBD57D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E55D9-C9CC-3E1F-AC11-0DD2E554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7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B60B-2ECE-E8C5-82F2-2153A1AC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0DD5B-048B-2B3D-8022-A82192927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2CEA9-B928-8781-2DAE-ADE87AA62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59A50-3682-D612-95EE-263367369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A0E2CE-D164-3562-778C-8952BCE51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4FB0C-D2C9-D07A-32B5-745C543E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269859-B561-F17A-FD58-096E64CA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67570-ECDF-7458-F045-18E79B8D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74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3DB2-12F7-8D1E-5329-A39782F5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4FD51B-F981-75A3-D75D-8A0FBA0B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0C099-9813-2CEA-5D4F-03B7D2F9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2A9CB-4436-156E-366B-A8F6F354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8B6E5-64AB-A425-BF86-227AA63BB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9719B-970E-0BD6-5FED-9561B742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254A0-7BFA-1C7D-D037-B60078CE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74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4924-6D9C-2AA0-889D-686E5A2B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0E71-71B6-BC5B-8D20-D82E2189D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EEB33-48FF-0886-B22A-213D52A25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8CC9F-83E4-A28E-555B-4B9FF35B8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B9DAF-2410-CD88-A6AE-023CF9CE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2F280-DE6D-3CA1-37C8-CC83C950B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8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72A2-60EF-B3FF-44AE-41E1F2E7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089CC-19E9-668F-D37A-448DD3F6A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2F6EE-EC00-7FC6-FDBB-8F053DA3A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8E2C1-E418-F3FF-A883-AEB16269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79D95-4B89-CDEA-C278-3AE6E88D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48383-340D-2DAE-E770-EEEB838CB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7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72F8-F2D9-59CE-56D7-83F70888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07A28-C1F8-E1F5-8B84-96D5ABD83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C71AB-D04F-AEA9-9F55-3604EA16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6C0CC-9DCC-764E-3E1B-A3C9F2038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24B0B-14CB-7B59-FFD1-E92538B8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5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E47FC-0660-575A-5A8A-661CC2D40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99885-F172-E8B0-A687-7B2960913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CF877-A934-295A-E30C-49C351D3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7E804-7C4F-0EE8-7833-402042E21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D3BB1-AEA1-3167-9C96-3D8A5B82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3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BC935A-E449-FF5A-C248-3C5D7CA42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872B8-8AB2-5257-CFD9-AEBC20E4D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07B51-5E3F-2903-0F35-8F74E0C6A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CBFF4-4F7F-7C40-AA4E-FE3A89620B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3DA9D-AD6A-A7FE-0ABF-D0239C563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23E30-6593-E7D6-7836-7926AB946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2A329-0AC1-A142-B9CC-0CF6E72BE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8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D052-CF34-C16A-3BA3-F4BD86C4D4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LOS Deformation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D565B-F3EC-4EF2-D195-13AA69ADB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Lauren Kendall</a:t>
            </a:r>
          </a:p>
          <a:p>
            <a:r>
              <a:rPr lang="en-US" dirty="0"/>
              <a:t>January 27, 2026</a:t>
            </a:r>
          </a:p>
        </p:txBody>
      </p:sp>
    </p:spTree>
    <p:extLst>
      <p:ext uri="{BB962C8B-B14F-4D97-AF65-F5344CB8AC3E}">
        <p14:creationId xmlns:p14="http://schemas.microsoft.com/office/powerpoint/2010/main" val="107475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172F-B065-7E59-14B7-D284DEF18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4720-7E60-FAD1-E08C-4F59CB541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average velocities over growing time windows (so there is overlap)</a:t>
            </a:r>
          </a:p>
          <a:p>
            <a:pPr lvl="1"/>
            <a:r>
              <a:rPr lang="en-US" dirty="0"/>
              <a:t>V</a:t>
            </a:r>
            <a:r>
              <a:rPr lang="en-US" baseline="-25000" dirty="0"/>
              <a:t>1</a:t>
            </a:r>
            <a:r>
              <a:rPr lang="en-US" dirty="0"/>
              <a:t> spans A-B, V</a:t>
            </a:r>
            <a:r>
              <a:rPr lang="en-US" baseline="-25000" dirty="0"/>
              <a:t>2</a:t>
            </a:r>
            <a:r>
              <a:rPr lang="en-US" dirty="0"/>
              <a:t> spans A-C, V</a:t>
            </a:r>
            <a:r>
              <a:rPr lang="en-US" baseline="-25000" dirty="0"/>
              <a:t>3</a:t>
            </a:r>
            <a:r>
              <a:rPr lang="en-US" dirty="0"/>
              <a:t> spans A-D…</a:t>
            </a:r>
          </a:p>
          <a:p>
            <a:r>
              <a:rPr lang="en-US" dirty="0"/>
              <a:t>Post-seismic behavior follows exponential/logarithmic decay so velocity and deformation is largest at earlier times</a:t>
            </a:r>
          </a:p>
          <a:p>
            <a:r>
              <a:rPr lang="en-US" dirty="0"/>
              <a:t>Issues include irregular sampling and noise in values</a:t>
            </a:r>
          </a:p>
        </p:txBody>
      </p:sp>
    </p:spTree>
    <p:extLst>
      <p:ext uri="{BB962C8B-B14F-4D97-AF65-F5344CB8AC3E}">
        <p14:creationId xmlns:p14="http://schemas.microsoft.com/office/powerpoint/2010/main" val="68089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41EC-CDA6-1B50-E347-AE6FF0E30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of 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D8A8B-0A0F-FB58-387C-78168B3A7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Scaled SAR acquisition times (time of window divided by 46 days)</a:t>
            </a:r>
          </a:p>
          <a:p>
            <a:pPr lvl="1"/>
            <a:r>
              <a:rPr lang="en-US" b="1" dirty="0"/>
              <a:t>t = [3, 4, 6, 7, 8, 11, 14, 22]</a:t>
            </a:r>
          </a:p>
          <a:p>
            <a:r>
              <a:rPr lang="en-US" dirty="0"/>
              <a:t>KEY NOTE:</a:t>
            </a:r>
          </a:p>
          <a:p>
            <a:pPr lvl="1"/>
            <a:r>
              <a:rPr lang="en-US" dirty="0"/>
              <a:t>The velocity is an average </a:t>
            </a:r>
            <a:r>
              <a:rPr lang="en-US" b="1" dirty="0"/>
              <a:t>over</a:t>
            </a:r>
            <a:r>
              <a:rPr lang="en-US" dirty="0"/>
              <a:t> its window</a:t>
            </a:r>
          </a:p>
          <a:p>
            <a:pPr lvl="1"/>
            <a:r>
              <a:rPr lang="en-US" dirty="0"/>
              <a:t>V near the start of the window is likely larger</a:t>
            </a:r>
          </a:p>
          <a:p>
            <a:pPr lvl="1"/>
            <a:r>
              <a:rPr lang="en-US" dirty="0"/>
              <a:t>V near the end of the window is likely smaller</a:t>
            </a:r>
          </a:p>
          <a:p>
            <a:pPr lvl="1"/>
            <a:r>
              <a:rPr lang="en-US" dirty="0"/>
              <a:t>The middle of the window is a good spot to assign the average velocity to a specific day </a:t>
            </a:r>
          </a:p>
          <a:p>
            <a:pPr lvl="1"/>
            <a:r>
              <a:rPr lang="en-US" b="1" dirty="0" err="1"/>
              <a:t>t</a:t>
            </a:r>
            <a:r>
              <a:rPr lang="en-US" b="1" baseline="-25000" dirty="0" err="1"/>
              <a:t>middle</a:t>
            </a:r>
            <a:r>
              <a:rPr lang="en-US" b="1" dirty="0"/>
              <a:t> = [1.5, 2, 3, 3.5, 4, 5.5, 7, 11]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15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6E83-8EAC-354C-7F53-B9935F24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F615-BE61-7FBC-B03C-0314DFC2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Vectors:</a:t>
            </a:r>
          </a:p>
          <a:p>
            <a:pPr lvl="1"/>
            <a:r>
              <a:rPr lang="en-US" b="1" dirty="0"/>
              <a:t>V = [v</a:t>
            </a:r>
            <a:r>
              <a:rPr lang="en-US" b="1" baseline="-25000" dirty="0"/>
              <a:t>1</a:t>
            </a:r>
            <a:r>
              <a:rPr lang="en-US" b="1" dirty="0"/>
              <a:t>, v</a:t>
            </a:r>
            <a:r>
              <a:rPr lang="en-US" b="1" baseline="-25000" dirty="0"/>
              <a:t>2</a:t>
            </a:r>
            <a:r>
              <a:rPr lang="en-US" b="1" dirty="0"/>
              <a:t>, v</a:t>
            </a:r>
            <a:r>
              <a:rPr lang="en-US" b="1" baseline="-25000" dirty="0"/>
              <a:t>3</a:t>
            </a:r>
            <a:r>
              <a:rPr lang="en-US" b="1" dirty="0"/>
              <a:t>, v</a:t>
            </a:r>
            <a:r>
              <a:rPr lang="en-US" b="1" baseline="-25000" dirty="0"/>
              <a:t>4</a:t>
            </a:r>
            <a:r>
              <a:rPr lang="en-US" b="1" dirty="0"/>
              <a:t>, v</a:t>
            </a:r>
            <a:r>
              <a:rPr lang="en-US" b="1" baseline="-25000" dirty="0"/>
              <a:t>5</a:t>
            </a:r>
            <a:r>
              <a:rPr lang="en-US" b="1" dirty="0"/>
              <a:t>, v</a:t>
            </a:r>
            <a:r>
              <a:rPr lang="en-US" b="1" baseline="-25000" dirty="0"/>
              <a:t>6</a:t>
            </a:r>
            <a:r>
              <a:rPr lang="en-US" b="1" dirty="0"/>
              <a:t>, v</a:t>
            </a:r>
            <a:r>
              <a:rPr lang="en-US" b="1" baseline="-25000" dirty="0"/>
              <a:t>7</a:t>
            </a:r>
            <a:r>
              <a:rPr lang="en-US" b="1" dirty="0"/>
              <a:t>, v</a:t>
            </a:r>
            <a:r>
              <a:rPr lang="en-US" b="1" baseline="-25000" dirty="0"/>
              <a:t>8</a:t>
            </a:r>
            <a:r>
              <a:rPr lang="en-US" b="1" dirty="0"/>
              <a:t>]</a:t>
            </a:r>
          </a:p>
          <a:p>
            <a:pPr lvl="1"/>
            <a:r>
              <a:rPr lang="en-US" b="1" dirty="0"/>
              <a:t>t = [3, 4, 6, 7, 8, 11, 14, 22]</a:t>
            </a:r>
          </a:p>
          <a:p>
            <a:pPr lvl="1"/>
            <a:r>
              <a:rPr lang="en-US" b="1" dirty="0" err="1"/>
              <a:t>t</a:t>
            </a:r>
            <a:r>
              <a:rPr lang="en-US" b="1" baseline="-25000" dirty="0" err="1"/>
              <a:t>middle</a:t>
            </a:r>
            <a:r>
              <a:rPr lang="en-US" b="1" dirty="0"/>
              <a:t> = [1.5, 2, 3, 3.5, 4, 5.5, 7, 11]</a:t>
            </a:r>
          </a:p>
          <a:p>
            <a:pPr lvl="1"/>
            <a:endParaRPr lang="en-US" b="1" dirty="0"/>
          </a:p>
          <a:p>
            <a:r>
              <a:rPr lang="en-US" dirty="0"/>
              <a:t>We can pair the velocity vector </a:t>
            </a:r>
            <a:r>
              <a:rPr lang="en-US" b="1" dirty="0"/>
              <a:t>V</a:t>
            </a:r>
            <a:r>
              <a:rPr lang="en-US" dirty="0"/>
              <a:t> with the middle time dates </a:t>
            </a:r>
            <a:r>
              <a:rPr lang="en-US" b="1" dirty="0" err="1"/>
              <a:t>t</a:t>
            </a:r>
            <a:r>
              <a:rPr lang="en-US" b="1" baseline="-25000" dirty="0" err="1"/>
              <a:t>middle</a:t>
            </a:r>
            <a:r>
              <a:rPr lang="en-US" dirty="0"/>
              <a:t>, but we need the actual cumulative deformation values at the SAR acquisition dates outlines in vector </a:t>
            </a:r>
            <a:r>
              <a:rPr lang="en-US" b="1" dirty="0"/>
              <a:t>t</a:t>
            </a:r>
            <a:endParaRPr lang="en-US" dirty="0"/>
          </a:p>
          <a:p>
            <a:pPr marL="457200" lvl="1" indent="0">
              <a:buNone/>
            </a:pPr>
            <a:endParaRPr lang="en-US" b="1" dirty="0"/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2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0E93-2D52-81C7-EF3F-4318757E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989"/>
            <a:ext cx="10515600" cy="1325563"/>
          </a:xfrm>
        </p:spPr>
        <p:txBody>
          <a:bodyPr/>
          <a:lstStyle/>
          <a:p>
            <a:r>
              <a:rPr lang="en-US" b="1" dirty="0"/>
              <a:t>Old Incremental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33587-0395-92CE-8AB1-A2A8D6E68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552"/>
            <a:ext cx="10515600" cy="4600411"/>
          </a:xfrm>
        </p:spPr>
        <p:txBody>
          <a:bodyPr>
            <a:normAutofit/>
          </a:bodyPr>
          <a:lstStyle/>
          <a:p>
            <a:r>
              <a:rPr lang="en-US" dirty="0"/>
              <a:t>d</a:t>
            </a:r>
            <a:r>
              <a:rPr lang="en-US" baseline="-25000" dirty="0"/>
              <a:t>0</a:t>
            </a:r>
            <a:r>
              <a:rPr lang="en-US" dirty="0"/>
              <a:t> = 0 </a:t>
            </a:r>
          </a:p>
          <a:p>
            <a:pPr lvl="1"/>
            <a:r>
              <a:rPr lang="en-US" dirty="0"/>
              <a:t>Zero deformation assumed at first </a:t>
            </a:r>
            <a:r>
              <a:rPr lang="en-US" dirty="0" err="1"/>
              <a:t>postseismic</a:t>
            </a:r>
            <a:r>
              <a:rPr lang="en-US" dirty="0"/>
              <a:t> SAR acquisition </a:t>
            </a:r>
          </a:p>
          <a:p>
            <a:r>
              <a:rPr lang="en-US" dirty="0"/>
              <a:t>d</a:t>
            </a:r>
            <a:r>
              <a:rPr lang="en-US" baseline="-25000" dirty="0"/>
              <a:t>1</a:t>
            </a:r>
            <a:r>
              <a:rPr lang="en-US" dirty="0"/>
              <a:t> = v</a:t>
            </a:r>
            <a:r>
              <a:rPr lang="en-US" baseline="-25000" dirty="0"/>
              <a:t>1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spans first to second SAR </a:t>
            </a:r>
            <a:r>
              <a:rPr lang="en-US" dirty="0" err="1"/>
              <a:t>acq</a:t>
            </a:r>
            <a:r>
              <a:rPr lang="en-US" dirty="0"/>
              <a:t>, denoted as A-B</a:t>
            </a:r>
          </a:p>
          <a:p>
            <a:r>
              <a:rPr lang="en-US" dirty="0"/>
              <a:t> d</a:t>
            </a:r>
            <a:r>
              <a:rPr lang="en-US" baseline="-25000" dirty="0"/>
              <a:t>2</a:t>
            </a:r>
            <a:r>
              <a:rPr lang="en-US" dirty="0"/>
              <a:t> = d</a:t>
            </a:r>
            <a:r>
              <a:rPr lang="en-US" baseline="-25000" dirty="0"/>
              <a:t>1 </a:t>
            </a:r>
            <a:r>
              <a:rPr lang="en-US" dirty="0"/>
              <a:t>+ v</a:t>
            </a:r>
            <a:r>
              <a:rPr lang="en-US" baseline="-25000" dirty="0"/>
              <a:t>2</a:t>
            </a:r>
            <a:r>
              <a:rPr lang="en-US" dirty="0"/>
              <a:t> (t</a:t>
            </a:r>
            <a:r>
              <a:rPr lang="en-US" baseline="-25000" dirty="0"/>
              <a:t>2</a:t>
            </a:r>
            <a:r>
              <a:rPr lang="en-US" dirty="0"/>
              <a:t> – 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first term spans A-B and second term spans B-C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ISSUE: v</a:t>
            </a:r>
            <a:r>
              <a:rPr lang="en-US" b="1" baseline="-25000" dirty="0">
                <a:solidFill>
                  <a:srgbClr val="FF0000"/>
                </a:solidFill>
              </a:rPr>
              <a:t>2 </a:t>
            </a:r>
            <a:r>
              <a:rPr lang="en-US" b="1" dirty="0">
                <a:solidFill>
                  <a:srgbClr val="FF0000"/>
                </a:solidFill>
              </a:rPr>
              <a:t>likely overestimates span B-C since it better represents the middle of its window A-C, not the end portion of it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The overestimation problem continues, leaving us with nearly 30 cm of cumulative deformation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427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AC8B-74C9-289B-1204-D95C32F7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88"/>
            <a:ext cx="10515600" cy="969689"/>
          </a:xfrm>
        </p:spPr>
        <p:txBody>
          <a:bodyPr/>
          <a:lstStyle/>
          <a:p>
            <a:r>
              <a:rPr lang="en-US" b="1" dirty="0"/>
              <a:t>New Incremental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C719C-5AFC-C320-5A6D-A64112034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076"/>
            <a:ext cx="10515600" cy="56415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Key: use middle dates but solve for SAR acquisition dates!</a:t>
            </a:r>
          </a:p>
          <a:p>
            <a:pPr lvl="1"/>
            <a:r>
              <a:rPr lang="en-US" b="1" dirty="0" err="1"/>
              <a:t>t</a:t>
            </a:r>
            <a:r>
              <a:rPr lang="en-US" b="1" baseline="-25000" dirty="0" err="1"/>
              <a:t>middle</a:t>
            </a:r>
            <a:r>
              <a:rPr lang="en-US" b="1" dirty="0"/>
              <a:t> = [1.5, 2, 3, 3.5, 4, 5.5, 7, 11]</a:t>
            </a:r>
          </a:p>
          <a:p>
            <a:pPr lvl="1"/>
            <a:r>
              <a:rPr lang="en-US" b="1" dirty="0"/>
              <a:t>t = [3, 4, 6, 7, 8, 11, 14, 22]</a:t>
            </a:r>
          </a:p>
          <a:p>
            <a:pPr lvl="1"/>
            <a:r>
              <a:rPr lang="en-US" b="1" dirty="0"/>
              <a:t>V = [v</a:t>
            </a:r>
            <a:r>
              <a:rPr lang="en-US" b="1" baseline="-25000" dirty="0"/>
              <a:t>1</a:t>
            </a:r>
            <a:r>
              <a:rPr lang="en-US" b="1" dirty="0"/>
              <a:t>, v</a:t>
            </a:r>
            <a:r>
              <a:rPr lang="en-US" b="1" baseline="-25000" dirty="0"/>
              <a:t>2</a:t>
            </a:r>
            <a:r>
              <a:rPr lang="en-US" b="1" dirty="0"/>
              <a:t>, v</a:t>
            </a:r>
            <a:r>
              <a:rPr lang="en-US" b="1" baseline="-25000" dirty="0"/>
              <a:t>3</a:t>
            </a:r>
            <a:r>
              <a:rPr lang="en-US" b="1" dirty="0"/>
              <a:t>, v</a:t>
            </a:r>
            <a:r>
              <a:rPr lang="en-US" b="1" baseline="-25000" dirty="0"/>
              <a:t>4</a:t>
            </a:r>
            <a:r>
              <a:rPr lang="en-US" b="1" dirty="0"/>
              <a:t>, v</a:t>
            </a:r>
            <a:r>
              <a:rPr lang="en-US" b="1" baseline="-25000" dirty="0"/>
              <a:t>5</a:t>
            </a:r>
            <a:r>
              <a:rPr lang="en-US" b="1" dirty="0"/>
              <a:t>, v</a:t>
            </a:r>
            <a:r>
              <a:rPr lang="en-US" b="1" baseline="-25000" dirty="0"/>
              <a:t>6</a:t>
            </a:r>
            <a:r>
              <a:rPr lang="en-US" b="1" dirty="0"/>
              <a:t>, v</a:t>
            </a:r>
            <a:r>
              <a:rPr lang="en-US" b="1" baseline="-25000" dirty="0"/>
              <a:t>7</a:t>
            </a:r>
            <a:r>
              <a:rPr lang="en-US" b="1" dirty="0"/>
              <a:t>, v</a:t>
            </a:r>
            <a:r>
              <a:rPr lang="en-US" b="1" baseline="-25000" dirty="0"/>
              <a:t>8</a:t>
            </a:r>
            <a:r>
              <a:rPr lang="en-US" b="1" dirty="0"/>
              <a:t>]</a:t>
            </a:r>
          </a:p>
          <a:p>
            <a:pPr lvl="1"/>
            <a:endParaRPr lang="en-US" dirty="0"/>
          </a:p>
          <a:p>
            <a:r>
              <a:rPr lang="en-US" b="1" dirty="0"/>
              <a:t>d</a:t>
            </a:r>
            <a:r>
              <a:rPr lang="en-US" b="1" baseline="-25000" dirty="0"/>
              <a:t>0</a:t>
            </a:r>
            <a:r>
              <a:rPr lang="en-US" b="1" dirty="0"/>
              <a:t> = 0 </a:t>
            </a:r>
          </a:p>
          <a:p>
            <a:r>
              <a:rPr lang="en-US" b="1" dirty="0"/>
              <a:t>Solve for d</a:t>
            </a:r>
            <a:r>
              <a:rPr lang="en-US" b="1" baseline="-25000" dirty="0"/>
              <a:t>1</a:t>
            </a:r>
            <a:r>
              <a:rPr lang="en-US" b="1" dirty="0"/>
              <a:t> at t</a:t>
            </a:r>
            <a:r>
              <a:rPr lang="en-US" b="1" baseline="-25000" dirty="0"/>
              <a:t>1</a:t>
            </a:r>
            <a:r>
              <a:rPr lang="en-US" b="1" dirty="0"/>
              <a:t> = 3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1</a:t>
            </a:r>
            <a:r>
              <a:rPr lang="en-US" dirty="0"/>
              <a:t>= v</a:t>
            </a:r>
            <a:r>
              <a:rPr lang="en-US" baseline="-25000" dirty="0"/>
              <a:t>1</a:t>
            </a:r>
            <a:r>
              <a:rPr lang="en-US" dirty="0"/>
              <a:t> (t</a:t>
            </a:r>
            <a:r>
              <a:rPr lang="en-US" baseline="-25000" dirty="0"/>
              <a:t>mid1</a:t>
            </a:r>
            <a:r>
              <a:rPr lang="en-US" dirty="0"/>
              <a:t>) + v</a:t>
            </a:r>
            <a:r>
              <a:rPr lang="en-US" baseline="-25000" dirty="0"/>
              <a:t>2</a:t>
            </a:r>
            <a:r>
              <a:rPr lang="en-US" dirty="0"/>
              <a:t> (t</a:t>
            </a:r>
            <a:r>
              <a:rPr lang="en-US" baseline="-25000" dirty="0"/>
              <a:t>mid2</a:t>
            </a:r>
            <a:r>
              <a:rPr lang="en-US" dirty="0"/>
              <a:t>-t</a:t>
            </a:r>
            <a:r>
              <a:rPr lang="en-US" baseline="-25000" dirty="0"/>
              <a:t>mid1</a:t>
            </a:r>
            <a:r>
              <a:rPr lang="en-US" dirty="0"/>
              <a:t>) + v</a:t>
            </a:r>
            <a:r>
              <a:rPr lang="en-US" baseline="-25000" dirty="0"/>
              <a:t>3</a:t>
            </a:r>
            <a:r>
              <a:rPr lang="en-US" dirty="0"/>
              <a:t> (t</a:t>
            </a:r>
            <a:r>
              <a:rPr lang="en-US" baseline="-25000" dirty="0"/>
              <a:t>mid3</a:t>
            </a:r>
            <a:r>
              <a:rPr lang="en-US" dirty="0"/>
              <a:t>-t</a:t>
            </a:r>
            <a:r>
              <a:rPr lang="en-US" baseline="-25000" dirty="0"/>
              <a:t>mid2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1</a:t>
            </a:r>
            <a:r>
              <a:rPr lang="en-US" dirty="0"/>
              <a:t>= v</a:t>
            </a:r>
            <a:r>
              <a:rPr lang="en-US" baseline="-25000" dirty="0"/>
              <a:t>1</a:t>
            </a:r>
            <a:r>
              <a:rPr lang="en-US" dirty="0"/>
              <a:t> (1.5) + v</a:t>
            </a:r>
            <a:r>
              <a:rPr lang="en-US" baseline="-25000" dirty="0"/>
              <a:t>2</a:t>
            </a:r>
            <a:r>
              <a:rPr lang="en-US" dirty="0"/>
              <a:t> (2-1.5) + v</a:t>
            </a:r>
            <a:r>
              <a:rPr lang="en-US" baseline="-25000" dirty="0"/>
              <a:t>3</a:t>
            </a:r>
            <a:r>
              <a:rPr lang="en-US" dirty="0"/>
              <a:t> (3-2)</a:t>
            </a:r>
          </a:p>
          <a:p>
            <a:endParaRPr lang="en-US" dirty="0"/>
          </a:p>
          <a:p>
            <a:r>
              <a:rPr lang="en-US" b="1" dirty="0"/>
              <a:t>Solve for d</a:t>
            </a:r>
            <a:r>
              <a:rPr lang="en-US" b="1" baseline="-25000" dirty="0"/>
              <a:t>2</a:t>
            </a:r>
            <a:r>
              <a:rPr lang="en-US" b="1" dirty="0"/>
              <a:t> at t</a:t>
            </a:r>
            <a:r>
              <a:rPr lang="en-US" b="1" baseline="-25000" dirty="0"/>
              <a:t>2</a:t>
            </a:r>
            <a:r>
              <a:rPr lang="en-US" b="1" dirty="0"/>
              <a:t> = 4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2</a:t>
            </a:r>
            <a:r>
              <a:rPr lang="en-US" dirty="0"/>
              <a:t>= d</a:t>
            </a:r>
            <a:r>
              <a:rPr lang="en-US" baseline="-25000" dirty="0"/>
              <a:t>1</a:t>
            </a:r>
            <a:r>
              <a:rPr lang="en-US" dirty="0"/>
              <a:t> + v</a:t>
            </a:r>
            <a:r>
              <a:rPr lang="en-US" baseline="-25000" dirty="0"/>
              <a:t>4</a:t>
            </a:r>
            <a:r>
              <a:rPr lang="en-US" dirty="0"/>
              <a:t> (t</a:t>
            </a:r>
            <a:r>
              <a:rPr lang="en-US" baseline="-25000" dirty="0"/>
              <a:t>mid4</a:t>
            </a:r>
            <a:r>
              <a:rPr lang="en-US" dirty="0"/>
              <a:t>-t</a:t>
            </a:r>
            <a:r>
              <a:rPr lang="en-US" baseline="-25000" dirty="0"/>
              <a:t>mid3</a:t>
            </a:r>
            <a:r>
              <a:rPr lang="en-US" dirty="0"/>
              <a:t>) + v</a:t>
            </a:r>
            <a:r>
              <a:rPr lang="en-US" baseline="-25000" dirty="0"/>
              <a:t>4</a:t>
            </a:r>
            <a:r>
              <a:rPr lang="en-US" dirty="0"/>
              <a:t> (t</a:t>
            </a:r>
            <a:r>
              <a:rPr lang="en-US" baseline="-25000" dirty="0"/>
              <a:t>mid5</a:t>
            </a:r>
            <a:r>
              <a:rPr lang="en-US" dirty="0"/>
              <a:t>-t</a:t>
            </a:r>
            <a:r>
              <a:rPr lang="en-US" baseline="-25000" dirty="0"/>
              <a:t>mid4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2</a:t>
            </a:r>
            <a:r>
              <a:rPr lang="en-US" dirty="0"/>
              <a:t>= d</a:t>
            </a:r>
            <a:r>
              <a:rPr lang="en-US" baseline="-25000" dirty="0"/>
              <a:t>1</a:t>
            </a:r>
            <a:r>
              <a:rPr lang="en-US" dirty="0"/>
              <a:t> + v</a:t>
            </a:r>
            <a:r>
              <a:rPr lang="en-US" baseline="-25000" dirty="0"/>
              <a:t>4</a:t>
            </a:r>
            <a:r>
              <a:rPr lang="en-US" dirty="0"/>
              <a:t> (3.5-3) + v</a:t>
            </a:r>
            <a:r>
              <a:rPr lang="en-US" baseline="-25000" dirty="0"/>
              <a:t>5</a:t>
            </a:r>
            <a:r>
              <a:rPr lang="en-US" dirty="0"/>
              <a:t> (4-3.5)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44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D21C7-77C6-A79D-C561-99B2EEF5F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52" y="312135"/>
            <a:ext cx="10691648" cy="643550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Solve for d</a:t>
            </a:r>
            <a:r>
              <a:rPr lang="en-US" b="1" baseline="-25000" dirty="0"/>
              <a:t>3</a:t>
            </a:r>
            <a:r>
              <a:rPr lang="en-US" b="1" dirty="0"/>
              <a:t> at t</a:t>
            </a:r>
            <a:r>
              <a:rPr lang="en-US" b="1" baseline="-25000" dirty="0"/>
              <a:t>3</a:t>
            </a:r>
            <a:r>
              <a:rPr lang="en-US" b="1" dirty="0"/>
              <a:t> = 6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3</a:t>
            </a:r>
            <a:r>
              <a:rPr lang="en-US" dirty="0"/>
              <a:t>= d</a:t>
            </a:r>
            <a:r>
              <a:rPr lang="en-US" baseline="-25000" dirty="0"/>
              <a:t>2</a:t>
            </a:r>
            <a:r>
              <a:rPr lang="en-US" dirty="0"/>
              <a:t> + v</a:t>
            </a:r>
            <a:r>
              <a:rPr lang="en-US" baseline="-25000" dirty="0"/>
              <a:t>6</a:t>
            </a:r>
            <a:r>
              <a:rPr lang="en-US" dirty="0"/>
              <a:t> (t</a:t>
            </a:r>
            <a:r>
              <a:rPr lang="en-US" baseline="-25000" dirty="0"/>
              <a:t>mid6</a:t>
            </a:r>
            <a:r>
              <a:rPr lang="en-US" dirty="0"/>
              <a:t>-t</a:t>
            </a:r>
            <a:r>
              <a:rPr lang="en-US" baseline="-25000" dirty="0"/>
              <a:t>mid5</a:t>
            </a:r>
            <a:r>
              <a:rPr lang="en-US" dirty="0"/>
              <a:t>) +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interpolated_for_t</a:t>
            </a:r>
            <a:r>
              <a:rPr lang="en-US" baseline="-25000" dirty="0">
                <a:solidFill>
                  <a:srgbClr val="FF0000"/>
                </a:solidFill>
              </a:rPr>
              <a:t>=6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t</a:t>
            </a:r>
            <a:r>
              <a:rPr lang="en-US" baseline="-25000" dirty="0" err="1">
                <a:solidFill>
                  <a:srgbClr val="FF0000"/>
                </a:solidFill>
              </a:rPr>
              <a:t>mid_interpolated</a:t>
            </a:r>
            <a:r>
              <a:rPr lang="en-US" dirty="0">
                <a:solidFill>
                  <a:srgbClr val="FF0000"/>
                </a:solidFill>
              </a:rPr>
              <a:t>=6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–t</a:t>
            </a:r>
            <a:r>
              <a:rPr lang="en-US" baseline="-25000" dirty="0"/>
              <a:t>mid6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3</a:t>
            </a:r>
            <a:r>
              <a:rPr lang="en-US" dirty="0"/>
              <a:t>= d</a:t>
            </a:r>
            <a:r>
              <a:rPr lang="en-US" baseline="-25000" dirty="0"/>
              <a:t>2</a:t>
            </a:r>
            <a:r>
              <a:rPr lang="en-US" dirty="0"/>
              <a:t> + v</a:t>
            </a:r>
            <a:r>
              <a:rPr lang="en-US" baseline="-25000" dirty="0"/>
              <a:t>6</a:t>
            </a:r>
            <a:r>
              <a:rPr lang="en-US" dirty="0"/>
              <a:t> (5.5-4) +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interpolated_for_t</a:t>
            </a:r>
            <a:r>
              <a:rPr lang="en-US" baseline="-25000" dirty="0">
                <a:solidFill>
                  <a:srgbClr val="FF0000"/>
                </a:solidFill>
              </a:rPr>
              <a:t>=6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-5.5)</a:t>
            </a:r>
          </a:p>
          <a:p>
            <a:r>
              <a:rPr lang="en-US" b="1" dirty="0"/>
              <a:t>Solve for d</a:t>
            </a:r>
            <a:r>
              <a:rPr lang="en-US" b="1" baseline="-25000" dirty="0"/>
              <a:t>4</a:t>
            </a:r>
            <a:r>
              <a:rPr lang="en-US" b="1" dirty="0"/>
              <a:t> at t</a:t>
            </a:r>
            <a:r>
              <a:rPr lang="en-US" b="1" baseline="-25000" dirty="0"/>
              <a:t>4</a:t>
            </a:r>
            <a:r>
              <a:rPr lang="en-US" b="1" dirty="0"/>
              <a:t> = 7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4</a:t>
            </a:r>
            <a:r>
              <a:rPr lang="en-US" dirty="0"/>
              <a:t>= d</a:t>
            </a:r>
            <a:r>
              <a:rPr lang="en-US" baseline="-25000" dirty="0"/>
              <a:t>3</a:t>
            </a:r>
            <a:r>
              <a:rPr lang="en-US" dirty="0"/>
              <a:t> + v</a:t>
            </a:r>
            <a:r>
              <a:rPr lang="en-US" baseline="-25000" dirty="0"/>
              <a:t>7</a:t>
            </a:r>
            <a:r>
              <a:rPr lang="en-US" dirty="0"/>
              <a:t> (t</a:t>
            </a:r>
            <a:r>
              <a:rPr lang="en-US" baseline="-25000" dirty="0"/>
              <a:t>mid7</a:t>
            </a:r>
            <a:r>
              <a:rPr lang="en-US" dirty="0"/>
              <a:t>-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t</a:t>
            </a:r>
            <a:r>
              <a:rPr lang="en-US" baseline="-25000" dirty="0" err="1">
                <a:solidFill>
                  <a:srgbClr val="FF0000"/>
                </a:solidFill>
              </a:rPr>
              <a:t>mid_interpolated</a:t>
            </a:r>
            <a:r>
              <a:rPr lang="en-US" dirty="0">
                <a:solidFill>
                  <a:srgbClr val="FF0000"/>
                </a:solidFill>
              </a:rPr>
              <a:t>=6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4</a:t>
            </a:r>
            <a:r>
              <a:rPr lang="en-US" dirty="0"/>
              <a:t>= d</a:t>
            </a:r>
            <a:r>
              <a:rPr lang="en-US" baseline="-25000" dirty="0"/>
              <a:t>3</a:t>
            </a:r>
            <a:r>
              <a:rPr lang="en-US" dirty="0"/>
              <a:t> + v</a:t>
            </a:r>
            <a:r>
              <a:rPr lang="en-US" baseline="-25000" dirty="0"/>
              <a:t>7</a:t>
            </a:r>
            <a:r>
              <a:rPr lang="en-US" dirty="0"/>
              <a:t> (7-6)</a:t>
            </a:r>
          </a:p>
          <a:p>
            <a:r>
              <a:rPr lang="en-US" b="1" dirty="0"/>
              <a:t>Solve for d</a:t>
            </a:r>
            <a:r>
              <a:rPr lang="en-US" b="1" baseline="-25000" dirty="0"/>
              <a:t>5</a:t>
            </a:r>
            <a:r>
              <a:rPr lang="en-US" b="1" dirty="0"/>
              <a:t> at t</a:t>
            </a:r>
            <a:r>
              <a:rPr lang="en-US" b="1" baseline="-25000" dirty="0"/>
              <a:t>5</a:t>
            </a:r>
            <a:r>
              <a:rPr lang="en-US" b="1" dirty="0"/>
              <a:t> = 8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5</a:t>
            </a:r>
            <a:r>
              <a:rPr lang="en-US" dirty="0"/>
              <a:t>= d</a:t>
            </a:r>
            <a:r>
              <a:rPr lang="en-US" baseline="-25000" dirty="0"/>
              <a:t>4</a:t>
            </a:r>
            <a:r>
              <a:rPr lang="en-US" dirty="0"/>
              <a:t> + +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interpolated_for_t</a:t>
            </a:r>
            <a:r>
              <a:rPr lang="en-US" baseline="-25000" dirty="0">
                <a:solidFill>
                  <a:srgbClr val="FF0000"/>
                </a:solidFill>
              </a:rPr>
              <a:t>=8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t</a:t>
            </a:r>
            <a:r>
              <a:rPr lang="en-US" baseline="-25000" dirty="0" err="1">
                <a:solidFill>
                  <a:srgbClr val="FF0000"/>
                </a:solidFill>
              </a:rPr>
              <a:t>mid_interpolated</a:t>
            </a:r>
            <a:r>
              <a:rPr lang="en-US" dirty="0">
                <a:solidFill>
                  <a:srgbClr val="FF0000"/>
                </a:solidFill>
              </a:rPr>
              <a:t>=8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/>
              <a:t>- t</a:t>
            </a:r>
            <a:r>
              <a:rPr lang="en-US" baseline="-25000" dirty="0"/>
              <a:t>mid7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5</a:t>
            </a:r>
            <a:r>
              <a:rPr lang="en-US" dirty="0"/>
              <a:t>= d</a:t>
            </a:r>
            <a:r>
              <a:rPr lang="en-US" baseline="-25000" dirty="0"/>
              <a:t>4</a:t>
            </a:r>
            <a:r>
              <a:rPr lang="en-US" dirty="0"/>
              <a:t> +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interpolated_for_t</a:t>
            </a:r>
            <a:r>
              <a:rPr lang="en-US" baseline="-25000" dirty="0">
                <a:solidFill>
                  <a:srgbClr val="FF0000"/>
                </a:solidFill>
              </a:rPr>
              <a:t>=8</a:t>
            </a:r>
            <a:r>
              <a:rPr lang="en-US" dirty="0"/>
              <a:t> (8-7)</a:t>
            </a:r>
          </a:p>
          <a:p>
            <a:r>
              <a:rPr lang="en-US" b="1" dirty="0"/>
              <a:t>Solve for d</a:t>
            </a:r>
            <a:r>
              <a:rPr lang="en-US" b="1" baseline="-25000" dirty="0"/>
              <a:t>6</a:t>
            </a:r>
            <a:r>
              <a:rPr lang="en-US" b="1" dirty="0"/>
              <a:t> at t</a:t>
            </a:r>
            <a:r>
              <a:rPr lang="en-US" b="1" baseline="-25000" dirty="0"/>
              <a:t>6</a:t>
            </a:r>
            <a:r>
              <a:rPr lang="en-US" b="1" dirty="0"/>
              <a:t> = 11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6</a:t>
            </a:r>
            <a:r>
              <a:rPr lang="en-US" dirty="0"/>
              <a:t>= d</a:t>
            </a:r>
            <a:r>
              <a:rPr lang="en-US" baseline="-25000" dirty="0"/>
              <a:t>5</a:t>
            </a:r>
            <a:r>
              <a:rPr lang="en-US" dirty="0"/>
              <a:t> + v</a:t>
            </a:r>
            <a:r>
              <a:rPr lang="en-US" baseline="-25000" dirty="0"/>
              <a:t>8</a:t>
            </a:r>
            <a:r>
              <a:rPr lang="en-US" dirty="0"/>
              <a:t>(t</a:t>
            </a:r>
            <a:r>
              <a:rPr lang="en-US" baseline="-25000" dirty="0"/>
              <a:t>mid8 </a:t>
            </a:r>
            <a:r>
              <a:rPr lang="en-US" dirty="0"/>
              <a:t>-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t</a:t>
            </a:r>
            <a:r>
              <a:rPr lang="en-US" baseline="-25000" dirty="0" err="1">
                <a:solidFill>
                  <a:srgbClr val="FF0000"/>
                </a:solidFill>
              </a:rPr>
              <a:t>mid_interpolated</a:t>
            </a:r>
            <a:r>
              <a:rPr lang="en-US" dirty="0">
                <a:solidFill>
                  <a:srgbClr val="FF0000"/>
                </a:solidFill>
              </a:rPr>
              <a:t>=8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6</a:t>
            </a:r>
            <a:r>
              <a:rPr lang="en-US" dirty="0"/>
              <a:t>= d</a:t>
            </a:r>
            <a:r>
              <a:rPr lang="en-US" baseline="-25000" dirty="0"/>
              <a:t>5</a:t>
            </a:r>
            <a:r>
              <a:rPr lang="en-US" dirty="0"/>
              <a:t> + v</a:t>
            </a:r>
            <a:r>
              <a:rPr lang="en-US" baseline="-25000" dirty="0"/>
              <a:t>8</a:t>
            </a:r>
            <a:r>
              <a:rPr lang="en-US" dirty="0"/>
              <a:t>(11-8)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What do we do about t</a:t>
            </a:r>
            <a:r>
              <a:rPr lang="en-US" b="1" baseline="-25000" dirty="0">
                <a:solidFill>
                  <a:srgbClr val="FF000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 = 14 and t</a:t>
            </a:r>
            <a:r>
              <a:rPr lang="en-US" b="1" baseline="-25000" dirty="0">
                <a:solidFill>
                  <a:srgbClr val="FF0000"/>
                </a:solidFill>
              </a:rPr>
              <a:t>8</a:t>
            </a:r>
            <a:r>
              <a:rPr lang="en-US" b="1" dirty="0">
                <a:solidFill>
                  <a:srgbClr val="FF0000"/>
                </a:solidFill>
              </a:rPr>
              <a:t>=22 if we assigned velocities to the middle window dates, and the last middle window date is 11?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2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BFCD-F301-CAA3-F861-7E2F9D29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975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What do we do about t</a:t>
            </a:r>
            <a:r>
              <a:rPr lang="en-US" sz="3600" b="1" baseline="-25000" dirty="0"/>
              <a:t>7</a:t>
            </a:r>
            <a:r>
              <a:rPr lang="en-US" sz="3600" b="1" dirty="0"/>
              <a:t> = 14 and t</a:t>
            </a:r>
            <a:r>
              <a:rPr lang="en-US" sz="3600" b="1" baseline="-25000" dirty="0"/>
              <a:t>8</a:t>
            </a:r>
            <a:r>
              <a:rPr lang="en-US" sz="3600" b="1" dirty="0"/>
              <a:t>=22 if we assigned velocities to the middle window dates, and the last middle window date is 11?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6C2A4-FEEF-76E4-4375-850E9B447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091"/>
            <a:ext cx="10515600" cy="47122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Solution: Fit a nonlinear curve, either exponential or logarithmic, to the velocity values vs. the middle dates</a:t>
            </a:r>
          </a:p>
          <a:p>
            <a:pPr lvl="1"/>
            <a:r>
              <a:rPr lang="en-US" dirty="0"/>
              <a:t>Using this fit, we can extend to get a better velocity estimate at t</a:t>
            </a:r>
            <a:r>
              <a:rPr lang="en-US" baseline="-25000" dirty="0"/>
              <a:t>7</a:t>
            </a:r>
            <a:r>
              <a:rPr lang="en-US" dirty="0"/>
              <a:t> = 14 and t</a:t>
            </a:r>
            <a:r>
              <a:rPr lang="en-US" baseline="-25000" dirty="0"/>
              <a:t>8</a:t>
            </a:r>
            <a:r>
              <a:rPr lang="en-US" dirty="0"/>
              <a:t>=22 </a:t>
            </a:r>
          </a:p>
          <a:p>
            <a:pPr lvl="1"/>
            <a:r>
              <a:rPr lang="en-US" dirty="0"/>
              <a:t>See the following pages of handwritten notes to see how I created the fits</a:t>
            </a:r>
          </a:p>
          <a:p>
            <a:pPr lvl="1"/>
            <a:endParaRPr lang="en-US" dirty="0"/>
          </a:p>
          <a:p>
            <a:r>
              <a:rPr lang="en-US" b="1" dirty="0"/>
              <a:t>Solve for d</a:t>
            </a:r>
            <a:r>
              <a:rPr lang="en-US" b="1" baseline="-25000" dirty="0"/>
              <a:t>7</a:t>
            </a:r>
            <a:r>
              <a:rPr lang="en-US" b="1" dirty="0"/>
              <a:t> at t</a:t>
            </a:r>
            <a:r>
              <a:rPr lang="en-US" b="1" baseline="-25000" dirty="0"/>
              <a:t>7</a:t>
            </a:r>
            <a:r>
              <a:rPr lang="en-US" b="1" dirty="0"/>
              <a:t> = 14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7</a:t>
            </a:r>
            <a:r>
              <a:rPr lang="en-US" dirty="0"/>
              <a:t>= d</a:t>
            </a:r>
            <a:r>
              <a:rPr lang="en-US" baseline="-25000" dirty="0"/>
              <a:t>6</a:t>
            </a:r>
            <a:r>
              <a:rPr lang="en-US" dirty="0"/>
              <a:t> + +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fitted_t</a:t>
            </a:r>
            <a:r>
              <a:rPr lang="en-US" baseline="-25000" dirty="0">
                <a:solidFill>
                  <a:srgbClr val="FF0000"/>
                </a:solidFill>
              </a:rPr>
              <a:t>=14</a:t>
            </a:r>
            <a:r>
              <a:rPr lang="en-US" dirty="0"/>
              <a:t> (t</a:t>
            </a:r>
            <a:r>
              <a:rPr lang="en-US" baseline="-25000" dirty="0"/>
              <a:t>7</a:t>
            </a:r>
            <a:r>
              <a:rPr lang="en-US" dirty="0"/>
              <a:t>– t</a:t>
            </a:r>
            <a:r>
              <a:rPr lang="en-US" baseline="-25000" dirty="0"/>
              <a:t>mid8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7</a:t>
            </a:r>
            <a:r>
              <a:rPr lang="en-US" dirty="0"/>
              <a:t>= d</a:t>
            </a:r>
            <a:r>
              <a:rPr lang="en-US" baseline="-25000" dirty="0"/>
              <a:t>6</a:t>
            </a:r>
            <a:r>
              <a:rPr lang="en-US" dirty="0"/>
              <a:t> + +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fitted_t</a:t>
            </a:r>
            <a:r>
              <a:rPr lang="en-US" baseline="-25000" dirty="0">
                <a:solidFill>
                  <a:srgbClr val="FF0000"/>
                </a:solidFill>
              </a:rPr>
              <a:t>=14</a:t>
            </a:r>
            <a:r>
              <a:rPr lang="en-US" dirty="0"/>
              <a:t> (14– 11) </a:t>
            </a:r>
          </a:p>
          <a:p>
            <a:r>
              <a:rPr lang="en-US" b="1" dirty="0"/>
              <a:t>Solve for d</a:t>
            </a:r>
            <a:r>
              <a:rPr lang="en-US" b="1" baseline="-25000" dirty="0"/>
              <a:t>8</a:t>
            </a:r>
            <a:r>
              <a:rPr lang="en-US" b="1" dirty="0"/>
              <a:t> at t</a:t>
            </a:r>
            <a:r>
              <a:rPr lang="en-US" b="1" baseline="-25000" dirty="0"/>
              <a:t>8</a:t>
            </a:r>
            <a:r>
              <a:rPr lang="en-US" b="1" dirty="0"/>
              <a:t> = 22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8</a:t>
            </a:r>
            <a:r>
              <a:rPr lang="en-US" dirty="0"/>
              <a:t>= d</a:t>
            </a:r>
            <a:r>
              <a:rPr lang="en-US" baseline="-25000" dirty="0"/>
              <a:t>7</a:t>
            </a:r>
            <a:r>
              <a:rPr lang="en-US" dirty="0"/>
              <a:t> + +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fitted_t</a:t>
            </a:r>
            <a:r>
              <a:rPr lang="en-US" baseline="-25000" dirty="0">
                <a:solidFill>
                  <a:srgbClr val="FF0000"/>
                </a:solidFill>
              </a:rPr>
              <a:t>=22</a:t>
            </a:r>
            <a:r>
              <a:rPr lang="en-US" dirty="0"/>
              <a:t> (t</a:t>
            </a:r>
            <a:r>
              <a:rPr lang="en-US" baseline="-25000" dirty="0"/>
              <a:t>8</a:t>
            </a:r>
            <a:r>
              <a:rPr lang="en-US" dirty="0"/>
              <a:t>– t</a:t>
            </a:r>
            <a:r>
              <a:rPr lang="en-US" baseline="-25000" dirty="0"/>
              <a:t>7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8</a:t>
            </a:r>
            <a:r>
              <a:rPr lang="en-US" dirty="0"/>
              <a:t>= d</a:t>
            </a:r>
            <a:r>
              <a:rPr lang="en-US" baseline="-25000" dirty="0"/>
              <a:t>7</a:t>
            </a:r>
            <a:r>
              <a:rPr lang="en-US" dirty="0"/>
              <a:t> + + 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baseline="-25000" dirty="0" err="1">
                <a:solidFill>
                  <a:srgbClr val="FF0000"/>
                </a:solidFill>
              </a:rPr>
              <a:t>fitted_t</a:t>
            </a:r>
            <a:r>
              <a:rPr lang="en-US" baseline="-25000" dirty="0">
                <a:solidFill>
                  <a:srgbClr val="FF0000"/>
                </a:solidFill>
              </a:rPr>
              <a:t>=22</a:t>
            </a:r>
            <a:r>
              <a:rPr lang="en-US" dirty="0"/>
              <a:t> (22 – 14)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809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graph paper&#10;&#10;AI-generated content may be incorrect.">
            <a:extLst>
              <a:ext uri="{FF2B5EF4-FFF2-40B4-BE49-F238E27FC236}">
                <a16:creationId xmlns:a16="http://schemas.microsoft.com/office/drawing/2014/main" id="{D18BB831-744C-27E5-0EA2-C2860268B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774" y="180541"/>
            <a:ext cx="6905214" cy="6386513"/>
          </a:xfrm>
          <a:ln>
            <a:solidFill>
              <a:schemeClr val="tx1"/>
            </a:solidFill>
          </a:ln>
        </p:spPr>
      </p:pic>
      <p:pic>
        <p:nvPicPr>
          <p:cNvPr id="7" name="Picture 6" descr="A close-up of a note&#10;&#10;AI-generated content may be incorrect.">
            <a:extLst>
              <a:ext uri="{FF2B5EF4-FFF2-40B4-BE49-F238E27FC236}">
                <a16:creationId xmlns:a16="http://schemas.microsoft.com/office/drawing/2014/main" id="{F645CF9C-A0B5-122E-DD5A-6821B0D86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535" y="2355273"/>
            <a:ext cx="4787900" cy="1371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4353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graph paper&#10;&#10;AI-generated content may be incorrect.">
            <a:extLst>
              <a:ext uri="{FF2B5EF4-FFF2-40B4-BE49-F238E27FC236}">
                <a16:creationId xmlns:a16="http://schemas.microsoft.com/office/drawing/2014/main" id="{558713E9-7D61-7AD8-D669-8D6526A3F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763" y="-11269"/>
            <a:ext cx="10432473" cy="6869269"/>
          </a:xfrm>
        </p:spPr>
      </p:pic>
    </p:spTree>
    <p:extLst>
      <p:ext uri="{BB962C8B-B14F-4D97-AF65-F5344CB8AC3E}">
        <p14:creationId xmlns:p14="http://schemas.microsoft.com/office/powerpoint/2010/main" val="55950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math equations on a graph paper&#10;&#10;AI-generated content may be incorrect.">
            <a:extLst>
              <a:ext uri="{FF2B5EF4-FFF2-40B4-BE49-F238E27FC236}">
                <a16:creationId xmlns:a16="http://schemas.microsoft.com/office/drawing/2014/main" id="{CA9D3A92-2C46-B54C-4BAF-204E35A1D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540" y="-5811"/>
            <a:ext cx="10344919" cy="6863811"/>
          </a:xfrm>
        </p:spPr>
      </p:pic>
    </p:spTree>
    <p:extLst>
      <p:ext uri="{BB962C8B-B14F-4D97-AF65-F5344CB8AC3E}">
        <p14:creationId xmlns:p14="http://schemas.microsoft.com/office/powerpoint/2010/main" val="2414843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5E2-5487-8DB8-DCA6-8646BDC8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25" y="119062"/>
            <a:ext cx="10515600" cy="1325563"/>
          </a:xfrm>
        </p:spPr>
        <p:txBody>
          <a:bodyPr/>
          <a:lstStyle/>
          <a:p>
            <a:r>
              <a:rPr lang="en-US" b="1" dirty="0"/>
              <a:t>Exponential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6C2F8-F1A2-978F-29F8-515A885ED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091" y="1814224"/>
            <a:ext cx="3955473" cy="4351338"/>
          </a:xfrm>
        </p:spPr>
        <p:txBody>
          <a:bodyPr/>
          <a:lstStyle/>
          <a:p>
            <a:r>
              <a:rPr lang="en-US" dirty="0"/>
              <a:t>V</a:t>
            </a:r>
            <a:r>
              <a:rPr lang="en-US" baseline="-25000" dirty="0"/>
              <a:t>t=14 </a:t>
            </a:r>
            <a:r>
              <a:rPr lang="en-US" dirty="0"/>
              <a:t>= 2.99</a:t>
            </a:r>
          </a:p>
          <a:p>
            <a:r>
              <a:rPr lang="en-US" dirty="0"/>
              <a:t>V</a:t>
            </a:r>
            <a:r>
              <a:rPr lang="en-US" baseline="-25000" dirty="0"/>
              <a:t>t=22 </a:t>
            </a:r>
            <a:r>
              <a:rPr lang="en-US" dirty="0"/>
              <a:t>= 1.90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with a red line and black dots&#10;&#10;AI-generated content may be incorrect.">
            <a:extLst>
              <a:ext uri="{FF2B5EF4-FFF2-40B4-BE49-F238E27FC236}">
                <a16:creationId xmlns:a16="http://schemas.microsoft.com/office/drawing/2014/main" id="{93EA4077-A619-698D-CABE-DF7944FE1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08" y="365125"/>
            <a:ext cx="7598567" cy="61700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9021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2087-B542-E266-505A-37E1C91D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54" y="0"/>
            <a:ext cx="10868891" cy="1325563"/>
          </a:xfrm>
        </p:spPr>
        <p:txBody>
          <a:bodyPr/>
          <a:lstStyle/>
          <a:p>
            <a:r>
              <a:rPr lang="en-US" b="1" dirty="0"/>
              <a:t>Cumulative Deformation with Exponential Fit</a:t>
            </a:r>
          </a:p>
        </p:txBody>
      </p:sp>
      <p:pic>
        <p:nvPicPr>
          <p:cNvPr id="5" name="Picture 4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1C9A00DB-095C-C8FF-0BAB-13EB130EF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1172729"/>
            <a:ext cx="7315200" cy="5486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5960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50A3-7F3D-39C1-9A6F-D63949E3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32C8-D5B8-DF43-FD7C-4F70609BA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1" y="115743"/>
            <a:ext cx="10515600" cy="1325563"/>
          </a:xfrm>
        </p:spPr>
        <p:txBody>
          <a:bodyPr/>
          <a:lstStyle/>
          <a:p>
            <a:r>
              <a:rPr lang="en-US" b="1" dirty="0"/>
              <a:t>Logarithmic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7BF0-F019-D36B-A826-D36E903C3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18" y="1839480"/>
            <a:ext cx="3955473" cy="4351338"/>
          </a:xfrm>
        </p:spPr>
        <p:txBody>
          <a:bodyPr/>
          <a:lstStyle/>
          <a:p>
            <a:r>
              <a:rPr lang="en-US" dirty="0"/>
              <a:t>V</a:t>
            </a:r>
            <a:r>
              <a:rPr lang="en-US" baseline="-25000" dirty="0"/>
              <a:t>t=14 </a:t>
            </a:r>
            <a:r>
              <a:rPr lang="en-US" dirty="0"/>
              <a:t>= 3.17</a:t>
            </a:r>
          </a:p>
          <a:p>
            <a:r>
              <a:rPr lang="en-US" dirty="0"/>
              <a:t>V</a:t>
            </a:r>
            <a:r>
              <a:rPr lang="en-US" baseline="-25000" dirty="0"/>
              <a:t>t=22 </a:t>
            </a:r>
            <a:r>
              <a:rPr lang="en-US" dirty="0"/>
              <a:t>= 2.17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graph with a red line and black dots&#10;&#10;AI-generated content may be incorrect.">
            <a:extLst>
              <a:ext uri="{FF2B5EF4-FFF2-40B4-BE49-F238E27FC236}">
                <a16:creationId xmlns:a16="http://schemas.microsoft.com/office/drawing/2014/main" id="{08AD4497-F83D-DDFD-85BA-DDFA3F9C2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437" y="388143"/>
            <a:ext cx="7538322" cy="608171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6023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4D69-B22D-0F23-2CC8-70B16378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2513-6990-B6B8-0AED-8BCBC572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54" y="59891"/>
            <a:ext cx="11021291" cy="1325563"/>
          </a:xfrm>
        </p:spPr>
        <p:txBody>
          <a:bodyPr/>
          <a:lstStyle/>
          <a:p>
            <a:r>
              <a:rPr lang="en-US" b="1" dirty="0"/>
              <a:t>Cumulative Deformation with Logarithmic Fit</a:t>
            </a:r>
          </a:p>
        </p:txBody>
      </p:sp>
      <p:pic>
        <p:nvPicPr>
          <p:cNvPr id="5" name="Picture 4" descr="A graph showing the growth of a graph&#10;&#10;AI-generated content may be incorrect.">
            <a:extLst>
              <a:ext uri="{FF2B5EF4-FFF2-40B4-BE49-F238E27FC236}">
                <a16:creationId xmlns:a16="http://schemas.microsoft.com/office/drawing/2014/main" id="{7621B135-AC22-A79D-9592-8FB21108C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1191490"/>
            <a:ext cx="7315200" cy="5486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228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06C4-117D-10A5-8DA5-633A4A22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Potential Updates/Improvements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79DB3-FDBC-61A1-D142-FD61D9DC6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values that I interpolated, can swap to use the value from the fitted curve, either exponential or logarithmic</a:t>
            </a:r>
          </a:p>
        </p:txBody>
      </p:sp>
    </p:spTree>
    <p:extLst>
      <p:ext uri="{BB962C8B-B14F-4D97-AF65-F5344CB8AC3E}">
        <p14:creationId xmlns:p14="http://schemas.microsoft.com/office/powerpoint/2010/main" val="3811192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900</Words>
  <Application>Microsoft Macintosh PowerPoint</Application>
  <PresentationFormat>Widescreen</PresentationFormat>
  <Paragraphs>92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LOS Deformation</vt:lpstr>
      <vt:lpstr>Overview</vt:lpstr>
      <vt:lpstr>Outline of Data:</vt:lpstr>
      <vt:lpstr>Outline of Data</vt:lpstr>
      <vt:lpstr>Old Incremental Framework</vt:lpstr>
      <vt:lpstr>New Incremental Framework</vt:lpstr>
      <vt:lpstr>PowerPoint Presentation</vt:lpstr>
      <vt:lpstr>What do we do about t7 = 14 and t8=22 if we assigned velocities to the middle window dates, and the last middle window date is 11? </vt:lpstr>
      <vt:lpstr>PowerPoint Presentation</vt:lpstr>
      <vt:lpstr>PowerPoint Presentation</vt:lpstr>
      <vt:lpstr>PowerPoint Presentation</vt:lpstr>
      <vt:lpstr>Exponential Fit</vt:lpstr>
      <vt:lpstr>Cumulative Deformation with Exponential Fit</vt:lpstr>
      <vt:lpstr>Logarithmic Fit</vt:lpstr>
      <vt:lpstr>Cumulative Deformation with Logarithmic Fit</vt:lpstr>
      <vt:lpstr>Potential Updates/Improvements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Kendall, Lauren</dc:creator>
  <cp:lastModifiedBy>Kendall, Lauren</cp:lastModifiedBy>
  <cp:revision>5</cp:revision>
  <dcterms:created xsi:type="dcterms:W3CDTF">2026-01-27T20:04:26Z</dcterms:created>
  <dcterms:modified xsi:type="dcterms:W3CDTF">2026-01-27T20:53:19Z</dcterms:modified>
</cp:coreProperties>
</file>