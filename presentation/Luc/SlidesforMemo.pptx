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4" r:id="rId4"/>
    <p:sldId id="265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200"/>
              <a:t>Elevation of Highest Living Coral vs Year in 12SPL-A</a:t>
            </a:r>
          </a:p>
        </c:rich>
      </c:tx>
      <c:layout>
        <c:manualLayout>
          <c:xMode val="edge"/>
          <c:yMode val="edge"/>
          <c:x val="0.25884266658530708"/>
          <c:y val="0.182997936174114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1391129199916578"/>
          <c:y val="0.29300339090728927"/>
          <c:w val="0.60058186803894176"/>
          <c:h val="0.42422752736554614"/>
        </c:manualLayout>
      </c:layout>
      <c:scatterChart>
        <c:scatterStyle val="lineMarker"/>
        <c:varyColors val="0"/>
        <c:ser>
          <c:idx val="0"/>
          <c:order val="0"/>
          <c:spPr>
            <a:ln w="4762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'[12SPL-A growth record .xlsx]Sheet1'!$A$2:$A$83</c:f>
              <c:numCache>
                <c:formatCode>General</c:formatCode>
                <c:ptCount val="82"/>
                <c:pt idx="0">
                  <c:v>2012.7</c:v>
                </c:pt>
                <c:pt idx="1">
                  <c:v>2012</c:v>
                </c:pt>
                <c:pt idx="2">
                  <c:v>2011</c:v>
                </c:pt>
                <c:pt idx="3">
                  <c:v>2010</c:v>
                </c:pt>
                <c:pt idx="4">
                  <c:v>2009</c:v>
                </c:pt>
                <c:pt idx="5">
                  <c:v>2008</c:v>
                </c:pt>
                <c:pt idx="6">
                  <c:v>2007.51</c:v>
                </c:pt>
                <c:pt idx="7">
                  <c:v>2007</c:v>
                </c:pt>
                <c:pt idx="8">
                  <c:v>2006</c:v>
                </c:pt>
                <c:pt idx="9">
                  <c:v>2005</c:v>
                </c:pt>
                <c:pt idx="10">
                  <c:v>2004</c:v>
                </c:pt>
                <c:pt idx="11">
                  <c:v>2003</c:v>
                </c:pt>
                <c:pt idx="12">
                  <c:v>2002</c:v>
                </c:pt>
                <c:pt idx="13">
                  <c:v>2001</c:v>
                </c:pt>
                <c:pt idx="14">
                  <c:v>2000</c:v>
                </c:pt>
                <c:pt idx="15">
                  <c:v>1999</c:v>
                </c:pt>
                <c:pt idx="16">
                  <c:v>1998</c:v>
                </c:pt>
                <c:pt idx="17">
                  <c:v>1997</c:v>
                </c:pt>
                <c:pt idx="18">
                  <c:v>1996</c:v>
                </c:pt>
                <c:pt idx="19">
                  <c:v>1995</c:v>
                </c:pt>
                <c:pt idx="20">
                  <c:v>1994</c:v>
                </c:pt>
                <c:pt idx="21">
                  <c:v>1993</c:v>
                </c:pt>
                <c:pt idx="22">
                  <c:v>1992</c:v>
                </c:pt>
                <c:pt idx="23">
                  <c:v>1991</c:v>
                </c:pt>
                <c:pt idx="24">
                  <c:v>1990</c:v>
                </c:pt>
                <c:pt idx="25">
                  <c:v>1989</c:v>
                </c:pt>
                <c:pt idx="26">
                  <c:v>1988</c:v>
                </c:pt>
                <c:pt idx="27">
                  <c:v>1987</c:v>
                </c:pt>
                <c:pt idx="28">
                  <c:v>1986</c:v>
                </c:pt>
                <c:pt idx="29">
                  <c:v>1985</c:v>
                </c:pt>
                <c:pt idx="30">
                  <c:v>1984</c:v>
                </c:pt>
                <c:pt idx="31">
                  <c:v>1983</c:v>
                </c:pt>
                <c:pt idx="32">
                  <c:v>1982</c:v>
                </c:pt>
                <c:pt idx="33">
                  <c:v>1981</c:v>
                </c:pt>
                <c:pt idx="34">
                  <c:v>1980</c:v>
                </c:pt>
                <c:pt idx="35">
                  <c:v>1979</c:v>
                </c:pt>
                <c:pt idx="36">
                  <c:v>1978</c:v>
                </c:pt>
                <c:pt idx="37">
                  <c:v>1977</c:v>
                </c:pt>
                <c:pt idx="38">
                  <c:v>1976</c:v>
                </c:pt>
                <c:pt idx="39">
                  <c:v>1975</c:v>
                </c:pt>
                <c:pt idx="40">
                  <c:v>1974</c:v>
                </c:pt>
                <c:pt idx="41">
                  <c:v>1973</c:v>
                </c:pt>
                <c:pt idx="42">
                  <c:v>1972</c:v>
                </c:pt>
                <c:pt idx="43">
                  <c:v>1971</c:v>
                </c:pt>
                <c:pt idx="44">
                  <c:v>1970</c:v>
                </c:pt>
                <c:pt idx="45">
                  <c:v>1969</c:v>
                </c:pt>
                <c:pt idx="46">
                  <c:v>1968</c:v>
                </c:pt>
                <c:pt idx="47">
                  <c:v>1967</c:v>
                </c:pt>
                <c:pt idx="48">
                  <c:v>1966</c:v>
                </c:pt>
                <c:pt idx="49">
                  <c:v>1965</c:v>
                </c:pt>
                <c:pt idx="50">
                  <c:v>1964</c:v>
                </c:pt>
                <c:pt idx="51">
                  <c:v>1963</c:v>
                </c:pt>
                <c:pt idx="52">
                  <c:v>1962</c:v>
                </c:pt>
                <c:pt idx="53">
                  <c:v>1961</c:v>
                </c:pt>
                <c:pt idx="54">
                  <c:v>1960</c:v>
                </c:pt>
                <c:pt idx="55">
                  <c:v>1959</c:v>
                </c:pt>
                <c:pt idx="56">
                  <c:v>1958</c:v>
                </c:pt>
                <c:pt idx="57">
                  <c:v>1957</c:v>
                </c:pt>
                <c:pt idx="58">
                  <c:v>1956</c:v>
                </c:pt>
                <c:pt idx="59">
                  <c:v>1955</c:v>
                </c:pt>
                <c:pt idx="60">
                  <c:v>1954</c:v>
                </c:pt>
                <c:pt idx="61">
                  <c:v>1953</c:v>
                </c:pt>
                <c:pt idx="62">
                  <c:v>1952</c:v>
                </c:pt>
                <c:pt idx="63">
                  <c:v>1951</c:v>
                </c:pt>
                <c:pt idx="64">
                  <c:v>1950</c:v>
                </c:pt>
                <c:pt idx="65">
                  <c:v>1949</c:v>
                </c:pt>
                <c:pt idx="66">
                  <c:v>1948</c:v>
                </c:pt>
                <c:pt idx="67">
                  <c:v>1947</c:v>
                </c:pt>
                <c:pt idx="68">
                  <c:v>1946</c:v>
                </c:pt>
                <c:pt idx="69">
                  <c:v>1945</c:v>
                </c:pt>
                <c:pt idx="70">
                  <c:v>1944</c:v>
                </c:pt>
                <c:pt idx="71">
                  <c:v>1943</c:v>
                </c:pt>
                <c:pt idx="72">
                  <c:v>1942</c:v>
                </c:pt>
                <c:pt idx="73">
                  <c:v>1941</c:v>
                </c:pt>
                <c:pt idx="74">
                  <c:v>1940</c:v>
                </c:pt>
                <c:pt idx="75">
                  <c:v>1939</c:v>
                </c:pt>
                <c:pt idx="76">
                  <c:v>1938</c:v>
                </c:pt>
                <c:pt idx="77">
                  <c:v>1937</c:v>
                </c:pt>
                <c:pt idx="78">
                  <c:v>1936</c:v>
                </c:pt>
                <c:pt idx="79">
                  <c:v>1935</c:v>
                </c:pt>
                <c:pt idx="80">
                  <c:v>1934</c:v>
                </c:pt>
                <c:pt idx="81">
                  <c:v>1933</c:v>
                </c:pt>
              </c:numCache>
            </c:numRef>
          </c:xVal>
          <c:yVal>
            <c:numRef>
              <c:f>'[12SPL-A growth record .xlsx]Sheet1'!$B$2:$B$83</c:f>
              <c:numCache>
                <c:formatCode>General</c:formatCode>
                <c:ptCount val="82"/>
                <c:pt idx="0">
                  <c:v>-73.400000000000006</c:v>
                </c:pt>
                <c:pt idx="1">
                  <c:v>-73</c:v>
                </c:pt>
                <c:pt idx="2">
                  <c:v>-74</c:v>
                </c:pt>
                <c:pt idx="3">
                  <c:v>-75</c:v>
                </c:pt>
                <c:pt idx="4">
                  <c:v>-76</c:v>
                </c:pt>
                <c:pt idx="5">
                  <c:v>-77.2</c:v>
                </c:pt>
                <c:pt idx="6">
                  <c:v>-78</c:v>
                </c:pt>
                <c:pt idx="7">
                  <c:v>-12</c:v>
                </c:pt>
                <c:pt idx="8">
                  <c:v>-14</c:v>
                </c:pt>
                <c:pt idx="9">
                  <c:v>-16</c:v>
                </c:pt>
                <c:pt idx="10">
                  <c:v>-18</c:v>
                </c:pt>
                <c:pt idx="11">
                  <c:v>-20</c:v>
                </c:pt>
                <c:pt idx="12">
                  <c:v>-21</c:v>
                </c:pt>
                <c:pt idx="13">
                  <c:v>-24</c:v>
                </c:pt>
                <c:pt idx="14">
                  <c:v>-24.5</c:v>
                </c:pt>
                <c:pt idx="15">
                  <c:v>-25</c:v>
                </c:pt>
                <c:pt idx="16">
                  <c:v>-26</c:v>
                </c:pt>
                <c:pt idx="17">
                  <c:v>-26.5</c:v>
                </c:pt>
                <c:pt idx="18">
                  <c:v>-26</c:v>
                </c:pt>
                <c:pt idx="19">
                  <c:v>-27</c:v>
                </c:pt>
                <c:pt idx="20">
                  <c:v>-28</c:v>
                </c:pt>
                <c:pt idx="21">
                  <c:v>-29</c:v>
                </c:pt>
                <c:pt idx="22">
                  <c:v>-30</c:v>
                </c:pt>
                <c:pt idx="23">
                  <c:v>-27</c:v>
                </c:pt>
                <c:pt idx="24">
                  <c:v>-29</c:v>
                </c:pt>
                <c:pt idx="25">
                  <c:v>-30</c:v>
                </c:pt>
                <c:pt idx="26">
                  <c:v>-30.5</c:v>
                </c:pt>
                <c:pt idx="27">
                  <c:v>-32</c:v>
                </c:pt>
                <c:pt idx="28">
                  <c:v>-31.5</c:v>
                </c:pt>
                <c:pt idx="29">
                  <c:v>-32</c:v>
                </c:pt>
                <c:pt idx="30">
                  <c:v>-32</c:v>
                </c:pt>
                <c:pt idx="31">
                  <c:v>-31.5</c:v>
                </c:pt>
                <c:pt idx="32">
                  <c:v>-31</c:v>
                </c:pt>
                <c:pt idx="33">
                  <c:v>-31.5</c:v>
                </c:pt>
                <c:pt idx="34">
                  <c:v>-31</c:v>
                </c:pt>
                <c:pt idx="35">
                  <c:v>-30.6</c:v>
                </c:pt>
                <c:pt idx="36">
                  <c:v>-30.4</c:v>
                </c:pt>
                <c:pt idx="37">
                  <c:v>-30</c:v>
                </c:pt>
                <c:pt idx="38">
                  <c:v>-29.7</c:v>
                </c:pt>
                <c:pt idx="39">
                  <c:v>-29</c:v>
                </c:pt>
                <c:pt idx="40">
                  <c:v>-29</c:v>
                </c:pt>
                <c:pt idx="41">
                  <c:v>-28.5</c:v>
                </c:pt>
                <c:pt idx="42">
                  <c:v>-14</c:v>
                </c:pt>
                <c:pt idx="43">
                  <c:v>-16</c:v>
                </c:pt>
                <c:pt idx="44">
                  <c:v>-17</c:v>
                </c:pt>
                <c:pt idx="45">
                  <c:v>-17.5</c:v>
                </c:pt>
                <c:pt idx="46">
                  <c:v>-18</c:v>
                </c:pt>
                <c:pt idx="47">
                  <c:v>-19</c:v>
                </c:pt>
                <c:pt idx="48">
                  <c:v>-20</c:v>
                </c:pt>
                <c:pt idx="49">
                  <c:v>-21</c:v>
                </c:pt>
                <c:pt idx="50">
                  <c:v>-22</c:v>
                </c:pt>
                <c:pt idx="51">
                  <c:v>-23</c:v>
                </c:pt>
                <c:pt idx="52">
                  <c:v>-23.5</c:v>
                </c:pt>
                <c:pt idx="53">
                  <c:v>-21</c:v>
                </c:pt>
                <c:pt idx="54">
                  <c:v>-20.5</c:v>
                </c:pt>
                <c:pt idx="55">
                  <c:v>-20</c:v>
                </c:pt>
                <c:pt idx="56">
                  <c:v>-19.5</c:v>
                </c:pt>
                <c:pt idx="57">
                  <c:v>-18.5</c:v>
                </c:pt>
                <c:pt idx="58">
                  <c:v>-17.5</c:v>
                </c:pt>
                <c:pt idx="59">
                  <c:v>-9.5</c:v>
                </c:pt>
                <c:pt idx="60">
                  <c:v>-10</c:v>
                </c:pt>
                <c:pt idx="61">
                  <c:v>-10</c:v>
                </c:pt>
                <c:pt idx="62">
                  <c:v>-10</c:v>
                </c:pt>
                <c:pt idx="63">
                  <c:v>-11.5</c:v>
                </c:pt>
                <c:pt idx="64">
                  <c:v>-12.5</c:v>
                </c:pt>
                <c:pt idx="65">
                  <c:v>-14</c:v>
                </c:pt>
                <c:pt idx="66">
                  <c:v>-15</c:v>
                </c:pt>
                <c:pt idx="67">
                  <c:v>-16.5</c:v>
                </c:pt>
                <c:pt idx="68">
                  <c:v>-17</c:v>
                </c:pt>
                <c:pt idx="69">
                  <c:v>-18.5</c:v>
                </c:pt>
                <c:pt idx="70">
                  <c:v>-21</c:v>
                </c:pt>
                <c:pt idx="71">
                  <c:v>-22</c:v>
                </c:pt>
                <c:pt idx="72">
                  <c:v>-19</c:v>
                </c:pt>
                <c:pt idx="73">
                  <c:v>-20</c:v>
                </c:pt>
                <c:pt idx="74">
                  <c:v>-21</c:v>
                </c:pt>
                <c:pt idx="75">
                  <c:v>-22</c:v>
                </c:pt>
                <c:pt idx="76">
                  <c:v>-22.2</c:v>
                </c:pt>
                <c:pt idx="77">
                  <c:v>-22.4</c:v>
                </c:pt>
                <c:pt idx="78">
                  <c:v>-22.6</c:v>
                </c:pt>
                <c:pt idx="79">
                  <c:v>-22.8</c:v>
                </c:pt>
                <c:pt idx="80">
                  <c:v>-23</c:v>
                </c:pt>
                <c:pt idx="81">
                  <c:v>-23.5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F49-42A9-9B48-51012F0CB4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10716488"/>
        <c:axId val="610715312"/>
      </c:scatterChart>
      <c:valAx>
        <c:axId val="610716488"/>
        <c:scaling>
          <c:orientation val="minMax"/>
          <c:max val="2016"/>
          <c:min val="193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Approximate Yr CE</a:t>
                </a:r>
              </a:p>
            </c:rich>
          </c:tx>
          <c:layout>
            <c:manualLayout>
              <c:xMode val="edge"/>
              <c:yMode val="edge"/>
              <c:x val="0.48367490972978733"/>
              <c:y val="0.927594300408931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715312"/>
        <c:crossesAt val="-100"/>
        <c:crossBetween val="midCat"/>
        <c:majorUnit val="2"/>
        <c:minorUnit val="1"/>
      </c:valAx>
      <c:valAx>
        <c:axId val="610715312"/>
        <c:scaling>
          <c:orientation val="minMax"/>
          <c:min val="-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Highest Living Coral Rela</a:t>
                </a:r>
                <a:r>
                  <a:rPr lang="en-US" sz="2400" b="1"/>
                  <a:t>tive</a:t>
                </a:r>
                <a:r>
                  <a:rPr lang="en-US" sz="2400"/>
                  <a:t> Elev. ,</a:t>
                </a:r>
                <a:r>
                  <a:rPr lang="en-US" sz="2400" baseline="0"/>
                  <a:t> </a:t>
                </a:r>
                <a:r>
                  <a:rPr lang="en-US" sz="2400"/>
                  <a:t>cm</a:t>
                </a:r>
              </a:p>
            </c:rich>
          </c:tx>
          <c:layout>
            <c:manualLayout>
              <c:xMode val="edge"/>
              <c:yMode val="edge"/>
              <c:x val="3.5354265788698151E-2"/>
              <c:y val="0.2123595486814721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716488"/>
        <c:crosses val="autoZero"/>
        <c:crossBetween val="midCat"/>
        <c:majorUnit val="5"/>
        <c:minorUnit val="1"/>
      </c:valAx>
      <c:spPr>
        <a:solidFill>
          <a:schemeClr val="accent6">
            <a:lumMod val="20000"/>
            <a:lumOff val="80000"/>
          </a:schemeClr>
        </a:solidFill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0.93423</cdr:x>
      <cdr:y>0.40977</cdr:y>
    </cdr:from>
    <cdr:to>
      <cdr:x>0.99576</cdr:x>
      <cdr:y>0.49979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16963746" y="4268709"/>
          <a:ext cx="1117419" cy="93770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3200"/>
            <a:t>?</a:t>
          </a:r>
        </a:p>
      </cdr:txBody>
    </cdr:sp>
  </cdr:relSizeAnchor>
  <cdr:relSizeAnchor xmlns:cdr="http://schemas.openxmlformats.org/drawingml/2006/chartDrawing">
    <cdr:from>
      <cdr:x>0.22412</cdr:x>
      <cdr:y>0.43767</cdr:y>
    </cdr:from>
    <cdr:to>
      <cdr:x>0.25041</cdr:x>
      <cdr:y>0.68989</cdr:y>
    </cdr:to>
    <cdr:sp macro="" textlink="">
      <cdr:nvSpPr>
        <cdr:cNvPr id="3" name="TextBox 2"/>
        <cdr:cNvSpPr txBox="1"/>
      </cdr:nvSpPr>
      <cdr:spPr>
        <a:xfrm xmlns:a="http://schemas.openxmlformats.org/drawingml/2006/main" rot="16200000">
          <a:off x="2994470" y="5634403"/>
          <a:ext cx="2627451" cy="47737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2000"/>
            <a:t>ENSO</a:t>
          </a:r>
          <a:r>
            <a:rPr lang="en-US" sz="2000" baseline="0"/>
            <a:t> Sea Level Event</a:t>
          </a:r>
          <a:endParaRPr lang="en-US" sz="2000"/>
        </a:p>
      </cdr:txBody>
    </cdr:sp>
  </cdr:relSizeAnchor>
  <cdr:relSizeAnchor xmlns:cdr="http://schemas.openxmlformats.org/drawingml/2006/chartDrawing">
    <cdr:from>
      <cdr:x>0.72562</cdr:x>
      <cdr:y>0.4877</cdr:y>
    </cdr:from>
    <cdr:to>
      <cdr:x>0.74176</cdr:x>
      <cdr:y>0.72801</cdr:y>
    </cdr:to>
    <cdr:sp macro="" textlink="">
      <cdr:nvSpPr>
        <cdr:cNvPr id="4" name="TextBox 1"/>
        <cdr:cNvSpPr txBox="1"/>
      </cdr:nvSpPr>
      <cdr:spPr>
        <a:xfrm xmlns:a="http://schemas.openxmlformats.org/drawingml/2006/main" rot="16200000">
          <a:off x="12070615" y="6185718"/>
          <a:ext cx="2503380" cy="2930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2000"/>
            <a:t>ENSO</a:t>
          </a:r>
          <a:r>
            <a:rPr lang="en-US" sz="2000" baseline="0"/>
            <a:t> Sea Level Event</a:t>
          </a:r>
          <a:endParaRPr lang="en-US" sz="2000"/>
        </a:p>
      </cdr:txBody>
    </cdr:sp>
  </cdr:relSizeAnchor>
  <cdr:relSizeAnchor xmlns:cdr="http://schemas.openxmlformats.org/drawingml/2006/chartDrawing">
    <cdr:from>
      <cdr:x>0.36213</cdr:x>
      <cdr:y>0.39852</cdr:y>
    </cdr:from>
    <cdr:to>
      <cdr:x>0.39034</cdr:x>
      <cdr:y>0.71169</cdr:y>
    </cdr:to>
    <cdr:sp macro="" textlink="">
      <cdr:nvSpPr>
        <cdr:cNvPr id="5" name="TextBox 4"/>
        <cdr:cNvSpPr txBox="1"/>
      </cdr:nvSpPr>
      <cdr:spPr>
        <a:xfrm xmlns:a="http://schemas.openxmlformats.org/drawingml/2006/main" rot="16200000">
          <a:off x="5200525" y="5526590"/>
          <a:ext cx="3262385" cy="51223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2400"/>
            <a:t>Apparent Tectonic</a:t>
          </a:r>
          <a:r>
            <a:rPr lang="en-US" sz="2400" baseline="0"/>
            <a:t> Uplift</a:t>
          </a:r>
          <a:endParaRPr lang="en-US" sz="2400"/>
        </a:p>
      </cdr:txBody>
    </cdr:sp>
  </cdr:relSizeAnchor>
  <cdr:relSizeAnchor xmlns:cdr="http://schemas.openxmlformats.org/drawingml/2006/chartDrawing">
    <cdr:from>
      <cdr:x>0.5183</cdr:x>
      <cdr:y>0.38821</cdr:y>
    </cdr:from>
    <cdr:to>
      <cdr:x>0.551</cdr:x>
      <cdr:y>0.72389</cdr:y>
    </cdr:to>
    <cdr:sp macro="" textlink="">
      <cdr:nvSpPr>
        <cdr:cNvPr id="6" name="TextBox 1"/>
        <cdr:cNvSpPr txBox="1"/>
      </cdr:nvSpPr>
      <cdr:spPr>
        <a:xfrm xmlns:a="http://schemas.openxmlformats.org/drawingml/2006/main" rot="16200000">
          <a:off x="7959815" y="5495631"/>
          <a:ext cx="3496878" cy="59376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2400" dirty="0"/>
            <a:t>Apparent Tectonic</a:t>
          </a:r>
          <a:r>
            <a:rPr lang="en-US" sz="2400" baseline="0" dirty="0"/>
            <a:t> Uplift</a:t>
          </a:r>
        </a:p>
        <a:p xmlns:a="http://schemas.openxmlformats.org/drawingml/2006/main">
          <a:r>
            <a:rPr lang="en-US" sz="2400" baseline="0" dirty="0"/>
            <a:t>+ 1972 ENSO</a:t>
          </a:r>
          <a:endParaRPr lang="en-US" sz="2400" dirty="0"/>
        </a:p>
      </cdr:txBody>
    </cdr:sp>
  </cdr:relSizeAnchor>
  <cdr:relSizeAnchor xmlns:cdr="http://schemas.openxmlformats.org/drawingml/2006/chartDrawing">
    <cdr:from>
      <cdr:x>0.89453</cdr:x>
      <cdr:y>0.40859</cdr:y>
    </cdr:from>
    <cdr:to>
      <cdr:x>0.9269</cdr:x>
      <cdr:y>0.76583</cdr:y>
    </cdr:to>
    <cdr:sp macro="" textlink="">
      <cdr:nvSpPr>
        <cdr:cNvPr id="7" name="TextBox 6"/>
        <cdr:cNvSpPr txBox="1"/>
      </cdr:nvSpPr>
      <cdr:spPr>
        <a:xfrm xmlns:a="http://schemas.openxmlformats.org/drawingml/2006/main" rot="16200000">
          <a:off x="14676124" y="5823292"/>
          <a:ext cx="3721476" cy="58777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2400"/>
            <a:t>April 2007 Coseismic Uplift</a:t>
          </a:r>
        </a:p>
      </cdr:txBody>
    </cdr:sp>
  </cdr:relSizeAnchor>
  <cdr:relSizeAnchor xmlns:cdr="http://schemas.openxmlformats.org/drawingml/2006/chartDrawing">
    <cdr:from>
      <cdr:x>0.94754</cdr:x>
      <cdr:y>0.66471</cdr:y>
    </cdr:from>
    <cdr:to>
      <cdr:x>1</cdr:x>
      <cdr:y>0.85696</cdr:y>
    </cdr:to>
    <cdr:sp macro="" textlink="">
      <cdr:nvSpPr>
        <cdr:cNvPr id="8" name="TextBox 7"/>
        <cdr:cNvSpPr txBox="1"/>
      </cdr:nvSpPr>
      <cdr:spPr>
        <a:xfrm xmlns:a="http://schemas.openxmlformats.org/drawingml/2006/main" rot="16200000">
          <a:off x="16680420" y="7449594"/>
          <a:ext cx="2002725" cy="9525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2400"/>
            <a:t>Living </a:t>
          </a:r>
        </a:p>
        <a:p xmlns:a="http://schemas.openxmlformats.org/drawingml/2006/main">
          <a:r>
            <a:rPr lang="en-US" sz="2400"/>
            <a:t>Aug., 2012</a:t>
          </a:r>
        </a:p>
        <a:p xmlns:a="http://schemas.openxmlformats.org/drawingml/2006/main">
          <a:r>
            <a:rPr lang="en-US" sz="2400"/>
            <a:t> 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7CDF-76DC-F121-338A-D6C7DAADF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BC9068-F7E6-582D-7BA4-2DCD698D8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DCE9C-B3B1-FEDE-53CD-C3417B6E2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4/26/25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47472-65C6-6A0B-B4C4-6C75E2E95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0EE36-F6F1-AC9F-D9DD-4185106A6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25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C7662-1EE8-F11A-82AB-168B82307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64482-D8F1-99A4-1E8B-C70FB1F2E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F29A0-1806-FD1B-D6B5-F7677503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4/26/25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68061-AECA-5D2C-B4C6-35EBCF4DC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E3E02-4831-49A4-337A-5C0C7EE75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9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CE51-ACEB-04AA-2659-FBA492B4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1AA4D-443B-8AA5-D168-05EB34A8E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231FC-0B1E-7305-0A8B-802D44A6D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4/26/25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C8CA5-24D3-9F74-EC7F-089905B3B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54AF1-019F-A7E9-4077-A0DA6C0D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1D52F-1EBC-DEC5-D8CD-08559495D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6653F-084A-CF6A-F636-A3620573E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7FCC00-1972-0195-5FC3-D0B0CA80D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EE562-6821-5A63-6072-F8B614605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4/26/25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CC0F5-60F7-4BBC-D11E-26A998FF0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BA84-6D6D-46C8-0012-EF80398B2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01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AA5E-0F11-B7B5-6BE2-4AD9736D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DB6CB-B224-63B6-5FFA-E7C4A1687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DA00C-B764-E3FA-8E14-25A2AA8D4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68274-C076-8AF2-EAA4-968BC4EB1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11BFC3-47D9-81FB-19A7-983B11B169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D3A085-08B1-59D2-4B12-B205C7177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4/26/25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133E42-3275-E2AA-F690-14DE19E97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1EBEAE-C311-10D9-8316-0EA573036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42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8B221-F268-9276-93A7-CD3D6825C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ED450E-B658-B4E1-2117-765D21AFC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4/26/25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9CCB2-4095-B522-8E95-1529BEDF3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F163C9-767F-697D-336A-CD2F62EC2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6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462146-9536-07DC-83BC-F096BF7A8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4/26/25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330E90-981F-A8C2-FA08-E914F2E3A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E64D4-D803-C7B5-62F6-349E4CC7B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62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EFDB4-99DA-64F3-D203-0746CC5F4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A035A-0F28-1294-6131-DDF715F56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956AC-B313-46FC-8C32-8ED850FEC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A43E3-357C-BB82-1872-27DF90F52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4/26/25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ED5B9-A268-84F9-EA32-06849C91B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A4407-8023-AC2B-B004-44E00874E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61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63E1C-1F46-6A06-97A5-8D56E4B13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166359-AE82-1AF2-503E-06E89AE95A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B52A8-DBC4-3EF3-C5E7-40C06D696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CFDD-7621-DCE6-907B-A36A0DC5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4/26/25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AAF10-69B0-C26D-5B1E-D5EF1AE28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E5C00-396E-6E6C-CD0B-0C595E232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048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485E1-41C2-F93D-AF14-F283E1F26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26715-DB3C-7540-4F31-971726035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D9611-D532-5C2D-0F27-9FC662462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4/26/25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431E4-19D9-5802-EEC7-6B316EA43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D3355-F5DE-1530-A3E2-01A16AD4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05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C7F31E-EE5A-CB3F-5F15-8386163AEC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D3444-4680-705E-C5C4-5AEC1E6F0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D2669-93E1-0235-D5AD-B77292F1F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4/26/25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EC1A7-D084-F86A-3773-8A604DE32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386F5-5FDD-39A6-5244-169FAE6E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55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01EB28-722C-DBAD-254F-4F2CE35F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DA3F8-AB42-371D-48D4-4E29C802D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4EF6B-8977-94C0-3600-C7059D62C4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56EDF8-F669-F94A-971A-233868348FCA}" type="datetimeFigureOut">
              <a:rPr lang="en-US" smtClean="0"/>
              <a:t>4/26/25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C415C-462C-BA89-C2D4-64C7AF1DE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75F5F-26DF-C19E-1350-647B77114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24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0871-806E-4D23-46D3-DD5D58DB95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Slides for Memo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F2037-CB33-4483-A034-994B879C8C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648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B45E6-D114-1324-0A1D-54D5746D5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person standing next to a piece of wood&#10;&#10;Description automatically generated">
            <a:extLst>
              <a:ext uri="{FF2B5EF4-FFF2-40B4-BE49-F238E27FC236}">
                <a16:creationId xmlns:a16="http://schemas.microsoft.com/office/drawing/2014/main" id="{0AF6E4C3-42C9-6C40-A20F-27244F0C45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163" y="365125"/>
            <a:ext cx="8488680" cy="6366510"/>
          </a:xfrm>
        </p:spPr>
      </p:pic>
    </p:spTree>
    <p:extLst>
      <p:ext uri="{BB962C8B-B14F-4D97-AF65-F5344CB8AC3E}">
        <p14:creationId xmlns:p14="http://schemas.microsoft.com/office/powerpoint/2010/main" val="1676359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B6AEED-48D4-7643-6150-27505479B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00" y="520700"/>
            <a:ext cx="5207000" cy="581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884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5475B6-04C1-FB1C-C3B3-2EC8919FE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84" y="1878983"/>
            <a:ext cx="5385816" cy="42602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F067EA-4150-E07B-F88A-AF1F8F4A3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46572"/>
            <a:ext cx="5474208" cy="43926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09D02E-6299-5F1D-765D-1BE28DB83B0E}"/>
              </a:ext>
            </a:extLst>
          </p:cNvPr>
          <p:cNvSpPr txBox="1"/>
          <p:nvPr/>
        </p:nvSpPr>
        <p:spPr>
          <a:xfrm>
            <a:off x="710184" y="981780"/>
            <a:ext cx="5385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 year running average </a:t>
            </a:r>
          </a:p>
          <a:p>
            <a:pPr algn="ctr"/>
            <a:r>
              <a:rPr lang="en-US" sz="2400" b="1" dirty="0"/>
              <a:t>Tectonic plus ENSO Trends 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BE246A-BA40-0392-D66E-EF19D0DE108B}"/>
              </a:ext>
            </a:extLst>
          </p:cNvPr>
          <p:cNvSpPr txBox="1"/>
          <p:nvPr/>
        </p:nvSpPr>
        <p:spPr>
          <a:xfrm>
            <a:off x="6493487" y="995276"/>
            <a:ext cx="5385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 year running average </a:t>
            </a:r>
          </a:p>
          <a:p>
            <a:pPr algn="ctr"/>
            <a:r>
              <a:rPr lang="en-US" sz="2400" b="1" dirty="0"/>
              <a:t>Tectonic Trends ?</a:t>
            </a:r>
          </a:p>
        </p:txBody>
      </p:sp>
    </p:spTree>
    <p:extLst>
      <p:ext uri="{BB962C8B-B14F-4D97-AF65-F5344CB8AC3E}">
        <p14:creationId xmlns:p14="http://schemas.microsoft.com/office/powerpoint/2010/main" val="3269683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4AEA5-371A-4E0A-3297-58F26D814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593D5-495B-7C9A-DF16-CED73B5FA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A map of the island of the ocean&#10;&#10;Description automatically generated with medium confidence">
            <a:extLst>
              <a:ext uri="{FF2B5EF4-FFF2-40B4-BE49-F238E27FC236}">
                <a16:creationId xmlns:a16="http://schemas.microsoft.com/office/drawing/2014/main" id="{BF6F0B36-C1FD-331E-C1D4-2D98AC808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013" y="126365"/>
            <a:ext cx="9887009" cy="636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0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66FCF-C3D9-8587-CB61-F7FB63DA82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C50229-CDD6-5E42-D4A2-0E500365CA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/>
        </p:nvGraphicFramePr>
        <p:xfrm>
          <a:off x="-2983034" y="-1563911"/>
          <a:ext cx="18158069" cy="99858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32379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</Words>
  <Application>Microsoft Macintosh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Slides for Memo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 Lavier</dc:creator>
  <cp:lastModifiedBy>Luc Lavier</cp:lastModifiedBy>
  <cp:revision>1</cp:revision>
  <dcterms:created xsi:type="dcterms:W3CDTF">2025-04-26T19:44:06Z</dcterms:created>
  <dcterms:modified xsi:type="dcterms:W3CDTF">2025-04-26T19:46:24Z</dcterms:modified>
</cp:coreProperties>
</file>