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66" r:id="rId6"/>
    <p:sldId id="259" r:id="rId7"/>
    <p:sldId id="261" r:id="rId8"/>
    <p:sldId id="263" r:id="rId9"/>
    <p:sldId id="264" r:id="rId10"/>
    <p:sldId id="265" r:id="rId11"/>
    <p:sldId id="275" r:id="rId12"/>
    <p:sldId id="267" r:id="rId13"/>
    <p:sldId id="268" r:id="rId14"/>
    <p:sldId id="276" r:id="rId15"/>
    <p:sldId id="277" r:id="rId16"/>
    <p:sldId id="278" r:id="rId17"/>
    <p:sldId id="279" r:id="rId18"/>
    <p:sldId id="280" r:id="rId19"/>
    <p:sldId id="281" r:id="rId20"/>
    <p:sldId id="262" r:id="rId21"/>
    <p:sldId id="282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11"/>
    <p:restoredTop sz="94830"/>
  </p:normalViewPr>
  <p:slideViewPr>
    <p:cSldViewPr snapToGrid="0">
      <p:cViewPr varScale="1">
        <p:scale>
          <a:sx n="104" d="100"/>
          <a:sy n="104" d="100"/>
        </p:scale>
        <p:origin x="5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24D9B-42BB-9642-9BED-831335E6E740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64DD8-9888-E140-AD0B-5A7A744C637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50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64DD8-9888-E140-AD0B-5A7A744C63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53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A278-02DA-DC48-9345-02BE554E006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E751-AA4E-4A48-8E0A-8E41C336F2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4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A278-02DA-DC48-9345-02BE554E006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E751-AA4E-4A48-8E0A-8E41C336F2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08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A278-02DA-DC48-9345-02BE554E006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E751-AA4E-4A48-8E0A-8E41C336F2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29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A278-02DA-DC48-9345-02BE554E006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E751-AA4E-4A48-8E0A-8E41C336F2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69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A278-02DA-DC48-9345-02BE554E006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E751-AA4E-4A48-8E0A-8E41C336F2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7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A278-02DA-DC48-9345-02BE554E006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E751-AA4E-4A48-8E0A-8E41C336F2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A278-02DA-DC48-9345-02BE554E006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E751-AA4E-4A48-8E0A-8E41C336F2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2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A278-02DA-DC48-9345-02BE554E006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E751-AA4E-4A48-8E0A-8E41C336F2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4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A278-02DA-DC48-9345-02BE554E006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E751-AA4E-4A48-8E0A-8E41C336F2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42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A278-02DA-DC48-9345-02BE554E006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E751-AA4E-4A48-8E0A-8E41C336F2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2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A278-02DA-DC48-9345-02BE554E006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E751-AA4E-4A48-8E0A-8E41C336F2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41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1A278-02DA-DC48-9345-02BE554E0066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9E751-AA4E-4A48-8E0A-8E41C336F2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68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4" descr="Clear Sea Water">
            <a:extLst>
              <a:ext uri="{FF2B5EF4-FFF2-40B4-BE49-F238E27FC236}">
                <a16:creationId xmlns:a16="http://schemas.microsoft.com/office/drawing/2014/main" id="{05879A34-EC47-2303-7831-FF8AE740A55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F40107-FAF0-7AC4-1E53-69B1EAEAA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000" b="0" i="0" u="none" strike="noStrike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Tracking Sea-Level and Seismic Cycle Variability in the Solomon Islands Using Stable Isotopes in Shallow-Water Corals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50528-A28F-DE23-ECEC-C07A11225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Luc </a:t>
            </a:r>
            <a:r>
              <a:rPr lang="en-US" dirty="0" err="1">
                <a:solidFill>
                  <a:srgbClr val="FFFFFF"/>
                </a:solidFill>
              </a:rPr>
              <a:t>Lavier</a:t>
            </a:r>
            <a:r>
              <a:rPr lang="en-US" dirty="0">
                <a:solidFill>
                  <a:srgbClr val="FFFFFF"/>
                </a:solidFill>
              </a:rPr>
              <a:t>, Fred Taylor,, Lauren Kendall, Mehmet </a:t>
            </a:r>
            <a:r>
              <a:rPr lang="en-US" dirty="0" err="1">
                <a:solidFill>
                  <a:srgbClr val="FFFFFF"/>
                </a:solidFill>
              </a:rPr>
              <a:t>Karaesmen</a:t>
            </a:r>
            <a:r>
              <a:rPr lang="en-US" dirty="0">
                <a:solidFill>
                  <a:srgbClr val="FFFFFF"/>
                </a:solidFill>
              </a:rPr>
              <a:t>, Ann Chen, Laura Wallace. </a:t>
            </a:r>
          </a:p>
        </p:txBody>
      </p:sp>
    </p:spTree>
    <p:extLst>
      <p:ext uri="{BB962C8B-B14F-4D97-AF65-F5344CB8AC3E}">
        <p14:creationId xmlns:p14="http://schemas.microsoft.com/office/powerpoint/2010/main" val="278343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8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66228-F056-9CF4-1563-8E19EF16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of coral </a:t>
            </a:r>
            <a:r>
              <a:rPr lang="en-US" dirty="0" err="1"/>
              <a:t>paleogeodesy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55901-7994-2F60-134E-AD765BAE1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Reconstruct vertical tectonics over 100s to 1000s years using coral </a:t>
            </a:r>
            <a:r>
              <a:rPr lang="en-US" dirty="0" err="1"/>
              <a:t>paleogeodesy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Have a record of tectonic motion over multiple seismic cycles.</a:t>
            </a:r>
          </a:p>
          <a:p>
            <a:endParaRPr lang="en-US" dirty="0"/>
          </a:p>
          <a:p>
            <a:r>
              <a:rPr lang="en-US" dirty="0"/>
              <a:t>Infer viscoelastic properties over multiple seismic cycles.</a:t>
            </a:r>
          </a:p>
          <a:p>
            <a:endParaRPr lang="en-US" dirty="0"/>
          </a:p>
          <a:p>
            <a:r>
              <a:rPr lang="en-US" dirty="0"/>
              <a:t>Maybe have a longer record of larger slow slip events.</a:t>
            </a:r>
          </a:p>
          <a:p>
            <a:endParaRPr lang="en-US" dirty="0"/>
          </a:p>
          <a:p>
            <a:r>
              <a:rPr lang="en-US" dirty="0"/>
              <a:t>Precursory Slow Slip 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34CA28-8A22-BA4C-83AD-FDDB601F4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459" y="5153036"/>
            <a:ext cx="4191000" cy="17049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6F54D3-3AE7-E497-AB63-2A9E0E06B656}"/>
              </a:ext>
            </a:extLst>
          </p:cNvPr>
          <p:cNvSpPr txBox="1"/>
          <p:nvPr/>
        </p:nvSpPr>
        <p:spPr>
          <a:xfrm>
            <a:off x="10144898" y="4506705"/>
            <a:ext cx="1853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Catania and </a:t>
            </a:r>
            <a:r>
              <a:rPr lang="en-US" dirty="0" err="1"/>
              <a:t>Segall</a:t>
            </a:r>
            <a:r>
              <a:rPr lang="en-US" dirty="0"/>
              <a:t>, (2021)</a:t>
            </a:r>
          </a:p>
        </p:txBody>
      </p:sp>
    </p:spTree>
    <p:extLst>
      <p:ext uri="{BB962C8B-B14F-4D97-AF65-F5344CB8AC3E}">
        <p14:creationId xmlns:p14="http://schemas.microsoft.com/office/powerpoint/2010/main" val="146221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5094-266B-8F4B-981C-41BCE7464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10"/>
            <a:ext cx="10515600" cy="1325563"/>
          </a:xfrm>
        </p:spPr>
        <p:txBody>
          <a:bodyPr/>
          <a:lstStyle/>
          <a:p>
            <a:r>
              <a:rPr lang="en-US" dirty="0"/>
              <a:t>Current state of coral </a:t>
            </a:r>
            <a:r>
              <a:rPr lang="en-US" dirty="0" err="1"/>
              <a:t>paleogeodesy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57BACF-A29A-B181-3F7A-BD506DD7C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027" y="1488388"/>
            <a:ext cx="3730961" cy="50934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6F3DBB-FB34-F40E-70DB-A248940BAA56}"/>
              </a:ext>
            </a:extLst>
          </p:cNvPr>
          <p:cNvSpPr txBox="1"/>
          <p:nvPr/>
        </p:nvSpPr>
        <p:spPr>
          <a:xfrm>
            <a:off x="1050324" y="1021403"/>
            <a:ext cx="4633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Sumatra, Philibosian and </a:t>
            </a:r>
            <a:r>
              <a:rPr lang="en-US" dirty="0" err="1"/>
              <a:t>Meltzner</a:t>
            </a:r>
            <a:r>
              <a:rPr lang="en-US" dirty="0"/>
              <a:t>, 2020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CF6043-0CD8-AC16-C95D-C5E33E825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88388"/>
            <a:ext cx="5787082" cy="2188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2D8519-1327-F291-0939-20E2662BB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108" y="3806599"/>
            <a:ext cx="6116597" cy="29508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D4BD55-34B9-2B85-4941-FDD20FCF5216}"/>
              </a:ext>
            </a:extLst>
          </p:cNvPr>
          <p:cNvSpPr txBox="1"/>
          <p:nvPr/>
        </p:nvSpPr>
        <p:spPr>
          <a:xfrm>
            <a:off x="6330778" y="1005572"/>
            <a:ext cx="4633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Papua New Guinea, </a:t>
            </a:r>
            <a:r>
              <a:rPr lang="en-US" dirty="0" err="1"/>
              <a:t>Biemiller</a:t>
            </a:r>
            <a:r>
              <a:rPr lang="en-US" dirty="0"/>
              <a:t> at al., 2020</a:t>
            </a:r>
          </a:p>
        </p:txBody>
      </p:sp>
    </p:spTree>
    <p:extLst>
      <p:ext uri="{BB962C8B-B14F-4D97-AF65-F5344CB8AC3E}">
        <p14:creationId xmlns:p14="http://schemas.microsoft.com/office/powerpoint/2010/main" val="2251696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C19C-3D6D-AF1D-12C9-FE6274406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Solomon Islands Example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4B612-50ED-6200-C96B-8AA33743B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455" y="1690687"/>
            <a:ext cx="858982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5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3203-FFA4-98E1-8B47-4C9C0583E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subduction zone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B7448-BC78-73B0-470F-50D5F583E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259" y="1932882"/>
            <a:ext cx="10030598" cy="408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62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BB55-63B0-5263-F5AA-7A4554B1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available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C8338-E3A8-05BC-DB6C-9CC608B73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693"/>
            <a:ext cx="6908800" cy="4178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DB6FD6-CE70-993E-53A2-00D7E6BC3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4635" y="540915"/>
            <a:ext cx="3018997" cy="54220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4F08AC-09B9-03D2-258F-C8FDFC963ECF}"/>
              </a:ext>
            </a:extLst>
          </p:cNvPr>
          <p:cNvSpPr txBox="1"/>
          <p:nvPr/>
        </p:nvSpPr>
        <p:spPr>
          <a:xfrm>
            <a:off x="9106930" y="6166022"/>
            <a:ext cx="2075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Miyagi et al. (2009)</a:t>
            </a:r>
          </a:p>
        </p:txBody>
      </p:sp>
    </p:spTree>
    <p:extLst>
      <p:ext uri="{BB962C8B-B14F-4D97-AF65-F5344CB8AC3E}">
        <p14:creationId xmlns:p14="http://schemas.microsoft.com/office/powerpoint/2010/main" val="3664945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B8A6-7AB2-D952-95B7-EB77EEA28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0168"/>
            <a:ext cx="10515600" cy="1325563"/>
          </a:xfrm>
        </p:spPr>
        <p:txBody>
          <a:bodyPr/>
          <a:lstStyle/>
          <a:p>
            <a:r>
              <a:rPr lang="en-US" dirty="0"/>
              <a:t>The Mw 8.1 2007 earthquake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112B9C7-2D2C-9980-A0C5-B6E039887E9A}"/>
              </a:ext>
            </a:extLst>
          </p:cNvPr>
          <p:cNvGrpSpPr/>
          <p:nvPr/>
        </p:nvGrpSpPr>
        <p:grpSpPr>
          <a:xfrm>
            <a:off x="465241" y="1770621"/>
            <a:ext cx="13151608" cy="3859000"/>
            <a:chOff x="531342" y="790118"/>
            <a:chExt cx="14564823" cy="456242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C8B6925-66EE-74D3-D810-58CC1644A9CD}"/>
                </a:ext>
              </a:extLst>
            </p:cNvPr>
            <p:cNvGrpSpPr/>
            <p:nvPr/>
          </p:nvGrpSpPr>
          <p:grpSpPr>
            <a:xfrm>
              <a:off x="531342" y="1323997"/>
              <a:ext cx="3472941" cy="3532208"/>
              <a:chOff x="361918" y="1007784"/>
              <a:chExt cx="5585255" cy="546496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93C674C-9488-C5DE-6663-622907945166}"/>
                  </a:ext>
                </a:extLst>
              </p:cNvPr>
              <p:cNvSpPr/>
              <p:nvPr/>
            </p:nvSpPr>
            <p:spPr>
              <a:xfrm>
                <a:off x="361918" y="1690688"/>
                <a:ext cx="5585254" cy="4782065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210EF3E-B52C-9754-7BF8-200B5C070D49}"/>
                  </a:ext>
                </a:extLst>
              </p:cNvPr>
              <p:cNvGrpSpPr/>
              <p:nvPr/>
            </p:nvGrpSpPr>
            <p:grpSpPr>
              <a:xfrm>
                <a:off x="361919" y="1007784"/>
                <a:ext cx="5585254" cy="5123516"/>
                <a:chOff x="26337379" y="3908208"/>
                <a:chExt cx="9069695" cy="7895540"/>
              </a:xfrm>
            </p:grpSpPr>
            <p:pic>
              <p:nvPicPr>
                <p:cNvPr id="6" name="Picture 5" descr="A colorful map of the world&#10;&#10;Description automatically generated">
                  <a:extLst>
                    <a:ext uri="{FF2B5EF4-FFF2-40B4-BE49-F238E27FC236}">
                      <a16:creationId xmlns:a16="http://schemas.microsoft.com/office/drawing/2014/main" id="{F2488020-84FC-7A94-A2E1-06F22B0579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16200000" flipH="1">
                  <a:off x="26372140" y="3873447"/>
                  <a:ext cx="7369351" cy="7438873"/>
                </a:xfrm>
                <a:prstGeom prst="rect">
                  <a:avLst/>
                </a:prstGeom>
              </p:spPr>
            </p:pic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5B54C64-C982-D6DE-024F-94B4EB1035FB}"/>
                    </a:ext>
                  </a:extLst>
                </p:cNvPr>
                <p:cNvSpPr txBox="1"/>
                <p:nvPr/>
              </p:nvSpPr>
              <p:spPr>
                <a:xfrm>
                  <a:off x="29006276" y="4988594"/>
                  <a:ext cx="6400798" cy="8072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bg1"/>
                      </a:solidFill>
                    </a:rPr>
                    <a:t>InSAR Co-Seismic Map</a:t>
                  </a:r>
                </a:p>
              </p:txBody>
            </p:sp>
            <p:pic>
              <p:nvPicPr>
                <p:cNvPr id="8" name="Picture 7" descr="A colorful rectangular object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BB608F45-9B8F-96D4-D42B-88151597F5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6667" b="93889" l="9804" r="89216">
                              <a14:foregroundMark x1="29412" y1="6667" x2="29412" y2="8611"/>
                              <a14:foregroundMark x1="35294" y1="93889" x2="35294" y2="91389"/>
                              <a14:backgroundMark x1="68627" y1="52222" x2="55882" y2="52222"/>
                              <a14:backgroundMark x1="60784" y1="48056" x2="54902" y2="48056"/>
                              <a14:backgroundMark x1="55882" y1="38056" x2="61765" y2="60556"/>
                              <a14:backgroundMark x1="61765" y1="60556" x2="56863" y2="64444"/>
                              <a14:backgroundMark x1="55882" y1="37778" x2="54902" y2="40278"/>
                              <a14:backgroundMark x1="54902" y1="43056" x2="54902" y2="38889"/>
                              <a14:backgroundMark x1="54902" y1="80000" x2="51961" y2="50278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26469700" y="9836896"/>
                  <a:ext cx="557275" cy="1966852"/>
                </a:xfrm>
                <a:prstGeom prst="rect">
                  <a:avLst/>
                </a:prstGeom>
              </p:spPr>
            </p:pic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9DD9E9F-06D5-1ECA-3A64-74A26AF7A31D}"/>
                    </a:ext>
                  </a:extLst>
                </p:cNvPr>
                <p:cNvSpPr txBox="1"/>
                <p:nvPr/>
              </p:nvSpPr>
              <p:spPr>
                <a:xfrm>
                  <a:off x="26939622" y="9745482"/>
                  <a:ext cx="1690873" cy="20547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>
                      <a:solidFill>
                        <a:schemeClr val="bg1"/>
                      </a:solidFill>
                    </a:rPr>
                    <a:t>Each color cycle is 40 radians</a:t>
                  </a:r>
                </a:p>
              </p:txBody>
            </p:sp>
          </p:grp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A8AEDD4-5334-3B49-E891-D1D061906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4951272" y="-156871"/>
              <a:ext cx="4562423" cy="645640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BAB0DD-E3B1-0805-640F-C61A25FAA0D0}"/>
                </a:ext>
              </a:extLst>
            </p:cNvPr>
            <p:cNvSpPr txBox="1"/>
            <p:nvPr/>
          </p:nvSpPr>
          <p:spPr>
            <a:xfrm>
              <a:off x="4811616" y="1331588"/>
              <a:ext cx="3476561" cy="436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Vertical motion from corals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FF483D6-C0C4-D8CB-6349-E4EF897B2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9586749" y="-156872"/>
              <a:ext cx="4562425" cy="645640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18CA5D-7D71-1F10-8372-B82C78B9E68E}"/>
                </a:ext>
              </a:extLst>
            </p:cNvPr>
            <p:cNvSpPr txBox="1"/>
            <p:nvPr/>
          </p:nvSpPr>
          <p:spPr>
            <a:xfrm>
              <a:off x="9573817" y="1323997"/>
              <a:ext cx="3349835" cy="436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Horizontal motion from GPS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66AE6CA-DEA0-9D80-5A9B-5EB32E0895B8}"/>
              </a:ext>
            </a:extLst>
          </p:cNvPr>
          <p:cNvSpPr txBox="1"/>
          <p:nvPr/>
        </p:nvSpPr>
        <p:spPr>
          <a:xfrm>
            <a:off x="3800819" y="5629621"/>
            <a:ext cx="256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Lauren Kendall at UT</a:t>
            </a:r>
          </a:p>
        </p:txBody>
      </p:sp>
    </p:spTree>
    <p:extLst>
      <p:ext uri="{BB962C8B-B14F-4D97-AF65-F5344CB8AC3E}">
        <p14:creationId xmlns:p14="http://schemas.microsoft.com/office/powerpoint/2010/main" val="1356037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85C0-51E9-C3BF-C773-8741A02D5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paleorecord?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A4745-43B9-04CA-68B7-663101606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591198-7987-A969-70FB-3F958A61CE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961" b="5799"/>
          <a:stretch/>
        </p:blipFill>
        <p:spPr>
          <a:xfrm>
            <a:off x="507416" y="1825625"/>
            <a:ext cx="4709632" cy="42149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EF75B0-FB4B-0F5C-44A8-A18ABBF456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671" t="31758" r="27866" b="426"/>
          <a:stretch/>
        </p:blipFill>
        <p:spPr>
          <a:xfrm>
            <a:off x="5951754" y="2037444"/>
            <a:ext cx="5132258" cy="41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2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C9F25-751D-AE99-0314-4F519D86B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393" y="-325820"/>
            <a:ext cx="11792607" cy="1325563"/>
          </a:xfrm>
        </p:spPr>
        <p:txBody>
          <a:bodyPr/>
          <a:lstStyle/>
          <a:p>
            <a:r>
              <a:rPr lang="en-US" dirty="0"/>
              <a:t>Record of sea level change and vertical tectonics?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33FE1-2465-FD29-9D29-ED62467420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07"/>
          <a:stretch/>
        </p:blipFill>
        <p:spPr>
          <a:xfrm>
            <a:off x="1038606" y="612484"/>
            <a:ext cx="5150069" cy="62455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AD0B21-B2CB-6AB8-138F-3C6E27E6235D}"/>
              </a:ext>
            </a:extLst>
          </p:cNvPr>
          <p:cNvSpPr txBox="1"/>
          <p:nvPr/>
        </p:nvSpPr>
        <p:spPr>
          <a:xfrm>
            <a:off x="6188675" y="1532238"/>
            <a:ext cx="53525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surface morphology results from times of growth associated with subsidence and dead surfaces associated with emergence (during an earthquake or  El Niño events).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we can remove the long-term absolute sea level change including the Southern oscillation we can access the tectonic vertical 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coral surface shows”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Mw 8.1 event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subsidence pre-earthquakes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Some El-Nino events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Two slow tectonic uplifts lasting multiple years after a period of subsidence.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6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018C-39E0-462C-B938-A673D56F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627" y="0"/>
            <a:ext cx="12986951" cy="1325563"/>
          </a:xfrm>
        </p:spPr>
        <p:txBody>
          <a:bodyPr>
            <a:normAutofit/>
          </a:bodyPr>
          <a:lstStyle/>
          <a:p>
            <a:r>
              <a:rPr lang="en-US" sz="3600" dirty="0"/>
              <a:t>What happened? Forward modeling of coral morphology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F0264-9ACC-789C-AEC6-9BF6BEF93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27" y="914893"/>
            <a:ext cx="7341973" cy="5943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110084-660A-AD85-A7D0-DCBC9003D72A}"/>
              </a:ext>
            </a:extLst>
          </p:cNvPr>
          <p:cNvSpPr txBox="1"/>
          <p:nvPr/>
        </p:nvSpPr>
        <p:spPr>
          <a:xfrm>
            <a:off x="8686800" y="1325562"/>
            <a:ext cx="32127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surface does not account for changes in relative </a:t>
            </a:r>
            <a:r>
              <a:rPr lang="en-US" dirty="0" err="1"/>
              <a:t>sealevel</a:t>
            </a:r>
            <a:r>
              <a:rPr lang="en-US" dirty="0"/>
              <a:t> that happen above the coral surface.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to infer the relative sea level with more frequency.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05CAA-8A2C-882C-989F-B363BE20A7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107" t="34907" b="2348"/>
          <a:stretch/>
        </p:blipFill>
        <p:spPr>
          <a:xfrm flipH="1">
            <a:off x="7848600" y="3638343"/>
            <a:ext cx="450642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88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CCE0-9BD9-90F4-AF2B-0F543FB4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ENSO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A7311-FB05-4923-8E28-267E12A15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C2EE7-0BEF-95A4-F9B6-03C51B236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82" y="1690687"/>
            <a:ext cx="10148394" cy="466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84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3513EEC-ECAE-1E8E-1AE9-D59CF1FF79A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17990"/>
                <a:ext cx="10515600" cy="1325563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Is there a relationship between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13C and water depth below top of corals? (</a:t>
                </a:r>
                <a:r>
                  <a:rPr lang="en-US" dirty="0" err="1"/>
                  <a:t>Gagan</a:t>
                </a:r>
                <a:r>
                  <a:rPr lang="en-US" dirty="0"/>
                  <a:t>, Taylor, 1990s)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3513EEC-ECAE-1E8E-1AE9-D59CF1FF79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17990"/>
                <a:ext cx="10515600" cy="1325563"/>
              </a:xfrm>
              <a:blipFill>
                <a:blip r:embed="rId2"/>
                <a:stretch>
                  <a:fillRect l="-2171" t="-8571" b="-1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28FCBE9-F736-DD8D-F3EB-D9F32D029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303" y="1443553"/>
            <a:ext cx="7391400" cy="534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63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B252-E0C3-BA81-6E90-2D15C80FF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62" y="229201"/>
            <a:ext cx="11689492" cy="1325563"/>
          </a:xfrm>
        </p:spPr>
        <p:txBody>
          <a:bodyPr/>
          <a:lstStyle/>
          <a:p>
            <a:r>
              <a:rPr lang="en-US" dirty="0"/>
              <a:t>There is actually – too good to be true relationship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FEB5E-0C9D-454D-2606-4D5C264D8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4842"/>
            <a:ext cx="9973962" cy="452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89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E43D7-0D1F-65DC-0C91-6BC694C7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Confirmed with additional data (Blue light/ euphotic zone)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364732-3588-98FF-480A-A499847FF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183" y="1253331"/>
            <a:ext cx="6000433" cy="5239544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63149D1-CC4E-465A-A08B-87E0BD9E9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616" y="1598005"/>
            <a:ext cx="1985091" cy="223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91D6BE-7D83-7AB0-037F-C72FC75D3F3D}"/>
              </a:ext>
            </a:extLst>
          </p:cNvPr>
          <p:cNvSpPr txBox="1"/>
          <p:nvPr/>
        </p:nvSpPr>
        <p:spPr>
          <a:xfrm>
            <a:off x="6453051" y="4468288"/>
            <a:ext cx="53427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HYPOTHESIS</a:t>
            </a:r>
          </a:p>
          <a:p>
            <a:r>
              <a:rPr lang="en-US" dirty="0"/>
              <a:t>-Plankton rejects heavier carbon </a:t>
            </a:r>
            <a:r>
              <a:rPr lang="en-US" baseline="30000" dirty="0"/>
              <a:t>13</a:t>
            </a:r>
            <a:r>
              <a:rPr lang="en-US" dirty="0"/>
              <a:t>C when sunlight is less intense (up to 80 m depth for blue light).</a:t>
            </a:r>
          </a:p>
          <a:p>
            <a:r>
              <a:rPr lang="en-US" dirty="0"/>
              <a:t>- The excess </a:t>
            </a:r>
            <a:r>
              <a:rPr lang="en-US" baseline="30000" dirty="0"/>
              <a:t>13</a:t>
            </a:r>
            <a:r>
              <a:rPr lang="en-US" dirty="0"/>
              <a:t>C is the used by the coral to build its skeleton. </a:t>
            </a:r>
          </a:p>
          <a:p>
            <a:r>
              <a:rPr lang="en-US" dirty="0"/>
              <a:t>- The relationship looks linear in shallow water but must be exponential and saturate at some depth.</a:t>
            </a:r>
          </a:p>
        </p:txBody>
      </p:sp>
      <p:pic>
        <p:nvPicPr>
          <p:cNvPr id="1032" name="Picture 8" descr="Jmse 04 00080 g009">
            <a:extLst>
              <a:ext uri="{FF2B5EF4-FFF2-40B4-BE49-F238E27FC236}">
                <a16:creationId xmlns:a16="http://schemas.microsoft.com/office/drawing/2014/main" id="{A81E77C4-73F0-AA12-57C0-6BEFEEFAA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865" y="1081508"/>
            <a:ext cx="2915658" cy="27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5DCA7E-F478-6F05-4280-D4F4679CF904}"/>
              </a:ext>
            </a:extLst>
          </p:cNvPr>
          <p:cNvSpPr txBox="1"/>
          <p:nvPr/>
        </p:nvSpPr>
        <p:spPr>
          <a:xfrm>
            <a:off x="9063922" y="3839887"/>
            <a:ext cx="27318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0" dirty="0" err="1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Abdelrhman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, Mohamed A. 2016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597174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A5BA9-6AA6-6FCE-9D1C-1D3C9EC5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88" y="1448041"/>
            <a:ext cx="2849664" cy="184106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Raw 𝝳C13 and Tide Gauge Data </a:t>
            </a:r>
          </a:p>
        </p:txBody>
      </p:sp>
      <p:pic>
        <p:nvPicPr>
          <p:cNvPr id="5" name="Picture 4" descr="A graph of data and a graph of data&#10;&#10;AI-generated content may be incorrect.">
            <a:extLst>
              <a:ext uri="{FF2B5EF4-FFF2-40B4-BE49-F238E27FC236}">
                <a16:creationId xmlns:a16="http://schemas.microsoft.com/office/drawing/2014/main" id="{C8E09C66-521B-73F1-9412-FDF631C6F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174" y="45872"/>
            <a:ext cx="9082837" cy="68121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625BA4-5BCA-CEC6-020E-45F3D9A57E9B}"/>
              </a:ext>
            </a:extLst>
          </p:cNvPr>
          <p:cNvSpPr txBox="1"/>
          <p:nvPr/>
        </p:nvSpPr>
        <p:spPr>
          <a:xfrm>
            <a:off x="5133703" y="5212080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Honiara 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70C3A-B528-8D33-DBE4-87E8D5AB43B6}"/>
              </a:ext>
            </a:extLst>
          </p:cNvPr>
          <p:cNvSpPr txBox="1"/>
          <p:nvPr/>
        </p:nvSpPr>
        <p:spPr>
          <a:xfrm>
            <a:off x="378823" y="5571921"/>
            <a:ext cx="232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Lauren Kendall, UT</a:t>
            </a:r>
          </a:p>
        </p:txBody>
      </p:sp>
    </p:spTree>
    <p:extLst>
      <p:ext uri="{BB962C8B-B14F-4D97-AF65-F5344CB8AC3E}">
        <p14:creationId xmlns:p14="http://schemas.microsoft.com/office/powerpoint/2010/main" val="1412191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2A680-8B38-0B1F-7A30-F565C47AC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84" y="1128408"/>
            <a:ext cx="3186317" cy="46011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Down-sampled Tide Gauge Data to Match Sampling Rate of 𝝳C13 Data</a:t>
            </a:r>
          </a:p>
        </p:txBody>
      </p:sp>
      <p:pic>
        <p:nvPicPr>
          <p:cNvPr id="5" name="Content Placeholder 4" descr="A graph showing the tide to match coral&#10;&#10;AI-generated content may be incorrect.">
            <a:extLst>
              <a:ext uri="{FF2B5EF4-FFF2-40B4-BE49-F238E27FC236}">
                <a16:creationId xmlns:a16="http://schemas.microsoft.com/office/drawing/2014/main" id="{1C554D03-E06D-6BF2-E60E-D963200A0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6532" y="583329"/>
            <a:ext cx="8161360" cy="569133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C55380-5337-A9DA-7B2F-8E67599BA9E4}"/>
              </a:ext>
            </a:extLst>
          </p:cNvPr>
          <p:cNvSpPr txBox="1"/>
          <p:nvPr/>
        </p:nvSpPr>
        <p:spPr>
          <a:xfrm>
            <a:off x="378823" y="5571921"/>
            <a:ext cx="232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Lauren Kendall, UT</a:t>
            </a:r>
          </a:p>
        </p:txBody>
      </p:sp>
    </p:spTree>
    <p:extLst>
      <p:ext uri="{BB962C8B-B14F-4D97-AF65-F5344CB8AC3E}">
        <p14:creationId xmlns:p14="http://schemas.microsoft.com/office/powerpoint/2010/main" val="113356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F138-5818-8981-B895-CAE424E9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65" y="-235907"/>
            <a:ext cx="13061131" cy="1241748"/>
          </a:xfrm>
        </p:spPr>
        <p:txBody>
          <a:bodyPr>
            <a:normAutofit/>
          </a:bodyPr>
          <a:lstStyle/>
          <a:p>
            <a:r>
              <a:rPr lang="en-US" sz="4000" b="1" dirty="0"/>
              <a:t>Interpolated both Data Sets to Common Monthly Grid</a:t>
            </a:r>
          </a:p>
        </p:txBody>
      </p:sp>
      <p:pic>
        <p:nvPicPr>
          <p:cNvPr id="5" name="Content Placeholder 4" descr="A graph of sea level data&#10;&#10;AI-generated content may be incorrect.">
            <a:extLst>
              <a:ext uri="{FF2B5EF4-FFF2-40B4-BE49-F238E27FC236}">
                <a16:creationId xmlns:a16="http://schemas.microsoft.com/office/drawing/2014/main" id="{4CB6852A-E802-ABB7-E0BA-EEC466BE7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4760" y="601587"/>
            <a:ext cx="7471754" cy="636566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231A81-7B25-4A37-C55B-99DAFBBD868B}"/>
              </a:ext>
            </a:extLst>
          </p:cNvPr>
          <p:cNvSpPr txBox="1"/>
          <p:nvPr/>
        </p:nvSpPr>
        <p:spPr>
          <a:xfrm>
            <a:off x="522514" y="5023281"/>
            <a:ext cx="232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Lauren Kendall, UT</a:t>
            </a:r>
          </a:p>
        </p:txBody>
      </p:sp>
    </p:spTree>
    <p:extLst>
      <p:ext uri="{BB962C8B-B14F-4D97-AF65-F5344CB8AC3E}">
        <p14:creationId xmlns:p14="http://schemas.microsoft.com/office/powerpoint/2010/main" val="3107833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0EC78-F952-ADA2-8C06-8F4463D9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Removed Annual Signal with a Moving Average Box of 12 Samples (Excluding Jump)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76F7C1-80D0-EFF6-C2CA-346258D4A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622" y="1690688"/>
            <a:ext cx="7110756" cy="535944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A9B1CE-D378-932A-E433-C53E9369688C}"/>
              </a:ext>
            </a:extLst>
          </p:cNvPr>
          <p:cNvSpPr txBox="1"/>
          <p:nvPr/>
        </p:nvSpPr>
        <p:spPr>
          <a:xfrm>
            <a:off x="378823" y="5571921"/>
            <a:ext cx="232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Lauren Kendall, UT</a:t>
            </a:r>
          </a:p>
        </p:txBody>
      </p:sp>
    </p:spTree>
    <p:extLst>
      <p:ext uri="{BB962C8B-B14F-4D97-AF65-F5344CB8AC3E}">
        <p14:creationId xmlns:p14="http://schemas.microsoft.com/office/powerpoint/2010/main" val="2722267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E408-A39E-AF09-B074-ED56B595E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929" y="-327206"/>
            <a:ext cx="10515600" cy="1325563"/>
          </a:xfrm>
        </p:spPr>
        <p:txBody>
          <a:bodyPr/>
          <a:lstStyle/>
          <a:p>
            <a:r>
              <a:rPr lang="en-US" b="1" dirty="0"/>
              <a:t>Isolate Tectonic Motion</a:t>
            </a:r>
          </a:p>
        </p:txBody>
      </p:sp>
      <p:pic>
        <p:nvPicPr>
          <p:cNvPr id="5" name="Content Placeholder 4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BDE58EC8-89A6-1027-A900-68DCC999E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4138" y="738936"/>
            <a:ext cx="7903724" cy="592779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DBA6FF-7469-758E-ABFD-5303CE077D54}"/>
              </a:ext>
            </a:extLst>
          </p:cNvPr>
          <p:cNvSpPr txBox="1"/>
          <p:nvPr/>
        </p:nvSpPr>
        <p:spPr>
          <a:xfrm>
            <a:off x="248195" y="5480481"/>
            <a:ext cx="232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Lauren Kendall, UT</a:t>
            </a:r>
          </a:p>
        </p:txBody>
      </p:sp>
    </p:spTree>
    <p:extLst>
      <p:ext uri="{BB962C8B-B14F-4D97-AF65-F5344CB8AC3E}">
        <p14:creationId xmlns:p14="http://schemas.microsoft.com/office/powerpoint/2010/main" val="2797488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73309-A3B0-D0FE-1430-E561AB3C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7389"/>
            <a:ext cx="11353800" cy="1325563"/>
          </a:xfrm>
        </p:spPr>
        <p:txBody>
          <a:bodyPr/>
          <a:lstStyle/>
          <a:p>
            <a:r>
              <a:rPr lang="en-US" b="1" dirty="0"/>
              <a:t>Smoothed Tectonic Motion</a:t>
            </a:r>
          </a:p>
        </p:txBody>
      </p:sp>
      <p:pic>
        <p:nvPicPr>
          <p:cNvPr id="5" name="Content Placeholder 4" descr="A graph of a graph showing a number of tectonic&#10;&#10;AI-generated content may be incorrect.">
            <a:extLst>
              <a:ext uri="{FF2B5EF4-FFF2-40B4-BE49-F238E27FC236}">
                <a16:creationId xmlns:a16="http://schemas.microsoft.com/office/drawing/2014/main" id="{361DB415-438B-7B95-B1A8-2E9298BAC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4316" y="712409"/>
            <a:ext cx="8017330" cy="625830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5EB79A-4EA2-86AF-4D86-51E5B34C3446}"/>
              </a:ext>
            </a:extLst>
          </p:cNvPr>
          <p:cNvSpPr txBox="1"/>
          <p:nvPr/>
        </p:nvSpPr>
        <p:spPr>
          <a:xfrm>
            <a:off x="198761" y="5506607"/>
            <a:ext cx="232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Lauren Kendall, UT</a:t>
            </a:r>
          </a:p>
        </p:txBody>
      </p:sp>
    </p:spTree>
    <p:extLst>
      <p:ext uri="{BB962C8B-B14F-4D97-AF65-F5344CB8AC3E}">
        <p14:creationId xmlns:p14="http://schemas.microsoft.com/office/powerpoint/2010/main" val="2490358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graph showing a number of tectonic&#10;&#10;AI-generated content may be incorrect.">
            <a:extLst>
              <a:ext uri="{FF2B5EF4-FFF2-40B4-BE49-F238E27FC236}">
                <a16:creationId xmlns:a16="http://schemas.microsoft.com/office/drawing/2014/main" id="{E3CFAF3C-38BC-6614-7A2C-E636CAB8F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2224" y="0"/>
            <a:ext cx="8017330" cy="5146766"/>
          </a:xfrm>
        </p:spPr>
      </p:pic>
      <p:pic>
        <p:nvPicPr>
          <p:cNvPr id="4" name="Picture 2" descr="Historical SST Anomalies Image">
            <a:extLst>
              <a:ext uri="{FF2B5EF4-FFF2-40B4-BE49-F238E27FC236}">
                <a16:creationId xmlns:a16="http://schemas.microsoft.com/office/drawing/2014/main" id="{674C275D-F4E0-4ED8-EDC6-2B8F48B20D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15" r="23649"/>
          <a:stretch/>
        </p:blipFill>
        <p:spPr bwMode="auto">
          <a:xfrm>
            <a:off x="5003073" y="3538212"/>
            <a:ext cx="3879670" cy="331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A08DFC-4A22-D307-FDFC-0434D882F7FB}"/>
              </a:ext>
            </a:extLst>
          </p:cNvPr>
          <p:cNvSpPr txBox="1"/>
          <p:nvPr/>
        </p:nvSpPr>
        <p:spPr>
          <a:xfrm>
            <a:off x="169816" y="2076994"/>
            <a:ext cx="33571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time series contains greater than yearly sea level change (El Nino for the Solomons) and Tectonics.</a:t>
            </a:r>
          </a:p>
        </p:txBody>
      </p:sp>
    </p:spTree>
    <p:extLst>
      <p:ext uri="{BB962C8B-B14F-4D97-AF65-F5344CB8AC3E}">
        <p14:creationId xmlns:p14="http://schemas.microsoft.com/office/powerpoint/2010/main" val="1425486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0B1B-095E-7192-F5C7-2BDA80F67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24" y="-243355"/>
            <a:ext cx="10515600" cy="1325563"/>
          </a:xfrm>
        </p:spPr>
        <p:txBody>
          <a:bodyPr/>
          <a:lstStyle/>
          <a:p>
            <a:r>
              <a:rPr lang="en-US" dirty="0"/>
              <a:t>How far back could we 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F805C-0631-2320-8298-B1D75B733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1283" y="3428999"/>
            <a:ext cx="5915213" cy="2747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How to remove absolute sea level change?</a:t>
            </a:r>
          </a:p>
          <a:p>
            <a:r>
              <a:rPr lang="en-US" dirty="0"/>
              <a:t>Tide gauge data for most recent corals.</a:t>
            </a:r>
          </a:p>
          <a:p>
            <a:r>
              <a:rPr lang="en-US" dirty="0"/>
              <a:t>Cross-correlation between the different coral to extract absolute seal level change.</a:t>
            </a:r>
          </a:p>
          <a:p>
            <a:r>
              <a:rPr lang="en-US" dirty="0"/>
              <a:t>Obtain a dC13 record in an area not much affected by  tectonics.</a:t>
            </a:r>
          </a:p>
          <a:p>
            <a:r>
              <a:rPr lang="en-US" dirty="0"/>
              <a:t>Use Machine Learning to fill gaps in the record.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093BB-7047-4FAF-25EF-9810BE3231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961"/>
          <a:stretch/>
        </p:blipFill>
        <p:spPr>
          <a:xfrm>
            <a:off x="507416" y="1825625"/>
            <a:ext cx="4709632" cy="44744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BCA13F-2652-B7C6-60A2-D6F51B276042}"/>
              </a:ext>
            </a:extLst>
          </p:cNvPr>
          <p:cNvSpPr txBox="1"/>
          <p:nvPr/>
        </p:nvSpPr>
        <p:spPr>
          <a:xfrm>
            <a:off x="532476" y="1089378"/>
            <a:ext cx="4550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500 years old coral near sea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71F91-7D17-8B27-7CB4-E869B6ADC519}"/>
              </a:ext>
            </a:extLst>
          </p:cNvPr>
          <p:cNvSpPr txBox="1"/>
          <p:nvPr/>
        </p:nvSpPr>
        <p:spPr>
          <a:xfrm>
            <a:off x="6119743" y="1082209"/>
            <a:ext cx="5046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Thousand years old coral on terraces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ADA69-CC82-F1B1-C52F-ED021922A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284" y="1511300"/>
            <a:ext cx="608330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62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554</Words>
  <Application>Microsoft Office PowerPoint</Application>
  <PresentationFormat>Breitbild</PresentationFormat>
  <Paragraphs>72</Paragraphs>
  <Slides>22</Slides>
  <Notes>1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Helvetica Neue</vt:lpstr>
      <vt:lpstr>Office Theme</vt:lpstr>
      <vt:lpstr>Tracking Sea-Level and Seismic Cycle Variability in the Solomon Islands Using Stable Isotopes in Shallow-Water Corals</vt:lpstr>
      <vt:lpstr>Potential of coral paleogeodesy</vt:lpstr>
      <vt:lpstr>Current state of coral paleogeodesy</vt:lpstr>
      <vt:lpstr>Solomon Islands Example </vt:lpstr>
      <vt:lpstr>The subduction zone</vt:lpstr>
      <vt:lpstr>The available data</vt:lpstr>
      <vt:lpstr>The Mw 8.1 2007 earthquake</vt:lpstr>
      <vt:lpstr>What about the paleorecord?</vt:lpstr>
      <vt:lpstr>Record of sea level change and vertical tectonics?</vt:lpstr>
      <vt:lpstr>What happened? Forward modeling of coral morphology</vt:lpstr>
      <vt:lpstr>ENSO Index</vt:lpstr>
      <vt:lpstr>Is there a relationship between δ13C and water depth below top of corals? (Gagan, Taylor, 1990s)</vt:lpstr>
      <vt:lpstr>There is actually – too good to be true relationship</vt:lpstr>
      <vt:lpstr>Confirmed with additional data (Blue light/ euphotic zone)</vt:lpstr>
      <vt:lpstr>Raw 𝝳C13 and Tide Gauge Data </vt:lpstr>
      <vt:lpstr>Down-sampled Tide Gauge Data to Match Sampling Rate of 𝝳C13 Data</vt:lpstr>
      <vt:lpstr>Interpolated both Data Sets to Common Monthly Grid</vt:lpstr>
      <vt:lpstr>Removed Annual Signal with a Moving Average Box of 12 Samples (Excluding Jump)</vt:lpstr>
      <vt:lpstr>Isolate Tectonic Motion</vt:lpstr>
      <vt:lpstr>Smoothed Tectonic Motion</vt:lpstr>
      <vt:lpstr>PowerPoint-Präsentation</vt:lpstr>
      <vt:lpstr>How far back could we go?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corals paleogeodesy, geodesy and models to reconstruct the vertical tectonic motion over multiple seismic cycles it the Solomon Islands</dc:title>
  <dc:creator>Lavier, Luc L</dc:creator>
  <cp:lastModifiedBy>Mehmet Karaesmen</cp:lastModifiedBy>
  <cp:revision>24</cp:revision>
  <dcterms:created xsi:type="dcterms:W3CDTF">2024-12-04T18:29:27Z</dcterms:created>
  <dcterms:modified xsi:type="dcterms:W3CDTF">2025-04-17T14:04:22Z</dcterms:modified>
</cp:coreProperties>
</file>