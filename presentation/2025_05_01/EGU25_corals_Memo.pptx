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66" r:id="rId2"/>
    <p:sldId id="257" r:id="rId3"/>
    <p:sldId id="285" r:id="rId4"/>
    <p:sldId id="286" r:id="rId5"/>
    <p:sldId id="259" r:id="rId6"/>
    <p:sldId id="287" r:id="rId7"/>
    <p:sldId id="267" r:id="rId8"/>
    <p:sldId id="277" r:id="rId9"/>
    <p:sldId id="284" r:id="rId10"/>
    <p:sldId id="264" r:id="rId11"/>
    <p:sldId id="288" r:id="rId12"/>
    <p:sldId id="276" r:id="rId13"/>
    <p:sldId id="289" r:id="rId14"/>
    <p:sldId id="265" r:id="rId15"/>
    <p:sldId id="291" r:id="rId16"/>
    <p:sldId id="292" r:id="rId17"/>
    <p:sldId id="29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hmet Karaesmen" initials="MK" lastIdx="1" clrIdx="0">
    <p:extLst>
      <p:ext uri="{19B8F6BF-5375-455C-9EA6-DF929625EA0E}">
        <p15:presenceInfo xmlns:p15="http://schemas.microsoft.com/office/powerpoint/2012/main" userId="S::mehmet.karaesmen@anemos.de::b2d7ad2a-5523-4e47-8844-8f6b6da35f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3741" autoAdjust="0"/>
  </p:normalViewPr>
  <p:slideViewPr>
    <p:cSldViewPr snapToGrid="0">
      <p:cViewPr>
        <p:scale>
          <a:sx n="66" d="100"/>
          <a:sy n="66" d="100"/>
        </p:scale>
        <p:origin x="57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11B687-6C3A-488C-8ABB-E39EACCF4EC9}" type="datetimeFigureOut">
              <a:rPr lang="de-DE" smtClean="0"/>
              <a:t>02.05.2025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CDCCA7-29A1-4D24-8D10-3CA8A5740AFF}" type="slidenum">
              <a:rPr lang="de-DE" smtClean="0"/>
              <a:t>‹Nr.›</a:t>
            </a:fld>
            <a:endParaRPr lang="de-DE"/>
          </a:p>
        </p:txBody>
      </p:sp>
    </p:spTree>
    <p:extLst>
      <p:ext uri="{BB962C8B-B14F-4D97-AF65-F5344CB8AC3E}">
        <p14:creationId xmlns:p14="http://schemas.microsoft.com/office/powerpoint/2010/main" val="274470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I'd like to present our preliminary results on δ¹³C analysis from corals collected in the Western Solomon Islands. You might wonder how this relates to natural hazards — we're attempting to reconstruct multiple past earthquake cycles using the coral record.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you know, the physics of earthquakes remains controversial and poorly constrained. Long-term observations, like those from a growing GNSS network on active faults, are essential for improving our understanding. These networks help track vertical motions, postseismic deformation, slow slip events, and potential precursors.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tectonic setting of the Solomon Islands is dominated by the rapid subduction of the Woodlark Basin. Thanks to over 30 years of fieldwork by Fred Taylor (UT Austin), we now have a valuable archive of coral samples from the region.</a:t>
            </a:r>
          </a:p>
          <a:p>
            <a:endParaRPr lang="tr-TR" dirty="0"/>
          </a:p>
          <a:p>
            <a:endParaRPr lang="tr-TR" dirty="0"/>
          </a:p>
        </p:txBody>
      </p:sp>
      <p:sp>
        <p:nvSpPr>
          <p:cNvPr id="4" name="Foliennummernplatzhalter 3"/>
          <p:cNvSpPr>
            <a:spLocks noGrp="1"/>
          </p:cNvSpPr>
          <p:nvPr>
            <p:ph type="sldNum" sz="quarter" idx="5"/>
          </p:nvPr>
        </p:nvSpPr>
        <p:spPr/>
        <p:txBody>
          <a:bodyPr/>
          <a:lstStyle/>
          <a:p>
            <a:fld id="{62CDCCA7-29A1-4D24-8D10-3CA8A5740AFF}" type="slidenum">
              <a:rPr lang="de-DE" smtClean="0"/>
              <a:t>5</a:t>
            </a:fld>
            <a:endParaRPr lang="de-DE"/>
          </a:p>
        </p:txBody>
      </p:sp>
    </p:spTree>
    <p:extLst>
      <p:ext uri="{BB962C8B-B14F-4D97-AF65-F5344CB8AC3E}">
        <p14:creationId xmlns:p14="http://schemas.microsoft.com/office/powerpoint/2010/main" val="3462357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results I'll show today come from Parara Island, south of the Kolombangara volcano. The corals are located near the southwestern edge of Parara (also called </a:t>
            </a:r>
            <a:r>
              <a:rPr lang="en-US" dirty="0" err="1"/>
              <a:t>Vonavona</a:t>
            </a:r>
            <a:r>
              <a:rPr lang="en-US" dirty="0"/>
              <a:t> Island), positioned directly above the Solomon Trench — an area affected by frequent and strong earthquakes.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significant earthquakes occurred on April 2, 2007, with a moment magnitude of 8.7. Fred Taylor visited the site shortly afterward and observed uplifted corals, which he sampled. The corals, mainly Porites, can exceed one meter in diameter — representing more than 100 years of growth.</a:t>
            </a:r>
          </a:p>
          <a:p>
            <a:endParaRPr lang="tr-TR" dirty="0"/>
          </a:p>
          <a:p>
            <a:endParaRPr lang="tr-T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X-ray image shows annual banding within the coral skeleton. We use these bands, much like tree rings, to determine the age. The dark bands indicate sampling paths perpendicular to the banding.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From the coral surface morphology alone, we observe signs of tectonic activity. The 2007 earthquake uplifted the coral by more than 80 cm, killing the uppermost parts and allowing new growth lower down. A gently sloping surface likely indicates slow tectonic uplift followed by sudden subsidence.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2CDCCA7-29A1-4D24-8D10-3CA8A5740AFF}" type="slidenum">
              <a:rPr lang="de-DE" smtClean="0"/>
              <a:t>11</a:t>
            </a:fld>
            <a:endParaRPr lang="de-DE"/>
          </a:p>
        </p:txBody>
      </p:sp>
    </p:spTree>
    <p:extLst>
      <p:ext uri="{BB962C8B-B14F-4D97-AF65-F5344CB8AC3E}">
        <p14:creationId xmlns:p14="http://schemas.microsoft.com/office/powerpoint/2010/main" val="14452328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Our first step was to assess the relationship between depth and δ¹³C values. As expected, we see a strong linear relationship due to decreasing light intensity with depth. While turbidity and cloud cover can also affect this signal, our broad temporal sampling helps average out these climatic effects.</a:t>
            </a:r>
          </a:p>
          <a:p>
            <a:endParaRPr lang="de-DE" dirty="0"/>
          </a:p>
        </p:txBody>
      </p:sp>
      <p:sp>
        <p:nvSpPr>
          <p:cNvPr id="4" name="Foliennummernplatzhalter 3"/>
          <p:cNvSpPr>
            <a:spLocks noGrp="1"/>
          </p:cNvSpPr>
          <p:nvPr>
            <p:ph type="sldNum" sz="quarter" idx="5"/>
          </p:nvPr>
        </p:nvSpPr>
        <p:spPr/>
        <p:txBody>
          <a:bodyPr/>
          <a:lstStyle/>
          <a:p>
            <a:fld id="{62CDCCA7-29A1-4D24-8D10-3CA8A5740AFF}" type="slidenum">
              <a:rPr lang="de-DE" smtClean="0"/>
              <a:t>12</a:t>
            </a:fld>
            <a:endParaRPr lang="de-DE"/>
          </a:p>
        </p:txBody>
      </p:sp>
    </p:spTree>
    <p:extLst>
      <p:ext uri="{BB962C8B-B14F-4D97-AF65-F5344CB8AC3E}">
        <p14:creationId xmlns:p14="http://schemas.microsoft.com/office/powerpoint/2010/main" val="527520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Now I will show our signal with increasing age, sampled horizontal along the coral.</a:t>
            </a:r>
            <a:endParaRPr lang="de-DE"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de-DE" dirty="0"/>
          </a:p>
        </p:txBody>
      </p:sp>
      <p:sp>
        <p:nvSpPr>
          <p:cNvPr id="4" name="Foliennummernplatzhalter 3"/>
          <p:cNvSpPr>
            <a:spLocks noGrp="1"/>
          </p:cNvSpPr>
          <p:nvPr>
            <p:ph type="sldNum" sz="quarter" idx="5"/>
          </p:nvPr>
        </p:nvSpPr>
        <p:spPr/>
        <p:txBody>
          <a:bodyPr/>
          <a:lstStyle/>
          <a:p>
            <a:fld id="{62CDCCA7-29A1-4D24-8D10-3CA8A5740AFF}" type="slidenum">
              <a:rPr lang="de-DE" smtClean="0"/>
              <a:t>13</a:t>
            </a:fld>
            <a:endParaRPr lang="de-DE"/>
          </a:p>
        </p:txBody>
      </p:sp>
    </p:spTree>
    <p:extLst>
      <p:ext uri="{BB962C8B-B14F-4D97-AF65-F5344CB8AC3E}">
        <p14:creationId xmlns:p14="http://schemas.microsoft.com/office/powerpoint/2010/main" val="3524700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plot shows δ¹³C values over time alongside ENSO events (El Niño Southern Oscillation index), which influence sea level at the centimeter scale. While we see some correlation, our primary focus is identifying major tectonic events like the 2007 earthquake.</a:t>
            </a:r>
          </a:p>
          <a:p>
            <a:endParaRPr lang="de-DE" dirty="0"/>
          </a:p>
        </p:txBody>
      </p:sp>
      <p:sp>
        <p:nvSpPr>
          <p:cNvPr id="4" name="Foliennummernplatzhalter 3"/>
          <p:cNvSpPr>
            <a:spLocks noGrp="1"/>
          </p:cNvSpPr>
          <p:nvPr>
            <p:ph type="sldNum" sz="quarter" idx="5"/>
          </p:nvPr>
        </p:nvSpPr>
        <p:spPr/>
        <p:txBody>
          <a:bodyPr/>
          <a:lstStyle/>
          <a:p>
            <a:fld id="{62CDCCA7-29A1-4D24-8D10-3CA8A5740AFF}" type="slidenum">
              <a:rPr lang="de-DE" smtClean="0"/>
              <a:t>14</a:t>
            </a:fld>
            <a:endParaRPr lang="de-DE"/>
          </a:p>
        </p:txBody>
      </p:sp>
    </p:spTree>
    <p:extLst>
      <p:ext uri="{BB962C8B-B14F-4D97-AF65-F5344CB8AC3E}">
        <p14:creationId xmlns:p14="http://schemas.microsoft.com/office/powerpoint/2010/main" val="1122148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the linear depth–δ¹³C relationship, we reconstructed relative sea level. The data indicate two main tectonic events, one in 2007 and a possible earlier event in 1961. However, data from 1961 are sparse, and we remain uncertain about the exact magnitude and location. Still, the δ¹³C signal reflects two major earthquakes and two slower tectonic deformation events, possibly related to locking or slow slip processes.</a:t>
            </a:r>
          </a:p>
          <a:p>
            <a:endParaRPr lang="de-DE" dirty="0"/>
          </a:p>
        </p:txBody>
      </p:sp>
      <p:sp>
        <p:nvSpPr>
          <p:cNvPr id="4" name="Foliennummernplatzhalter 3"/>
          <p:cNvSpPr>
            <a:spLocks noGrp="1"/>
          </p:cNvSpPr>
          <p:nvPr>
            <p:ph type="sldNum" sz="quarter" idx="5"/>
          </p:nvPr>
        </p:nvSpPr>
        <p:spPr/>
        <p:txBody>
          <a:bodyPr/>
          <a:lstStyle/>
          <a:p>
            <a:fld id="{62CDCCA7-29A1-4D24-8D10-3CA8A5740AFF}" type="slidenum">
              <a:rPr lang="de-DE" smtClean="0"/>
              <a:t>16</a:t>
            </a:fld>
            <a:endParaRPr lang="de-DE"/>
          </a:p>
        </p:txBody>
      </p:sp>
    </p:spTree>
    <p:extLst>
      <p:ext uri="{BB962C8B-B14F-4D97-AF65-F5344CB8AC3E}">
        <p14:creationId xmlns:p14="http://schemas.microsoft.com/office/powerpoint/2010/main" val="3171951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7CDF-76DC-F121-338A-D6C7DAADF3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BC9068-F7E6-582D-7BA4-2DCD698D8C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FDCE9C-B3B1-FEDE-53CD-C3417B6E2B78}"/>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5" name="Footer Placeholder 4">
            <a:extLst>
              <a:ext uri="{FF2B5EF4-FFF2-40B4-BE49-F238E27FC236}">
                <a16:creationId xmlns:a16="http://schemas.microsoft.com/office/drawing/2014/main" id="{CA547472-65C6-6A0B-B4C4-6C75E2E952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E0EE36-F6F1-AC9F-D9DD-4185106A6F1E}"/>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1007725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C7662-1EE8-F11A-82AB-168B823076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964482-D8F1-99A4-1E8B-C70FB1F2E2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4F29A0-1806-FD1B-D6B5-F7677503405B}"/>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5" name="Footer Placeholder 4">
            <a:extLst>
              <a:ext uri="{FF2B5EF4-FFF2-40B4-BE49-F238E27FC236}">
                <a16:creationId xmlns:a16="http://schemas.microsoft.com/office/drawing/2014/main" id="{E2868061-AECA-5D2C-B4C6-35EBCF4DC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6E3E02-4831-49A4-337A-5C0C7EE752D2}"/>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2385393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CE51-ACEB-04AA-2659-FBA492B4F6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81AA4D-443B-8AA5-D168-05EB34A8EF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E231FC-0B1E-7305-0A8B-802D44A6D533}"/>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5" name="Footer Placeholder 4">
            <a:extLst>
              <a:ext uri="{FF2B5EF4-FFF2-40B4-BE49-F238E27FC236}">
                <a16:creationId xmlns:a16="http://schemas.microsoft.com/office/drawing/2014/main" id="{813C8CA5-24D3-9F74-EC7F-089905B3B3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C54AF1-019F-A7E9-4077-A0DA6C0DADBA}"/>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18906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1D52F-1EBC-DEC5-D8CD-08559495D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6653F-084A-CF6A-F636-A3620573E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7FCC00-1972-0195-5FC3-D0B0CA80DE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3EE562-6821-5A63-6072-F8B61460577B}"/>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6" name="Footer Placeholder 5">
            <a:extLst>
              <a:ext uri="{FF2B5EF4-FFF2-40B4-BE49-F238E27FC236}">
                <a16:creationId xmlns:a16="http://schemas.microsoft.com/office/drawing/2014/main" id="{DA4CC0F5-60F7-4BBC-D11E-26A998FF0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D4BA84-6D6D-46C8-0012-EF80398B25F6}"/>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48110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CAA5E-0F11-B7B5-6BE2-4AD9736DC4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EDB6CB-B224-63B6-5FFA-E7C4A1687E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3DA00C-B764-E3FA-8E14-25A2AA8D45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268274-C076-8AF2-EAA4-968BC4EB1F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11BFC3-47D9-81FB-19A7-983B11B169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D3A085-08B1-59D2-4B12-B205C7177DA9}"/>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8" name="Footer Placeholder 7">
            <a:extLst>
              <a:ext uri="{FF2B5EF4-FFF2-40B4-BE49-F238E27FC236}">
                <a16:creationId xmlns:a16="http://schemas.microsoft.com/office/drawing/2014/main" id="{26133E42-3275-E2AA-F690-14DE19E97BF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1EBEAE-C311-10D9-8316-0EA573036F2A}"/>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1576942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B221-F268-9276-93A7-CD3D6825CD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ED450E-B658-B4E1-2117-765D21AFC403}"/>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4" name="Footer Placeholder 3">
            <a:extLst>
              <a:ext uri="{FF2B5EF4-FFF2-40B4-BE49-F238E27FC236}">
                <a16:creationId xmlns:a16="http://schemas.microsoft.com/office/drawing/2014/main" id="{DAF9CCB2-4095-B522-8E95-1529BEDF31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F163C9-767F-697D-336A-CD2F62EC273D}"/>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2745161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462146-9536-07DC-83BC-F096BF7A849F}"/>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3" name="Footer Placeholder 2">
            <a:extLst>
              <a:ext uri="{FF2B5EF4-FFF2-40B4-BE49-F238E27FC236}">
                <a16:creationId xmlns:a16="http://schemas.microsoft.com/office/drawing/2014/main" id="{A3330E90-981F-A8C2-FA08-E914F2E3A7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7E64D4-D803-C7B5-62F6-349E4CC7B619}"/>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3122362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EFDB4-99DA-64F3-D203-0746CC5F41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CA035A-0F28-1294-6131-DDF715F569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9956AC-B313-46FC-8C32-8ED850FEC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A43E3-357C-BB82-1872-27DF90F52048}"/>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6" name="Footer Placeholder 5">
            <a:extLst>
              <a:ext uri="{FF2B5EF4-FFF2-40B4-BE49-F238E27FC236}">
                <a16:creationId xmlns:a16="http://schemas.microsoft.com/office/drawing/2014/main" id="{22BED5B9-A268-84F9-EA32-06849C91B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3A4407-8023-AC2B-B004-44E00874EA47}"/>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1768617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63E1C-1F46-6A06-97A5-8D56E4B13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166359-AE82-1AF2-503E-06E89AE95A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EB52A8-DBC4-3EF3-C5E7-40C06D696E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DCFDD-7621-DCE6-907B-A36A0DC50779}"/>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6" name="Footer Placeholder 5">
            <a:extLst>
              <a:ext uri="{FF2B5EF4-FFF2-40B4-BE49-F238E27FC236}">
                <a16:creationId xmlns:a16="http://schemas.microsoft.com/office/drawing/2014/main" id="{C90AAF10-69B0-C26D-5B1E-D5EF1AE280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EE5C00-396E-6E6C-CD0B-0C595E232E86}"/>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542048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485E1-41C2-F93D-AF14-F283E1F26F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C26715-DB3C-7540-4F31-9717260356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D9611-D532-5C2D-0F27-9FC662462780}"/>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5" name="Footer Placeholder 4">
            <a:extLst>
              <a:ext uri="{FF2B5EF4-FFF2-40B4-BE49-F238E27FC236}">
                <a16:creationId xmlns:a16="http://schemas.microsoft.com/office/drawing/2014/main" id="{A12431E4-19D9-5802-EEC7-6B316EA43A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AD3355-F5DE-1530-A3E2-01A16AD42081}"/>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2167505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C7F31E-EE5A-CB3F-5F15-8386163AECD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3D3444-4680-705E-C5C4-5AEC1E6F03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2D2669-93E1-0235-D5AD-B77292F1F5C6}"/>
              </a:ext>
            </a:extLst>
          </p:cNvPr>
          <p:cNvSpPr>
            <a:spLocks noGrp="1"/>
          </p:cNvSpPr>
          <p:nvPr>
            <p:ph type="dt" sz="half" idx="10"/>
          </p:nvPr>
        </p:nvSpPr>
        <p:spPr/>
        <p:txBody>
          <a:bodyPr/>
          <a:lstStyle/>
          <a:p>
            <a:fld id="{3556EDF8-F669-F94A-971A-233868348FCA}" type="datetimeFigureOut">
              <a:rPr lang="en-US" smtClean="0"/>
              <a:t>5/2/2025</a:t>
            </a:fld>
            <a:endParaRPr lang="en-US"/>
          </a:p>
        </p:txBody>
      </p:sp>
      <p:sp>
        <p:nvSpPr>
          <p:cNvPr id="5" name="Footer Placeholder 4">
            <a:extLst>
              <a:ext uri="{FF2B5EF4-FFF2-40B4-BE49-F238E27FC236}">
                <a16:creationId xmlns:a16="http://schemas.microsoft.com/office/drawing/2014/main" id="{55EEC1A7-D084-F86A-3773-8A604DE32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386F5-5FDD-39A6-5244-169FAE6E3A54}"/>
              </a:ext>
            </a:extLst>
          </p:cNvPr>
          <p:cNvSpPr>
            <a:spLocks noGrp="1"/>
          </p:cNvSpPr>
          <p:nvPr>
            <p:ph type="sldNum" sz="quarter" idx="12"/>
          </p:nvPr>
        </p:nvSpPr>
        <p:spPr/>
        <p:txBody>
          <a:bodyPr/>
          <a:lstStyle/>
          <a:p>
            <a:fld id="{26D88314-60CE-2D40-9B7F-F06720492948}" type="slidenum">
              <a:rPr lang="en-US" smtClean="0"/>
              <a:t>‹Nr.›</a:t>
            </a:fld>
            <a:endParaRPr lang="en-US"/>
          </a:p>
        </p:txBody>
      </p:sp>
    </p:spTree>
    <p:extLst>
      <p:ext uri="{BB962C8B-B14F-4D97-AF65-F5344CB8AC3E}">
        <p14:creationId xmlns:p14="http://schemas.microsoft.com/office/powerpoint/2010/main" val="2518655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01EB28-722C-DBAD-254F-4F2CE35F90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9DA3F8-AB42-371D-48D4-4E29C802D4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C4EF6B-8977-94C0-3600-C7059D62C4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56EDF8-F669-F94A-971A-233868348FCA}" type="datetimeFigureOut">
              <a:rPr lang="en-US" smtClean="0"/>
              <a:t>5/2/2025</a:t>
            </a:fld>
            <a:endParaRPr lang="en-US"/>
          </a:p>
        </p:txBody>
      </p:sp>
      <p:sp>
        <p:nvSpPr>
          <p:cNvPr id="5" name="Footer Placeholder 4">
            <a:extLst>
              <a:ext uri="{FF2B5EF4-FFF2-40B4-BE49-F238E27FC236}">
                <a16:creationId xmlns:a16="http://schemas.microsoft.com/office/drawing/2014/main" id="{5B9C415C-462C-BA89-C2D4-64C7AF1DEA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D75F5F-26DF-C19E-1350-647B771144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D88314-60CE-2D40-9B7F-F06720492948}" type="slidenum">
              <a:rPr lang="en-US" smtClean="0"/>
              <a:t>‹Nr.›</a:t>
            </a:fld>
            <a:endParaRPr lang="en-US"/>
          </a:p>
        </p:txBody>
      </p:sp>
    </p:spTree>
    <p:extLst>
      <p:ext uri="{BB962C8B-B14F-4D97-AF65-F5344CB8AC3E}">
        <p14:creationId xmlns:p14="http://schemas.microsoft.com/office/powerpoint/2010/main" val="322824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CBE3F5C6-2BD0-F117-5970-EB3A2186D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3" y="-642257"/>
            <a:ext cx="12201693" cy="8136051"/>
          </a:xfrm>
          <a:prstGeom prst="rect">
            <a:avLst/>
          </a:prstGeom>
        </p:spPr>
      </p:pic>
      <p:sp>
        <p:nvSpPr>
          <p:cNvPr id="2" name="Title 1">
            <a:extLst>
              <a:ext uri="{FF2B5EF4-FFF2-40B4-BE49-F238E27FC236}">
                <a16:creationId xmlns:a16="http://schemas.microsoft.com/office/drawing/2014/main" id="{9AF40107-FAF0-7AC4-1E53-69B1EAEAAC3A}"/>
              </a:ext>
            </a:extLst>
          </p:cNvPr>
          <p:cNvSpPr>
            <a:spLocks noGrp="1"/>
          </p:cNvSpPr>
          <p:nvPr>
            <p:ph type="ctrTitle"/>
          </p:nvPr>
        </p:nvSpPr>
        <p:spPr>
          <a:xfrm>
            <a:off x="1097280" y="1393370"/>
            <a:ext cx="10058400" cy="2506957"/>
          </a:xfrm>
          <a:effectLst>
            <a:outerShdw blurRad="50800" dist="38100" dir="2700000" algn="tl" rotWithShape="0">
              <a:prstClr val="black">
                <a:alpha val="40000"/>
              </a:prstClr>
            </a:outerShdw>
          </a:effectLst>
        </p:spPr>
        <p:txBody>
          <a:bodyPr>
            <a:normAutofit/>
          </a:bodyPr>
          <a:lstStyle/>
          <a:p>
            <a:r>
              <a:rPr lang="en-US" sz="4000" b="0" i="0" u="none" strike="noStrike" dirty="0">
                <a:solidFill>
                  <a:schemeClr val="bg1"/>
                </a:solidFill>
                <a:effectLst/>
                <a:latin typeface="Aptos" panose="020B0004020202020204" pitchFamily="34" charset="0"/>
              </a:rPr>
              <a:t>Decadal to Centennial Vertical </a:t>
            </a:r>
            <a:r>
              <a:rPr lang="en-US" sz="4000" b="0" i="0" u="none" strike="noStrike" dirty="0" err="1">
                <a:solidFill>
                  <a:schemeClr val="bg1"/>
                </a:solidFill>
                <a:effectLst/>
                <a:latin typeface="Aptos" panose="020B0004020202020204" pitchFamily="34" charset="0"/>
              </a:rPr>
              <a:t>Paleogeodetic</a:t>
            </a:r>
            <a:r>
              <a:rPr lang="en-US" sz="4000" b="0" i="0" u="none" strike="noStrike" dirty="0">
                <a:solidFill>
                  <a:schemeClr val="bg1"/>
                </a:solidFill>
                <a:effectLst/>
                <a:latin typeface="Aptos" panose="020B0004020202020204" pitchFamily="34" charset="0"/>
              </a:rPr>
              <a:t> Record of the Seismic Cycle in the Western Solomons from Coral </a:t>
            </a:r>
            <a:r>
              <a:rPr lang="en-US" sz="4000" b="0" i="0" u="none" strike="noStrike" dirty="0" err="1">
                <a:solidFill>
                  <a:schemeClr val="bg1"/>
                </a:solidFill>
                <a:effectLst/>
                <a:latin typeface="Aptos" panose="020B0004020202020204" pitchFamily="34" charset="0"/>
              </a:rPr>
              <a:t>Paleogeodesy</a:t>
            </a:r>
            <a:r>
              <a:rPr lang="en-US" sz="4000" b="0" i="0" u="none" strike="noStrike" dirty="0">
                <a:solidFill>
                  <a:schemeClr val="bg1"/>
                </a:solidFill>
                <a:effectLst/>
                <a:latin typeface="Aptos" panose="020B0004020202020204" pitchFamily="34" charset="0"/>
              </a:rPr>
              <a:t> and Stable Isotopes</a:t>
            </a:r>
          </a:p>
        </p:txBody>
      </p:sp>
      <p:sp>
        <p:nvSpPr>
          <p:cNvPr id="3" name="Subtitle 2">
            <a:extLst>
              <a:ext uri="{FF2B5EF4-FFF2-40B4-BE49-F238E27FC236}">
                <a16:creationId xmlns:a16="http://schemas.microsoft.com/office/drawing/2014/main" id="{8D450528-A28F-DE23-ECEC-C07A1122509B}"/>
              </a:ext>
            </a:extLst>
          </p:cNvPr>
          <p:cNvSpPr>
            <a:spLocks noGrp="1"/>
          </p:cNvSpPr>
          <p:nvPr>
            <p:ph type="subTitle" idx="1"/>
          </p:nvPr>
        </p:nvSpPr>
        <p:spPr>
          <a:xfrm>
            <a:off x="1437509" y="4800823"/>
            <a:ext cx="9307287" cy="993585"/>
          </a:xfrm>
          <a:effectLst>
            <a:outerShdw blurRad="50800" dist="38100" dir="2700000" algn="tl" rotWithShape="0">
              <a:prstClr val="black">
                <a:alpha val="40000"/>
              </a:prstClr>
            </a:outerShdw>
          </a:effectLst>
        </p:spPr>
        <p:txBody>
          <a:bodyPr>
            <a:normAutofit/>
          </a:bodyPr>
          <a:lstStyle/>
          <a:p>
            <a:r>
              <a:rPr lang="en-US" dirty="0">
                <a:solidFill>
                  <a:srgbClr val="FFFFFF"/>
                </a:solidFill>
              </a:rPr>
              <a:t>M. Ege Karaesmen, Luc Lavier, Frederic Taylor, </a:t>
            </a:r>
          </a:p>
          <a:p>
            <a:r>
              <a:rPr lang="en-US" dirty="0">
                <a:solidFill>
                  <a:srgbClr val="FFFFFF"/>
                </a:solidFill>
              </a:rPr>
              <a:t>Lauren Kendall, Ann Chen, Laura Wallace</a:t>
            </a:r>
          </a:p>
        </p:txBody>
      </p:sp>
      <p:sp>
        <p:nvSpPr>
          <p:cNvPr id="6" name="Subtitle 2">
            <a:extLst>
              <a:ext uri="{FF2B5EF4-FFF2-40B4-BE49-F238E27FC236}">
                <a16:creationId xmlns:a16="http://schemas.microsoft.com/office/drawing/2014/main" id="{7926330E-CC43-1E66-6EDA-4DE3E919F92C}"/>
              </a:ext>
            </a:extLst>
          </p:cNvPr>
          <p:cNvSpPr txBox="1">
            <a:spLocks/>
          </p:cNvSpPr>
          <p:nvPr/>
        </p:nvSpPr>
        <p:spPr>
          <a:xfrm>
            <a:off x="1204898" y="5935954"/>
            <a:ext cx="9307287" cy="993585"/>
          </a:xfrm>
          <a:prstGeom prst="rect">
            <a:avLst/>
          </a:prstGeom>
          <a:effectLst>
            <a:outerShdw blurRad="50800" dist="38100" dir="2700000" algn="tl" rotWithShape="0">
              <a:prstClr val="black">
                <a:alpha val="40000"/>
              </a:prstClr>
            </a:outerShdw>
          </a:effectLst>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rgbClr val="FFFFFF"/>
                </a:solidFill>
              </a:rPr>
              <a:t>University of Texas at Austin</a:t>
            </a:r>
          </a:p>
        </p:txBody>
      </p:sp>
      <p:pic>
        <p:nvPicPr>
          <p:cNvPr id="8" name="Grafik 7">
            <a:extLst>
              <a:ext uri="{FF2B5EF4-FFF2-40B4-BE49-F238E27FC236}">
                <a16:creationId xmlns:a16="http://schemas.microsoft.com/office/drawing/2014/main" id="{01648072-FE7E-98AC-E9A8-C7461B474B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5822897"/>
            <a:ext cx="3455469" cy="720377"/>
          </a:xfrm>
          <a:prstGeom prst="rect">
            <a:avLst/>
          </a:prstGeom>
        </p:spPr>
      </p:pic>
      <p:pic>
        <p:nvPicPr>
          <p:cNvPr id="10" name="Grafik 9">
            <a:extLst>
              <a:ext uri="{FF2B5EF4-FFF2-40B4-BE49-F238E27FC236}">
                <a16:creationId xmlns:a16="http://schemas.microsoft.com/office/drawing/2014/main" id="{15CD3BF0-2646-3876-CDE1-6A08D002DE97}"/>
              </a:ext>
            </a:extLst>
          </p:cNvPr>
          <p:cNvPicPr>
            <a:picLocks noChangeAspect="1"/>
          </p:cNvPicPr>
          <p:nvPr/>
        </p:nvPicPr>
        <p:blipFill>
          <a:blip r:embed="rId6"/>
          <a:stretch>
            <a:fillRect/>
          </a:stretch>
        </p:blipFill>
        <p:spPr>
          <a:xfrm>
            <a:off x="10805685" y="5299327"/>
            <a:ext cx="1568435" cy="1410635"/>
          </a:xfrm>
          <a:prstGeom prst="rect">
            <a:avLst/>
          </a:prstGeom>
        </p:spPr>
      </p:pic>
    </p:spTree>
    <p:extLst>
      <p:ext uri="{BB962C8B-B14F-4D97-AF65-F5344CB8AC3E}">
        <p14:creationId xmlns:p14="http://schemas.microsoft.com/office/powerpoint/2010/main" val="2783436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6228-F056-9CF4-1563-8E19EF168FA1}"/>
              </a:ext>
            </a:extLst>
          </p:cNvPr>
          <p:cNvSpPr>
            <a:spLocks noGrp="1"/>
          </p:cNvSpPr>
          <p:nvPr>
            <p:ph type="title"/>
          </p:nvPr>
        </p:nvSpPr>
        <p:spPr>
          <a:xfrm>
            <a:off x="838200" y="48295"/>
            <a:ext cx="10515600" cy="1325563"/>
          </a:xfrm>
        </p:spPr>
        <p:txBody>
          <a:bodyPr/>
          <a:lstStyle/>
          <a:p>
            <a:r>
              <a:rPr lang="en-US" noProof="0" dirty="0"/>
              <a:t>Earthquake Cycles Reconstruction</a:t>
            </a:r>
          </a:p>
        </p:txBody>
      </p:sp>
      <p:sp>
        <p:nvSpPr>
          <p:cNvPr id="3" name="Content Placeholder 2">
            <a:extLst>
              <a:ext uri="{FF2B5EF4-FFF2-40B4-BE49-F238E27FC236}">
                <a16:creationId xmlns:a16="http://schemas.microsoft.com/office/drawing/2014/main" id="{69755901-7994-2F60-134E-AD765BAE17DE}"/>
              </a:ext>
            </a:extLst>
          </p:cNvPr>
          <p:cNvSpPr>
            <a:spLocks noGrp="1"/>
          </p:cNvSpPr>
          <p:nvPr>
            <p:ph idx="1"/>
          </p:nvPr>
        </p:nvSpPr>
        <p:spPr>
          <a:xfrm>
            <a:off x="6648854" y="1902032"/>
            <a:ext cx="5346970" cy="4727367"/>
          </a:xfrm>
        </p:spPr>
        <p:txBody>
          <a:bodyPr>
            <a:normAutofit/>
          </a:bodyPr>
          <a:lstStyle/>
          <a:p>
            <a:pPr>
              <a:buFont typeface="Wingdings" panose="05000000000000000000" pitchFamily="2" charset="2"/>
              <a:buChar char="Ø"/>
            </a:pPr>
            <a:r>
              <a:rPr lang="en-US" dirty="0"/>
              <a:t>Reconstruct vertical tectonics over 100s to 1000s years using coral </a:t>
            </a:r>
            <a:r>
              <a:rPr lang="en-US" dirty="0" err="1"/>
              <a:t>paleogeodesy</a:t>
            </a:r>
            <a:br>
              <a:rPr lang="en-US" dirty="0"/>
            </a:br>
            <a:endParaRPr lang="en-US" dirty="0"/>
          </a:p>
          <a:p>
            <a:pPr>
              <a:buFont typeface="Wingdings" panose="05000000000000000000" pitchFamily="2" charset="2"/>
              <a:buChar char="Ø"/>
            </a:pPr>
            <a:r>
              <a:rPr lang="en-US" dirty="0"/>
              <a:t>Including tectonic motion over multiple seismic cycles</a:t>
            </a:r>
            <a:br>
              <a:rPr lang="en-US" dirty="0"/>
            </a:br>
            <a:endParaRPr lang="en-US" dirty="0"/>
          </a:p>
          <a:p>
            <a:pPr>
              <a:buFont typeface="Wingdings" panose="05000000000000000000" pitchFamily="2" charset="2"/>
              <a:buChar char="Ø"/>
            </a:pPr>
            <a:r>
              <a:rPr lang="en-US" dirty="0"/>
              <a:t>Infer viscoelastic properties</a:t>
            </a:r>
            <a:br>
              <a:rPr lang="en-US" dirty="0"/>
            </a:br>
            <a:endParaRPr lang="en-US" dirty="0"/>
          </a:p>
          <a:p>
            <a:pPr>
              <a:buFont typeface="Wingdings" panose="05000000000000000000" pitchFamily="2" charset="2"/>
              <a:buChar char="Ø"/>
            </a:pPr>
            <a:r>
              <a:rPr lang="en-US" dirty="0"/>
              <a:t>Slow slip events + Precursory</a:t>
            </a:r>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pic>
        <p:nvPicPr>
          <p:cNvPr id="8" name="Picture 7">
            <a:extLst>
              <a:ext uri="{FF2B5EF4-FFF2-40B4-BE49-F238E27FC236}">
                <a16:creationId xmlns:a16="http://schemas.microsoft.com/office/drawing/2014/main" id="{B754C914-5088-131C-60F6-EFA39B8AFF52}"/>
              </a:ext>
            </a:extLst>
          </p:cNvPr>
          <p:cNvPicPr>
            <a:picLocks noChangeAspect="1"/>
          </p:cNvPicPr>
          <p:nvPr/>
        </p:nvPicPr>
        <p:blipFill>
          <a:blip r:embed="rId3"/>
          <a:stretch>
            <a:fillRect/>
          </a:stretch>
        </p:blipFill>
        <p:spPr>
          <a:xfrm>
            <a:off x="838200" y="1161638"/>
            <a:ext cx="4649528" cy="2525843"/>
          </a:xfrm>
          <a:prstGeom prst="rect">
            <a:avLst/>
          </a:prstGeom>
        </p:spPr>
      </p:pic>
      <p:pic>
        <p:nvPicPr>
          <p:cNvPr id="18" name="Picture 17">
            <a:extLst>
              <a:ext uri="{FF2B5EF4-FFF2-40B4-BE49-F238E27FC236}">
                <a16:creationId xmlns:a16="http://schemas.microsoft.com/office/drawing/2014/main" id="{66851062-5EB4-CCD1-5BB8-B250A884C6D8}"/>
              </a:ext>
            </a:extLst>
          </p:cNvPr>
          <p:cNvPicPr>
            <a:picLocks noChangeAspect="1"/>
          </p:cNvPicPr>
          <p:nvPr/>
        </p:nvPicPr>
        <p:blipFill>
          <a:blip r:embed="rId4"/>
          <a:stretch>
            <a:fillRect/>
          </a:stretch>
        </p:blipFill>
        <p:spPr>
          <a:xfrm>
            <a:off x="369061" y="3687481"/>
            <a:ext cx="4649528" cy="3205357"/>
          </a:xfrm>
          <a:prstGeom prst="rect">
            <a:avLst/>
          </a:prstGeom>
        </p:spPr>
      </p:pic>
      <p:sp>
        <p:nvSpPr>
          <p:cNvPr id="9" name="TextBox 8">
            <a:extLst>
              <a:ext uri="{FF2B5EF4-FFF2-40B4-BE49-F238E27FC236}">
                <a16:creationId xmlns:a16="http://schemas.microsoft.com/office/drawing/2014/main" id="{F452CD26-F934-E422-23FE-3B36708274EF}"/>
              </a:ext>
            </a:extLst>
          </p:cNvPr>
          <p:cNvSpPr txBox="1"/>
          <p:nvPr/>
        </p:nvSpPr>
        <p:spPr>
          <a:xfrm>
            <a:off x="4142606" y="3876627"/>
            <a:ext cx="2690243" cy="369332"/>
          </a:xfrm>
          <a:prstGeom prst="rect">
            <a:avLst/>
          </a:prstGeom>
          <a:noFill/>
        </p:spPr>
        <p:txBody>
          <a:bodyPr wrap="square" rtlCol="0">
            <a:spAutoFit/>
          </a:bodyPr>
          <a:lstStyle/>
          <a:p>
            <a:r>
              <a:rPr lang="en-US" dirty="0"/>
              <a:t>Ono Oncken, (2018)</a:t>
            </a:r>
          </a:p>
        </p:txBody>
      </p:sp>
    </p:spTree>
    <p:extLst>
      <p:ext uri="{BB962C8B-B14F-4D97-AF65-F5344CB8AC3E}">
        <p14:creationId xmlns:p14="http://schemas.microsoft.com/office/powerpoint/2010/main" val="1462215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FD32-15D9-4CCC-97E8-6AEE616B5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5E843-4B21-4D34-90F0-962380AB6098}"/>
              </a:ext>
            </a:extLst>
          </p:cNvPr>
          <p:cNvSpPr>
            <a:spLocks noGrp="1"/>
          </p:cNvSpPr>
          <p:nvPr>
            <p:ph type="title"/>
          </p:nvPr>
        </p:nvSpPr>
        <p:spPr>
          <a:xfrm>
            <a:off x="838200" y="48295"/>
            <a:ext cx="10515600" cy="1325563"/>
          </a:xfrm>
        </p:spPr>
        <p:txBody>
          <a:bodyPr/>
          <a:lstStyle/>
          <a:p>
            <a:r>
              <a:rPr lang="en-US" noProof="0" dirty="0"/>
              <a:t>Earthquake Cycles Reconstruction</a:t>
            </a:r>
          </a:p>
        </p:txBody>
      </p:sp>
      <p:sp>
        <p:nvSpPr>
          <p:cNvPr id="3" name="Content Placeholder 2">
            <a:extLst>
              <a:ext uri="{FF2B5EF4-FFF2-40B4-BE49-F238E27FC236}">
                <a16:creationId xmlns:a16="http://schemas.microsoft.com/office/drawing/2014/main" id="{8D258BE3-AECE-46A3-BF95-A82DD8075701}"/>
              </a:ext>
            </a:extLst>
          </p:cNvPr>
          <p:cNvSpPr>
            <a:spLocks noGrp="1"/>
          </p:cNvSpPr>
          <p:nvPr>
            <p:ph idx="1"/>
          </p:nvPr>
        </p:nvSpPr>
        <p:spPr>
          <a:xfrm>
            <a:off x="6648854" y="1902032"/>
            <a:ext cx="5346970" cy="4727367"/>
          </a:xfrm>
        </p:spPr>
        <p:txBody>
          <a:bodyPr>
            <a:normAutofit/>
          </a:bodyPr>
          <a:lstStyle/>
          <a:p>
            <a:pPr>
              <a:buFont typeface="Wingdings" panose="05000000000000000000" pitchFamily="2" charset="2"/>
              <a:buChar char="Ø"/>
            </a:pPr>
            <a:r>
              <a:rPr lang="en-US" dirty="0"/>
              <a:t>Reconstruct vertical tectonics over 100s to 1000s years using coral </a:t>
            </a:r>
            <a:r>
              <a:rPr lang="en-US" dirty="0" err="1"/>
              <a:t>paleogeodesy</a:t>
            </a:r>
            <a:br>
              <a:rPr lang="en-US" dirty="0"/>
            </a:br>
            <a:endParaRPr lang="en-US" dirty="0"/>
          </a:p>
          <a:p>
            <a:pPr>
              <a:buFont typeface="Wingdings" panose="05000000000000000000" pitchFamily="2" charset="2"/>
              <a:buChar char="Ø"/>
            </a:pPr>
            <a:r>
              <a:rPr lang="en-US" dirty="0"/>
              <a:t>Including tectonic motion over multiple seismic cycles</a:t>
            </a:r>
            <a:br>
              <a:rPr lang="en-US" dirty="0"/>
            </a:br>
            <a:endParaRPr lang="en-US" dirty="0"/>
          </a:p>
          <a:p>
            <a:pPr>
              <a:buFont typeface="Wingdings" panose="05000000000000000000" pitchFamily="2" charset="2"/>
              <a:buChar char="Ø"/>
            </a:pPr>
            <a:r>
              <a:rPr lang="en-US" dirty="0"/>
              <a:t>Infer viscoelastic properties</a:t>
            </a:r>
            <a:br>
              <a:rPr lang="en-US" dirty="0"/>
            </a:br>
            <a:endParaRPr lang="en-US" dirty="0"/>
          </a:p>
          <a:p>
            <a:pPr>
              <a:buFont typeface="Wingdings" panose="05000000000000000000" pitchFamily="2" charset="2"/>
              <a:buChar char="Ø"/>
            </a:pPr>
            <a:r>
              <a:rPr lang="en-US" dirty="0"/>
              <a:t>Slow slip events + Precursory</a:t>
            </a:r>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pic>
        <p:nvPicPr>
          <p:cNvPr id="8" name="Picture 7">
            <a:extLst>
              <a:ext uri="{FF2B5EF4-FFF2-40B4-BE49-F238E27FC236}">
                <a16:creationId xmlns:a16="http://schemas.microsoft.com/office/drawing/2014/main" id="{11F8DBAD-A676-D78C-F4DA-D17E36EF02CC}"/>
              </a:ext>
            </a:extLst>
          </p:cNvPr>
          <p:cNvPicPr>
            <a:picLocks noChangeAspect="1"/>
          </p:cNvPicPr>
          <p:nvPr/>
        </p:nvPicPr>
        <p:blipFill>
          <a:blip r:embed="rId3"/>
          <a:stretch>
            <a:fillRect/>
          </a:stretch>
        </p:blipFill>
        <p:spPr>
          <a:xfrm>
            <a:off x="838200" y="1161638"/>
            <a:ext cx="4649528" cy="2525843"/>
          </a:xfrm>
          <a:prstGeom prst="rect">
            <a:avLst/>
          </a:prstGeom>
        </p:spPr>
      </p:pic>
      <p:pic>
        <p:nvPicPr>
          <p:cNvPr id="18" name="Picture 17">
            <a:extLst>
              <a:ext uri="{FF2B5EF4-FFF2-40B4-BE49-F238E27FC236}">
                <a16:creationId xmlns:a16="http://schemas.microsoft.com/office/drawing/2014/main" id="{0FC88652-6057-0A7E-8603-ABB8D0BBD017}"/>
              </a:ext>
            </a:extLst>
          </p:cNvPr>
          <p:cNvPicPr>
            <a:picLocks noChangeAspect="1"/>
          </p:cNvPicPr>
          <p:nvPr/>
        </p:nvPicPr>
        <p:blipFill>
          <a:blip r:embed="rId4"/>
          <a:stretch>
            <a:fillRect/>
          </a:stretch>
        </p:blipFill>
        <p:spPr>
          <a:xfrm>
            <a:off x="369061" y="3687481"/>
            <a:ext cx="4649528" cy="3205357"/>
          </a:xfrm>
          <a:prstGeom prst="rect">
            <a:avLst/>
          </a:prstGeom>
        </p:spPr>
      </p:pic>
      <p:sp>
        <p:nvSpPr>
          <p:cNvPr id="9" name="TextBox 8">
            <a:extLst>
              <a:ext uri="{FF2B5EF4-FFF2-40B4-BE49-F238E27FC236}">
                <a16:creationId xmlns:a16="http://schemas.microsoft.com/office/drawing/2014/main" id="{0E4115E7-693A-36F0-8107-93B47EC5002F}"/>
              </a:ext>
            </a:extLst>
          </p:cNvPr>
          <p:cNvSpPr txBox="1"/>
          <p:nvPr/>
        </p:nvSpPr>
        <p:spPr>
          <a:xfrm>
            <a:off x="4142606" y="3876627"/>
            <a:ext cx="2690243" cy="369332"/>
          </a:xfrm>
          <a:prstGeom prst="rect">
            <a:avLst/>
          </a:prstGeom>
          <a:noFill/>
        </p:spPr>
        <p:txBody>
          <a:bodyPr wrap="square" rtlCol="0">
            <a:spAutoFit/>
          </a:bodyPr>
          <a:lstStyle/>
          <a:p>
            <a:r>
              <a:rPr lang="en-US" dirty="0"/>
              <a:t>Ono Oncken, (2018)</a:t>
            </a:r>
          </a:p>
        </p:txBody>
      </p:sp>
      <p:cxnSp>
        <p:nvCxnSpPr>
          <p:cNvPr id="5" name="Gerade Verbindung mit Pfeil 4">
            <a:extLst>
              <a:ext uri="{FF2B5EF4-FFF2-40B4-BE49-F238E27FC236}">
                <a16:creationId xmlns:a16="http://schemas.microsoft.com/office/drawing/2014/main" id="{00A1809D-15CC-09AE-38D2-A8445B40328C}"/>
              </a:ext>
            </a:extLst>
          </p:cNvPr>
          <p:cNvCxnSpPr>
            <a:cxnSpLocks/>
          </p:cNvCxnSpPr>
          <p:nvPr/>
        </p:nvCxnSpPr>
        <p:spPr>
          <a:xfrm>
            <a:off x="2318657" y="3200400"/>
            <a:ext cx="76200" cy="1741714"/>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Gerade Verbindung mit Pfeil 10">
            <a:extLst>
              <a:ext uri="{FF2B5EF4-FFF2-40B4-BE49-F238E27FC236}">
                <a16:creationId xmlns:a16="http://schemas.microsoft.com/office/drawing/2014/main" id="{7F0E3F46-B484-5BEE-419C-AF845039E6A3}"/>
              </a:ext>
            </a:extLst>
          </p:cNvPr>
          <p:cNvCxnSpPr>
            <a:cxnSpLocks/>
          </p:cNvCxnSpPr>
          <p:nvPr/>
        </p:nvCxnSpPr>
        <p:spPr>
          <a:xfrm>
            <a:off x="2394857" y="3200400"/>
            <a:ext cx="838200" cy="1741714"/>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Gerade Verbindung mit Pfeil 14">
            <a:extLst>
              <a:ext uri="{FF2B5EF4-FFF2-40B4-BE49-F238E27FC236}">
                <a16:creationId xmlns:a16="http://schemas.microsoft.com/office/drawing/2014/main" id="{3B38233C-889F-FCAB-BFEF-F48AAD44BB1E}"/>
              </a:ext>
            </a:extLst>
          </p:cNvPr>
          <p:cNvCxnSpPr>
            <a:cxnSpLocks/>
          </p:cNvCxnSpPr>
          <p:nvPr/>
        </p:nvCxnSpPr>
        <p:spPr>
          <a:xfrm>
            <a:off x="2547257" y="3200400"/>
            <a:ext cx="1164772" cy="163285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0732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C37F6-648A-150B-67D8-41F2D3780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26525-82A2-4355-3718-1E5F262BBADF}"/>
              </a:ext>
            </a:extLst>
          </p:cNvPr>
          <p:cNvSpPr>
            <a:spLocks noGrp="1"/>
          </p:cNvSpPr>
          <p:nvPr>
            <p:ph type="title"/>
          </p:nvPr>
        </p:nvSpPr>
        <p:spPr>
          <a:xfrm>
            <a:off x="838200" y="48295"/>
            <a:ext cx="10515600" cy="1325563"/>
          </a:xfrm>
        </p:spPr>
        <p:txBody>
          <a:bodyPr/>
          <a:lstStyle/>
          <a:p>
            <a:r>
              <a:rPr lang="en-US" noProof="0" dirty="0"/>
              <a:t>Earthquake Cycles Reconstruction</a:t>
            </a:r>
          </a:p>
        </p:txBody>
      </p:sp>
      <p:sp>
        <p:nvSpPr>
          <p:cNvPr id="3" name="Content Placeholder 2">
            <a:extLst>
              <a:ext uri="{FF2B5EF4-FFF2-40B4-BE49-F238E27FC236}">
                <a16:creationId xmlns:a16="http://schemas.microsoft.com/office/drawing/2014/main" id="{62167BA0-B4AD-5D47-7037-D669D0D9D97F}"/>
              </a:ext>
            </a:extLst>
          </p:cNvPr>
          <p:cNvSpPr>
            <a:spLocks noGrp="1"/>
          </p:cNvSpPr>
          <p:nvPr>
            <p:ph idx="1"/>
          </p:nvPr>
        </p:nvSpPr>
        <p:spPr>
          <a:xfrm>
            <a:off x="6648854" y="1902032"/>
            <a:ext cx="5346970" cy="4727367"/>
          </a:xfrm>
        </p:spPr>
        <p:txBody>
          <a:bodyPr>
            <a:normAutofit/>
          </a:bodyPr>
          <a:lstStyle/>
          <a:p>
            <a:pPr>
              <a:buFont typeface="Wingdings" panose="05000000000000000000" pitchFamily="2" charset="2"/>
              <a:buChar char="Ø"/>
            </a:pPr>
            <a:r>
              <a:rPr lang="en-US" dirty="0"/>
              <a:t>Reconstruct vertical tectonics over 100s to 1000s years using coral </a:t>
            </a:r>
            <a:r>
              <a:rPr lang="en-US" dirty="0" err="1"/>
              <a:t>paleogeodesy</a:t>
            </a:r>
            <a:br>
              <a:rPr lang="en-US" dirty="0"/>
            </a:br>
            <a:endParaRPr lang="en-US" dirty="0"/>
          </a:p>
          <a:p>
            <a:pPr>
              <a:buFont typeface="Wingdings" panose="05000000000000000000" pitchFamily="2" charset="2"/>
              <a:buChar char="Ø"/>
            </a:pPr>
            <a:r>
              <a:rPr lang="en-US" dirty="0"/>
              <a:t>Including tectonic motion over multiple seismic cycles</a:t>
            </a:r>
            <a:br>
              <a:rPr lang="en-US" dirty="0"/>
            </a:br>
            <a:endParaRPr lang="en-US" dirty="0"/>
          </a:p>
          <a:p>
            <a:pPr>
              <a:buFont typeface="Wingdings" panose="05000000000000000000" pitchFamily="2" charset="2"/>
              <a:buChar char="Ø"/>
            </a:pPr>
            <a:r>
              <a:rPr lang="en-US" dirty="0"/>
              <a:t>Infer viscoelastic properties</a:t>
            </a:r>
            <a:br>
              <a:rPr lang="en-US" dirty="0"/>
            </a:br>
            <a:endParaRPr lang="en-US" dirty="0"/>
          </a:p>
          <a:p>
            <a:pPr>
              <a:buFont typeface="Wingdings" panose="05000000000000000000" pitchFamily="2" charset="2"/>
              <a:buChar char="Ø"/>
            </a:pPr>
            <a:r>
              <a:rPr lang="en-US" dirty="0"/>
              <a:t>Slow slip events + Precursory</a:t>
            </a:r>
          </a:p>
          <a:p>
            <a:pPr>
              <a:buFont typeface="Wingdings" panose="05000000000000000000" pitchFamily="2" charset="2"/>
              <a:buChar char="Ø"/>
            </a:pPr>
            <a:endParaRPr lang="en-US" dirty="0"/>
          </a:p>
          <a:p>
            <a:pPr>
              <a:buFont typeface="Wingdings" panose="05000000000000000000" pitchFamily="2" charset="2"/>
              <a:buChar char="Ø"/>
            </a:pPr>
            <a:endParaRPr lang="en-US" dirty="0"/>
          </a:p>
        </p:txBody>
      </p:sp>
      <p:pic>
        <p:nvPicPr>
          <p:cNvPr id="8" name="Picture 7">
            <a:extLst>
              <a:ext uri="{FF2B5EF4-FFF2-40B4-BE49-F238E27FC236}">
                <a16:creationId xmlns:a16="http://schemas.microsoft.com/office/drawing/2014/main" id="{32299E87-63A0-0C49-1BE1-B656D8FFD53B}"/>
              </a:ext>
            </a:extLst>
          </p:cNvPr>
          <p:cNvPicPr>
            <a:picLocks noChangeAspect="1"/>
          </p:cNvPicPr>
          <p:nvPr/>
        </p:nvPicPr>
        <p:blipFill>
          <a:blip r:embed="rId3"/>
          <a:stretch>
            <a:fillRect/>
          </a:stretch>
        </p:blipFill>
        <p:spPr>
          <a:xfrm>
            <a:off x="838200" y="1161638"/>
            <a:ext cx="4649528" cy="2525843"/>
          </a:xfrm>
          <a:prstGeom prst="rect">
            <a:avLst/>
          </a:prstGeom>
        </p:spPr>
      </p:pic>
      <p:pic>
        <p:nvPicPr>
          <p:cNvPr id="18" name="Picture 17">
            <a:extLst>
              <a:ext uri="{FF2B5EF4-FFF2-40B4-BE49-F238E27FC236}">
                <a16:creationId xmlns:a16="http://schemas.microsoft.com/office/drawing/2014/main" id="{4E6E6104-21DF-9020-FAA1-24903DD6B6DD}"/>
              </a:ext>
            </a:extLst>
          </p:cNvPr>
          <p:cNvPicPr>
            <a:picLocks noChangeAspect="1"/>
          </p:cNvPicPr>
          <p:nvPr/>
        </p:nvPicPr>
        <p:blipFill>
          <a:blip r:embed="rId4"/>
          <a:stretch>
            <a:fillRect/>
          </a:stretch>
        </p:blipFill>
        <p:spPr>
          <a:xfrm>
            <a:off x="369061" y="3687481"/>
            <a:ext cx="4649528" cy="3205357"/>
          </a:xfrm>
          <a:prstGeom prst="rect">
            <a:avLst/>
          </a:prstGeom>
        </p:spPr>
      </p:pic>
      <p:sp>
        <p:nvSpPr>
          <p:cNvPr id="9" name="TextBox 8">
            <a:extLst>
              <a:ext uri="{FF2B5EF4-FFF2-40B4-BE49-F238E27FC236}">
                <a16:creationId xmlns:a16="http://schemas.microsoft.com/office/drawing/2014/main" id="{2B33BF6F-DCB4-F501-B91B-0C6D5CC3E45D}"/>
              </a:ext>
            </a:extLst>
          </p:cNvPr>
          <p:cNvSpPr txBox="1"/>
          <p:nvPr/>
        </p:nvSpPr>
        <p:spPr>
          <a:xfrm>
            <a:off x="4142606" y="3876627"/>
            <a:ext cx="2690243" cy="369332"/>
          </a:xfrm>
          <a:prstGeom prst="rect">
            <a:avLst/>
          </a:prstGeom>
          <a:noFill/>
        </p:spPr>
        <p:txBody>
          <a:bodyPr wrap="square" rtlCol="0">
            <a:spAutoFit/>
          </a:bodyPr>
          <a:lstStyle/>
          <a:p>
            <a:r>
              <a:rPr lang="en-US" dirty="0"/>
              <a:t>Ono Oncken, (2018)</a:t>
            </a:r>
          </a:p>
        </p:txBody>
      </p:sp>
      <p:cxnSp>
        <p:nvCxnSpPr>
          <p:cNvPr id="6" name="Verbinder: gekrümmt 5">
            <a:extLst>
              <a:ext uri="{FF2B5EF4-FFF2-40B4-BE49-F238E27FC236}">
                <a16:creationId xmlns:a16="http://schemas.microsoft.com/office/drawing/2014/main" id="{AFBA320A-A2C6-0CED-E109-0FE2641247CA}"/>
              </a:ext>
            </a:extLst>
          </p:cNvPr>
          <p:cNvCxnSpPr/>
          <p:nvPr/>
        </p:nvCxnSpPr>
        <p:spPr>
          <a:xfrm rot="16200000" flipH="1">
            <a:off x="2601686" y="3298371"/>
            <a:ext cx="1774371" cy="1143000"/>
          </a:xfrm>
          <a:prstGeom prst="curvedConnector3">
            <a:avLst/>
          </a:prstGeom>
          <a:ln w="57150">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686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llipse 7">
            <a:extLst>
              <a:ext uri="{FF2B5EF4-FFF2-40B4-BE49-F238E27FC236}">
                <a16:creationId xmlns:a16="http://schemas.microsoft.com/office/drawing/2014/main" id="{7739900C-117E-8026-9C92-BF111097C7B3}"/>
              </a:ext>
            </a:extLst>
          </p:cNvPr>
          <p:cNvSpPr/>
          <p:nvPr/>
        </p:nvSpPr>
        <p:spPr>
          <a:xfrm>
            <a:off x="6106886" y="4757056"/>
            <a:ext cx="587829" cy="587829"/>
          </a:xfrm>
          <a:prstGeom prst="ellipse">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Picture 4">
            <a:extLst>
              <a:ext uri="{FF2B5EF4-FFF2-40B4-BE49-F238E27FC236}">
                <a16:creationId xmlns:a16="http://schemas.microsoft.com/office/drawing/2014/main" id="{7A5F7A73-E6B9-93BB-2699-1D54E967C25D}"/>
              </a:ext>
            </a:extLst>
          </p:cNvPr>
          <p:cNvPicPr>
            <a:picLocks noChangeAspect="1"/>
          </p:cNvPicPr>
          <p:nvPr/>
        </p:nvPicPr>
        <p:blipFill>
          <a:blip r:embed="rId3"/>
          <a:stretch>
            <a:fillRect/>
          </a:stretch>
        </p:blipFill>
        <p:spPr>
          <a:xfrm>
            <a:off x="-75127" y="0"/>
            <a:ext cx="12267128" cy="6858000"/>
          </a:xfrm>
          <a:prstGeom prst="rect">
            <a:avLst/>
          </a:prstGeom>
        </p:spPr>
      </p:pic>
    </p:spTree>
    <p:extLst>
      <p:ext uri="{BB962C8B-B14F-4D97-AF65-F5344CB8AC3E}">
        <p14:creationId xmlns:p14="http://schemas.microsoft.com/office/powerpoint/2010/main" val="366494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ACFA0-AC95-35AF-7F61-F219943D0CB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2AC15D-816B-6E71-A264-BAADB8ABFCB7}"/>
              </a:ext>
            </a:extLst>
          </p:cNvPr>
          <p:cNvPicPr>
            <a:picLocks noChangeAspect="1"/>
          </p:cNvPicPr>
          <p:nvPr/>
        </p:nvPicPr>
        <p:blipFill>
          <a:blip r:embed="rId3"/>
          <a:stretch>
            <a:fillRect/>
          </a:stretch>
        </p:blipFill>
        <p:spPr>
          <a:xfrm>
            <a:off x="491769" y="0"/>
            <a:ext cx="11404404" cy="6897149"/>
          </a:xfrm>
          <a:prstGeom prst="rect">
            <a:avLst/>
          </a:prstGeom>
        </p:spPr>
      </p:pic>
    </p:spTree>
    <p:extLst>
      <p:ext uri="{BB962C8B-B14F-4D97-AF65-F5344CB8AC3E}">
        <p14:creationId xmlns:p14="http://schemas.microsoft.com/office/powerpoint/2010/main" val="3545660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591198-7987-A969-70FB-3F958A61CEED}"/>
              </a:ext>
            </a:extLst>
          </p:cNvPr>
          <p:cNvPicPr>
            <a:picLocks noChangeAspect="1"/>
          </p:cNvPicPr>
          <p:nvPr/>
        </p:nvPicPr>
        <p:blipFill rotWithShape="1">
          <a:blip r:embed="rId3"/>
          <a:srcRect l="888" t="6177" r="46112" b="9350"/>
          <a:stretch/>
        </p:blipFill>
        <p:spPr>
          <a:xfrm>
            <a:off x="391885" y="1316899"/>
            <a:ext cx="4978193" cy="4224201"/>
          </a:xfrm>
          <a:prstGeom prst="rect">
            <a:avLst/>
          </a:prstGeom>
        </p:spPr>
      </p:pic>
      <p:pic>
        <p:nvPicPr>
          <p:cNvPr id="5" name="Content Placeholder 4">
            <a:extLst>
              <a:ext uri="{FF2B5EF4-FFF2-40B4-BE49-F238E27FC236}">
                <a16:creationId xmlns:a16="http://schemas.microsoft.com/office/drawing/2014/main" id="{0DA86858-6514-42C6-EA41-FB642D729914}"/>
              </a:ext>
            </a:extLst>
          </p:cNvPr>
          <p:cNvPicPr>
            <a:picLocks noChangeAspect="1"/>
          </p:cNvPicPr>
          <p:nvPr/>
        </p:nvPicPr>
        <p:blipFill>
          <a:blip r:embed="rId4"/>
          <a:srcRect/>
          <a:stretch/>
        </p:blipFill>
        <p:spPr>
          <a:xfrm>
            <a:off x="5551714" y="1316899"/>
            <a:ext cx="6356166" cy="4224201"/>
          </a:xfrm>
          <a:prstGeom prst="rect">
            <a:avLst/>
          </a:prstGeom>
        </p:spPr>
      </p:pic>
      <p:sp>
        <p:nvSpPr>
          <p:cNvPr id="8" name="Title 1">
            <a:extLst>
              <a:ext uri="{FF2B5EF4-FFF2-40B4-BE49-F238E27FC236}">
                <a16:creationId xmlns:a16="http://schemas.microsoft.com/office/drawing/2014/main" id="{EBA53E92-654E-64E9-3CD7-CE06850851F0}"/>
              </a:ext>
            </a:extLst>
          </p:cNvPr>
          <p:cNvSpPr>
            <a:spLocks noGrp="1"/>
          </p:cNvSpPr>
          <p:nvPr>
            <p:ph type="title"/>
          </p:nvPr>
        </p:nvSpPr>
        <p:spPr>
          <a:xfrm>
            <a:off x="391885" y="223611"/>
            <a:ext cx="10515600" cy="1325563"/>
          </a:xfrm>
        </p:spPr>
        <p:txBody>
          <a:bodyPr/>
          <a:lstStyle/>
          <a:p>
            <a:r>
              <a:rPr lang="en-US" dirty="0"/>
              <a:t>After Mw 8.1 2007</a:t>
            </a:r>
          </a:p>
        </p:txBody>
      </p:sp>
      <p:sp>
        <p:nvSpPr>
          <p:cNvPr id="9" name="Textfeld 8">
            <a:extLst>
              <a:ext uri="{FF2B5EF4-FFF2-40B4-BE49-F238E27FC236}">
                <a16:creationId xmlns:a16="http://schemas.microsoft.com/office/drawing/2014/main" id="{5E868621-37A4-1394-A0FE-A214DD3F5395}"/>
              </a:ext>
            </a:extLst>
          </p:cNvPr>
          <p:cNvSpPr txBox="1"/>
          <p:nvPr/>
        </p:nvSpPr>
        <p:spPr>
          <a:xfrm>
            <a:off x="5757256" y="5711058"/>
            <a:ext cx="5945082" cy="923330"/>
          </a:xfrm>
          <a:prstGeom prst="rect">
            <a:avLst/>
          </a:prstGeom>
          <a:noFill/>
        </p:spPr>
        <p:txBody>
          <a:bodyPr wrap="square">
            <a:spAutoFit/>
          </a:bodyPr>
          <a:lstStyle/>
          <a:p>
            <a:pPr algn="l">
              <a:spcAft>
                <a:spcPts val="600"/>
              </a:spcAft>
            </a:pPr>
            <a:r>
              <a:rPr lang="en-US" b="1" i="0" dirty="0">
                <a:solidFill>
                  <a:srgbClr val="000000"/>
                </a:solidFill>
                <a:effectLst/>
                <a:latin typeface="Arial" panose="020B0604020202020204" pitchFamily="34" charset="0"/>
              </a:rPr>
              <a:t>UT Austin doctoral student Kaustubh Thirumalai inspect</a:t>
            </a:r>
            <a:r>
              <a:rPr lang="en-US" b="1" dirty="0">
                <a:solidFill>
                  <a:srgbClr val="000000"/>
                </a:solidFill>
                <a:latin typeface="Arial" panose="020B0604020202020204" pitchFamily="34" charset="0"/>
              </a:rPr>
              <a:t>ing</a:t>
            </a:r>
            <a:r>
              <a:rPr lang="en-US" b="1" i="0" dirty="0">
                <a:solidFill>
                  <a:srgbClr val="000000"/>
                </a:solidFill>
                <a:effectLst/>
                <a:latin typeface="Arial" panose="020B0604020202020204" pitchFamily="34" charset="0"/>
              </a:rPr>
              <a:t> corals near the Solomon Islands’ </a:t>
            </a:r>
            <a:r>
              <a:rPr lang="en-US" b="1" i="0" dirty="0" err="1">
                <a:solidFill>
                  <a:srgbClr val="000000"/>
                </a:solidFill>
                <a:effectLst/>
                <a:latin typeface="Arial" panose="020B0604020202020204" pitchFamily="34" charset="0"/>
              </a:rPr>
              <a:t>Ranongga</a:t>
            </a:r>
            <a:r>
              <a:rPr lang="en-US" b="1" i="0" dirty="0">
                <a:solidFill>
                  <a:srgbClr val="000000"/>
                </a:solidFill>
                <a:effectLst/>
                <a:latin typeface="Arial" panose="020B0604020202020204" pitchFamily="34" charset="0"/>
              </a:rPr>
              <a:t> Island in 2015</a:t>
            </a:r>
            <a:r>
              <a:rPr lang="en-US" b="1" dirty="0">
                <a:solidFill>
                  <a:srgbClr val="000000"/>
                </a:solidFill>
                <a:latin typeface="Arial" panose="020B0604020202020204" pitchFamily="34" charset="0"/>
              </a:rPr>
              <a:t>.</a:t>
            </a:r>
            <a:endParaRPr lang="en-US" b="1" i="0" dirty="0">
              <a:solidFill>
                <a:srgbClr val="000000"/>
              </a:solidFill>
              <a:effectLst/>
              <a:latin typeface="Arial" panose="020B0604020202020204" pitchFamily="34" charset="0"/>
            </a:endParaRPr>
          </a:p>
        </p:txBody>
      </p:sp>
      <p:sp>
        <p:nvSpPr>
          <p:cNvPr id="10" name="Textfeld 9">
            <a:extLst>
              <a:ext uri="{FF2B5EF4-FFF2-40B4-BE49-F238E27FC236}">
                <a16:creationId xmlns:a16="http://schemas.microsoft.com/office/drawing/2014/main" id="{C2AC70C3-E121-0889-992A-D1F2215A9CB8}"/>
              </a:ext>
            </a:extLst>
          </p:cNvPr>
          <p:cNvSpPr txBox="1"/>
          <p:nvPr/>
        </p:nvSpPr>
        <p:spPr>
          <a:xfrm>
            <a:off x="391885" y="5711058"/>
            <a:ext cx="4735286" cy="923330"/>
          </a:xfrm>
          <a:prstGeom prst="rect">
            <a:avLst/>
          </a:prstGeom>
          <a:noFill/>
        </p:spPr>
        <p:txBody>
          <a:bodyPr wrap="square">
            <a:spAutoFit/>
          </a:bodyPr>
          <a:lstStyle/>
          <a:p>
            <a:pPr algn="l">
              <a:spcAft>
                <a:spcPts val="600"/>
              </a:spcAft>
            </a:pPr>
            <a:r>
              <a:rPr lang="en-US" b="1" i="0" dirty="0">
                <a:solidFill>
                  <a:srgbClr val="000000"/>
                </a:solidFill>
                <a:effectLst/>
                <a:latin typeface="Arial" panose="020B0604020202020204" pitchFamily="34" charset="0"/>
              </a:rPr>
              <a:t>Luc Lavier measuring the vertical position of th</a:t>
            </a:r>
            <a:r>
              <a:rPr lang="en-US" b="1" dirty="0">
                <a:solidFill>
                  <a:srgbClr val="000000"/>
                </a:solidFill>
                <a:latin typeface="Arial" panose="020B0604020202020204" pitchFamily="34" charset="0"/>
              </a:rPr>
              <a:t>e sampled coral, near </a:t>
            </a:r>
            <a:r>
              <a:rPr lang="en-US" b="1" i="0" dirty="0" err="1">
                <a:solidFill>
                  <a:srgbClr val="000000"/>
                </a:solidFill>
                <a:effectLst/>
                <a:latin typeface="Arial" panose="020B0604020202020204" pitchFamily="34" charset="0"/>
              </a:rPr>
              <a:t>Ranongga</a:t>
            </a:r>
            <a:r>
              <a:rPr lang="en-US" b="1" i="0" dirty="0">
                <a:solidFill>
                  <a:srgbClr val="000000"/>
                </a:solidFill>
                <a:effectLst/>
                <a:latin typeface="Arial" panose="020B0604020202020204" pitchFamily="34" charset="0"/>
              </a:rPr>
              <a:t> Island in</a:t>
            </a:r>
            <a:r>
              <a:rPr lang="en-US" b="1" dirty="0">
                <a:solidFill>
                  <a:srgbClr val="000000"/>
                </a:solidFill>
                <a:latin typeface="Arial" panose="020B0604020202020204" pitchFamily="34" charset="0"/>
              </a:rPr>
              <a:t> 2012.</a:t>
            </a:r>
            <a:endParaRPr lang="en-US" b="1"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861425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520F-4047-E59C-1D72-E217CB60C57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A03717F-CC94-69DF-093A-5E99AC895F0B}"/>
              </a:ext>
            </a:extLst>
          </p:cNvPr>
          <p:cNvPicPr>
            <a:picLocks noChangeAspect="1"/>
          </p:cNvPicPr>
          <p:nvPr/>
        </p:nvPicPr>
        <p:blipFill>
          <a:blip r:embed="rId3"/>
          <a:srcRect l="10094" r="10094"/>
          <a:stretch/>
        </p:blipFill>
        <p:spPr>
          <a:xfrm>
            <a:off x="779558" y="1219230"/>
            <a:ext cx="5076955" cy="4227491"/>
          </a:xfrm>
          <a:prstGeom prst="rect">
            <a:avLst/>
          </a:prstGeom>
        </p:spPr>
      </p:pic>
      <p:pic>
        <p:nvPicPr>
          <p:cNvPr id="5" name="Content Placeholder 4" descr="A person standing next to a piece of wood&#10;&#10;Description automatically generated">
            <a:extLst>
              <a:ext uri="{FF2B5EF4-FFF2-40B4-BE49-F238E27FC236}">
                <a16:creationId xmlns:a16="http://schemas.microsoft.com/office/drawing/2014/main" id="{5023C9B5-75F0-1226-4E52-C70381948D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4285" y="1248684"/>
            <a:ext cx="5597382" cy="4198037"/>
          </a:xfrm>
          <a:prstGeom prst="rect">
            <a:avLst/>
          </a:prstGeom>
        </p:spPr>
      </p:pic>
      <p:sp>
        <p:nvSpPr>
          <p:cNvPr id="11" name="Title 1">
            <a:extLst>
              <a:ext uri="{FF2B5EF4-FFF2-40B4-BE49-F238E27FC236}">
                <a16:creationId xmlns:a16="http://schemas.microsoft.com/office/drawing/2014/main" id="{43B08C19-7387-7A5C-B9FC-C8759BA9BD94}"/>
              </a:ext>
            </a:extLst>
          </p:cNvPr>
          <p:cNvSpPr>
            <a:spLocks noGrp="1"/>
          </p:cNvSpPr>
          <p:nvPr>
            <p:ph type="title"/>
          </p:nvPr>
        </p:nvSpPr>
        <p:spPr>
          <a:xfrm>
            <a:off x="391885" y="223611"/>
            <a:ext cx="10515600" cy="1325563"/>
          </a:xfrm>
        </p:spPr>
        <p:txBody>
          <a:bodyPr/>
          <a:lstStyle/>
          <a:p>
            <a:r>
              <a:rPr lang="en-US" dirty="0"/>
              <a:t>After Mw 8.1 2007</a:t>
            </a:r>
          </a:p>
        </p:txBody>
      </p:sp>
      <p:sp>
        <p:nvSpPr>
          <p:cNvPr id="12" name="Textfeld 11">
            <a:extLst>
              <a:ext uri="{FF2B5EF4-FFF2-40B4-BE49-F238E27FC236}">
                <a16:creationId xmlns:a16="http://schemas.microsoft.com/office/drawing/2014/main" id="{8D7908DC-F98A-DF1C-BF66-4C8D3AB97026}"/>
              </a:ext>
            </a:extLst>
          </p:cNvPr>
          <p:cNvSpPr txBox="1"/>
          <p:nvPr/>
        </p:nvSpPr>
        <p:spPr>
          <a:xfrm>
            <a:off x="936170" y="5638770"/>
            <a:ext cx="4920343" cy="923330"/>
          </a:xfrm>
          <a:prstGeom prst="rect">
            <a:avLst/>
          </a:prstGeom>
          <a:noFill/>
        </p:spPr>
        <p:txBody>
          <a:bodyPr wrap="square">
            <a:spAutoFit/>
          </a:bodyPr>
          <a:lstStyle/>
          <a:p>
            <a:pPr algn="l">
              <a:spcAft>
                <a:spcPts val="600"/>
              </a:spcAft>
            </a:pPr>
            <a:r>
              <a:rPr lang="en-US" b="1" i="0" dirty="0">
                <a:solidFill>
                  <a:srgbClr val="000000"/>
                </a:solidFill>
                <a:effectLst/>
                <a:latin typeface="Arial" panose="020B0604020202020204" pitchFamily="34" charset="0"/>
              </a:rPr>
              <a:t>Fred Taylor</a:t>
            </a:r>
            <a:r>
              <a:rPr lang="en-US" b="1" dirty="0">
                <a:solidFill>
                  <a:srgbClr val="000000"/>
                </a:solidFill>
                <a:latin typeface="Arial" panose="020B0604020202020204" pitchFamily="34" charset="0"/>
              </a:rPr>
              <a:t> (</a:t>
            </a:r>
            <a:r>
              <a:rPr lang="en-US" b="1" i="0" dirty="0">
                <a:solidFill>
                  <a:srgbClr val="000000"/>
                </a:solidFill>
                <a:effectLst/>
                <a:latin typeface="Arial" panose="020B0604020202020204" pitchFamily="34" charset="0"/>
              </a:rPr>
              <a:t>UT Austin) collects samples from corals in the Solomon Islands, after 2007 Earthquake uplift. (201</a:t>
            </a:r>
            <a:r>
              <a:rPr lang="en-US" b="1" dirty="0">
                <a:solidFill>
                  <a:srgbClr val="000000"/>
                </a:solidFill>
                <a:latin typeface="Arial" panose="020B0604020202020204" pitchFamily="34" charset="0"/>
              </a:rPr>
              <a:t>5</a:t>
            </a:r>
            <a:r>
              <a:rPr lang="en-US" b="1" i="0" dirty="0">
                <a:solidFill>
                  <a:srgbClr val="000000"/>
                </a:solidFill>
                <a:effectLst/>
                <a:latin typeface="Arial" panose="020B0604020202020204" pitchFamily="34" charset="0"/>
              </a:rPr>
              <a:t>)</a:t>
            </a:r>
          </a:p>
        </p:txBody>
      </p:sp>
      <p:sp>
        <p:nvSpPr>
          <p:cNvPr id="13" name="Textfeld 12">
            <a:extLst>
              <a:ext uri="{FF2B5EF4-FFF2-40B4-BE49-F238E27FC236}">
                <a16:creationId xmlns:a16="http://schemas.microsoft.com/office/drawing/2014/main" id="{B24002EC-1E57-585B-E2F9-283767A582C3}"/>
              </a:ext>
            </a:extLst>
          </p:cNvPr>
          <p:cNvSpPr txBox="1"/>
          <p:nvPr/>
        </p:nvSpPr>
        <p:spPr>
          <a:xfrm>
            <a:off x="6096000" y="5638770"/>
            <a:ext cx="4920343" cy="646331"/>
          </a:xfrm>
          <a:prstGeom prst="rect">
            <a:avLst/>
          </a:prstGeom>
          <a:noFill/>
        </p:spPr>
        <p:txBody>
          <a:bodyPr wrap="square">
            <a:spAutoFit/>
          </a:bodyPr>
          <a:lstStyle/>
          <a:p>
            <a:pPr algn="l">
              <a:spcAft>
                <a:spcPts val="600"/>
              </a:spcAft>
            </a:pPr>
            <a:r>
              <a:rPr lang="en-US" b="1" i="0" dirty="0">
                <a:solidFill>
                  <a:srgbClr val="000000"/>
                </a:solidFill>
                <a:effectLst/>
                <a:latin typeface="Arial" panose="020B0604020202020204" pitchFamily="34" charset="0"/>
              </a:rPr>
              <a:t>The sample taken in 2012 from Parara Island and analyzed in 2024 at Austin. </a:t>
            </a:r>
          </a:p>
        </p:txBody>
      </p:sp>
    </p:spTree>
    <p:extLst>
      <p:ext uri="{BB962C8B-B14F-4D97-AF65-F5344CB8AC3E}">
        <p14:creationId xmlns:p14="http://schemas.microsoft.com/office/powerpoint/2010/main" val="364090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E78E5D77-AD7A-945D-EA3D-574E12FE3EB0}"/>
              </a:ext>
            </a:extLst>
          </p:cNvPr>
          <p:cNvPicPr>
            <a:picLocks noChangeAspect="1"/>
          </p:cNvPicPr>
          <p:nvPr/>
        </p:nvPicPr>
        <p:blipFill>
          <a:blip r:embed="rId3">
            <a:extLst>
              <a:ext uri="{28A0092B-C50C-407E-A947-70E740481C1C}">
                <a14:useLocalDpi xmlns:a14="http://schemas.microsoft.com/office/drawing/2010/main" val="0"/>
              </a:ext>
            </a:extLst>
          </a:blip>
          <a:srcRect l="6953" r="54498"/>
          <a:stretch/>
        </p:blipFill>
        <p:spPr>
          <a:xfrm>
            <a:off x="934507" y="294067"/>
            <a:ext cx="9722608" cy="3362908"/>
          </a:xfrm>
          <a:prstGeom prst="rect">
            <a:avLst/>
          </a:prstGeom>
        </p:spPr>
      </p:pic>
      <p:sp>
        <p:nvSpPr>
          <p:cNvPr id="13" name="Geschweifte Klammer rechts 12">
            <a:extLst>
              <a:ext uri="{FF2B5EF4-FFF2-40B4-BE49-F238E27FC236}">
                <a16:creationId xmlns:a16="http://schemas.microsoft.com/office/drawing/2014/main" id="{B2D6D3CB-0477-D5C9-FC7B-5043EDF71A9C}"/>
              </a:ext>
            </a:extLst>
          </p:cNvPr>
          <p:cNvSpPr/>
          <p:nvPr/>
        </p:nvSpPr>
        <p:spPr>
          <a:xfrm rot="6584985">
            <a:off x="2830862" y="522696"/>
            <a:ext cx="315866" cy="4017524"/>
          </a:xfrm>
          <a:prstGeom prst="rightBrace">
            <a:avLst>
              <a:gd name="adj1" fmla="val 8333"/>
              <a:gd name="adj2" fmla="val 52257"/>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4" name="Geschweifte Klammer rechts 13">
            <a:extLst>
              <a:ext uri="{FF2B5EF4-FFF2-40B4-BE49-F238E27FC236}">
                <a16:creationId xmlns:a16="http://schemas.microsoft.com/office/drawing/2014/main" id="{45B234DF-10E3-263F-D9F9-0EE5BF0742A2}"/>
              </a:ext>
            </a:extLst>
          </p:cNvPr>
          <p:cNvSpPr/>
          <p:nvPr/>
        </p:nvSpPr>
        <p:spPr>
          <a:xfrm rot="6164684">
            <a:off x="6720725" y="82376"/>
            <a:ext cx="175243" cy="4507781"/>
          </a:xfrm>
          <a:prstGeom prst="rightBrace">
            <a:avLst>
              <a:gd name="adj1" fmla="val 8333"/>
              <a:gd name="adj2" fmla="val 52257"/>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pic>
        <p:nvPicPr>
          <p:cNvPr id="2" name="Grafik 1">
            <a:extLst>
              <a:ext uri="{FF2B5EF4-FFF2-40B4-BE49-F238E27FC236}">
                <a16:creationId xmlns:a16="http://schemas.microsoft.com/office/drawing/2014/main" id="{E3D533B6-EB3C-F364-F4C0-E2DDDDAED144}"/>
              </a:ext>
            </a:extLst>
          </p:cNvPr>
          <p:cNvPicPr>
            <a:picLocks noChangeAspect="1"/>
          </p:cNvPicPr>
          <p:nvPr/>
        </p:nvPicPr>
        <p:blipFill>
          <a:blip r:embed="rId3">
            <a:extLst>
              <a:ext uri="{28A0092B-C50C-407E-A947-70E740481C1C}">
                <a14:useLocalDpi xmlns:a14="http://schemas.microsoft.com/office/drawing/2010/main" val="0"/>
              </a:ext>
            </a:extLst>
          </a:blip>
          <a:srcRect l="45502" r="6640" b="15349"/>
          <a:stretch/>
        </p:blipFill>
        <p:spPr>
          <a:xfrm>
            <a:off x="257867" y="3895098"/>
            <a:ext cx="11676266" cy="2753732"/>
          </a:xfrm>
          <a:prstGeom prst="rect">
            <a:avLst/>
          </a:prstGeom>
        </p:spPr>
      </p:pic>
      <p:sp>
        <p:nvSpPr>
          <p:cNvPr id="5" name="Geschweifte Klammer rechts 4">
            <a:extLst>
              <a:ext uri="{FF2B5EF4-FFF2-40B4-BE49-F238E27FC236}">
                <a16:creationId xmlns:a16="http://schemas.microsoft.com/office/drawing/2014/main" id="{B48C5E46-7D37-B195-A181-E765D83CB3DC}"/>
              </a:ext>
            </a:extLst>
          </p:cNvPr>
          <p:cNvSpPr/>
          <p:nvPr/>
        </p:nvSpPr>
        <p:spPr>
          <a:xfrm rot="17410658">
            <a:off x="9237287" y="1434661"/>
            <a:ext cx="144283" cy="1128068"/>
          </a:xfrm>
          <a:prstGeom prst="rightBrace">
            <a:avLst>
              <a:gd name="adj1" fmla="val 8333"/>
              <a:gd name="adj2" fmla="val 52257"/>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1460408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1410B2-7CD7-623E-ADAE-1984EF278A6F}"/>
              </a:ext>
            </a:extLst>
          </p:cNvPr>
          <p:cNvPicPr>
            <a:picLocks noChangeAspect="1"/>
          </p:cNvPicPr>
          <p:nvPr/>
        </p:nvPicPr>
        <p:blipFill>
          <a:blip r:embed="rId3"/>
          <a:stretch>
            <a:fillRect/>
          </a:stretch>
        </p:blipFill>
        <p:spPr>
          <a:xfrm>
            <a:off x="2461528" y="0"/>
            <a:ext cx="7503012" cy="6858000"/>
          </a:xfrm>
          <a:prstGeom prst="rect">
            <a:avLst/>
          </a:prstGeom>
        </p:spPr>
      </p:pic>
    </p:spTree>
    <p:extLst>
      <p:ext uri="{BB962C8B-B14F-4D97-AF65-F5344CB8AC3E}">
        <p14:creationId xmlns:p14="http://schemas.microsoft.com/office/powerpoint/2010/main" val="1720328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CBB9-D69F-3CA4-890C-BB078990A6D9}"/>
            </a:ext>
          </a:extLst>
        </p:cNvPr>
        <p:cNvGrpSpPr/>
        <p:nvPr/>
      </p:nvGrpSpPr>
      <p:grpSpPr>
        <a:xfrm>
          <a:off x="0" y="0"/>
          <a:ext cx="0" cy="0"/>
          <a:chOff x="0" y="0"/>
          <a:chExt cx="0" cy="0"/>
        </a:xfrm>
      </p:grpSpPr>
      <p:pic>
        <p:nvPicPr>
          <p:cNvPr id="3" name="Picture 3" descr="A map of the island of the ocean&#10;&#10;Description automatically generated with medium confidence">
            <a:extLst>
              <a:ext uri="{FF2B5EF4-FFF2-40B4-BE49-F238E27FC236}">
                <a16:creationId xmlns:a16="http://schemas.microsoft.com/office/drawing/2014/main" id="{A3FDD227-DE38-B4F4-8F75-B659F20C6B2D}"/>
              </a:ext>
            </a:extLst>
          </p:cNvPr>
          <p:cNvPicPr>
            <a:picLocks noChangeAspect="1"/>
          </p:cNvPicPr>
          <p:nvPr/>
        </p:nvPicPr>
        <p:blipFill>
          <a:blip r:embed="rId3">
            <a:extLst>
              <a:ext uri="{28A0092B-C50C-407E-A947-70E740481C1C}">
                <a14:useLocalDpi xmlns:a14="http://schemas.microsoft.com/office/drawing/2010/main" val="0"/>
              </a:ext>
            </a:extLst>
          </a:blip>
          <a:srcRect l="19751" t="15626" r="9894"/>
          <a:stretch/>
        </p:blipFill>
        <p:spPr>
          <a:xfrm>
            <a:off x="2209801" y="221984"/>
            <a:ext cx="8305800" cy="6414032"/>
          </a:xfrm>
          <a:prstGeom prst="rect">
            <a:avLst/>
          </a:prstGeom>
        </p:spPr>
      </p:pic>
      <p:cxnSp>
        <p:nvCxnSpPr>
          <p:cNvPr id="5" name="Gerade Verbindung mit Pfeil 4">
            <a:extLst>
              <a:ext uri="{FF2B5EF4-FFF2-40B4-BE49-F238E27FC236}">
                <a16:creationId xmlns:a16="http://schemas.microsoft.com/office/drawing/2014/main" id="{07C5371B-9370-1A01-9C16-3FBF537F19AF}"/>
              </a:ext>
            </a:extLst>
          </p:cNvPr>
          <p:cNvCxnSpPr>
            <a:cxnSpLocks/>
          </p:cNvCxnSpPr>
          <p:nvPr/>
        </p:nvCxnSpPr>
        <p:spPr>
          <a:xfrm>
            <a:off x="3712029" y="435429"/>
            <a:ext cx="0" cy="5965371"/>
          </a:xfrm>
          <a:prstGeom prst="straightConnector1">
            <a:avLst/>
          </a:prstGeom>
          <a:ln w="76200">
            <a:solidFill>
              <a:srgbClr val="00B0F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8" name="Textfeld 7">
            <a:extLst>
              <a:ext uri="{FF2B5EF4-FFF2-40B4-BE49-F238E27FC236}">
                <a16:creationId xmlns:a16="http://schemas.microsoft.com/office/drawing/2014/main" id="{E240EF3F-7C23-F727-4E0F-A518E9BAE2E0}"/>
              </a:ext>
            </a:extLst>
          </p:cNvPr>
          <p:cNvSpPr txBox="1"/>
          <p:nvPr/>
        </p:nvSpPr>
        <p:spPr>
          <a:xfrm>
            <a:off x="1132113" y="2471057"/>
            <a:ext cx="1894113" cy="830997"/>
          </a:xfrm>
          <a:prstGeom prst="rect">
            <a:avLst/>
          </a:prstGeom>
          <a:noFill/>
        </p:spPr>
        <p:txBody>
          <a:bodyPr wrap="square" rtlCol="0">
            <a:spAutoFit/>
          </a:bodyPr>
          <a:lstStyle/>
          <a:p>
            <a:r>
              <a:rPr lang="de-DE" sz="4800" dirty="0">
                <a:solidFill>
                  <a:srgbClr val="00B0F0"/>
                </a:solidFill>
              </a:rPr>
              <a:t>Depth</a:t>
            </a:r>
          </a:p>
        </p:txBody>
      </p:sp>
    </p:spTree>
    <p:extLst>
      <p:ext uri="{BB962C8B-B14F-4D97-AF65-F5344CB8AC3E}">
        <p14:creationId xmlns:p14="http://schemas.microsoft.com/office/powerpoint/2010/main" val="2525519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E43D7-0D1F-65DC-0C91-6BC694C7B739}"/>
              </a:ext>
            </a:extLst>
          </p:cNvPr>
          <p:cNvSpPr>
            <a:spLocks noGrp="1"/>
          </p:cNvSpPr>
          <p:nvPr>
            <p:ph type="title"/>
          </p:nvPr>
        </p:nvSpPr>
        <p:spPr/>
        <p:txBody>
          <a:bodyPr/>
          <a:lstStyle/>
          <a:p>
            <a:r>
              <a:rPr lang="en-US" dirty="0"/>
              <a:t>Confirmed with additional data </a:t>
            </a:r>
            <a:br>
              <a:rPr lang="en-US" dirty="0"/>
            </a:br>
            <a:r>
              <a:rPr lang="en-US" dirty="0"/>
              <a:t>(Blue light/ euphotic zone)</a:t>
            </a:r>
          </a:p>
        </p:txBody>
      </p:sp>
      <p:pic>
        <p:nvPicPr>
          <p:cNvPr id="4" name="Content Placeholder 3">
            <a:extLst>
              <a:ext uri="{FF2B5EF4-FFF2-40B4-BE49-F238E27FC236}">
                <a16:creationId xmlns:a16="http://schemas.microsoft.com/office/drawing/2014/main" id="{63364732-3588-98FF-480A-A499847FFBF2}"/>
              </a:ext>
            </a:extLst>
          </p:cNvPr>
          <p:cNvPicPr>
            <a:picLocks noGrp="1" noChangeAspect="1"/>
          </p:cNvPicPr>
          <p:nvPr>
            <p:ph idx="1"/>
          </p:nvPr>
        </p:nvPicPr>
        <p:blipFill>
          <a:blip r:embed="rId3"/>
          <a:stretch>
            <a:fillRect/>
          </a:stretch>
        </p:blipFill>
        <p:spPr>
          <a:xfrm>
            <a:off x="211183" y="1253331"/>
            <a:ext cx="6000433" cy="5239544"/>
          </a:xfrm>
          <a:prstGeom prst="rect">
            <a:avLst/>
          </a:prstGeom>
        </p:spPr>
      </p:pic>
      <p:pic>
        <p:nvPicPr>
          <p:cNvPr id="1028" name="Picture 4">
            <a:extLst>
              <a:ext uri="{FF2B5EF4-FFF2-40B4-BE49-F238E27FC236}">
                <a16:creationId xmlns:a16="http://schemas.microsoft.com/office/drawing/2014/main" id="{863149D1-CC4E-465A-A08B-87E0BD9E92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1616" y="1598005"/>
            <a:ext cx="1985091" cy="22390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691D6BE-7D83-7AB0-037F-C72FC75D3F3D}"/>
              </a:ext>
            </a:extLst>
          </p:cNvPr>
          <p:cNvSpPr txBox="1"/>
          <p:nvPr/>
        </p:nvSpPr>
        <p:spPr>
          <a:xfrm>
            <a:off x="6453051" y="4468288"/>
            <a:ext cx="5342709" cy="2031325"/>
          </a:xfrm>
          <a:prstGeom prst="rect">
            <a:avLst/>
          </a:prstGeom>
          <a:noFill/>
        </p:spPr>
        <p:txBody>
          <a:bodyPr wrap="square" rtlCol="0">
            <a:spAutoFit/>
          </a:bodyPr>
          <a:lstStyle/>
          <a:p>
            <a:pPr algn="ctr"/>
            <a:r>
              <a:rPr lang="en-US" b="1" dirty="0"/>
              <a:t>HYPOTHESIS</a:t>
            </a:r>
          </a:p>
          <a:p>
            <a:r>
              <a:rPr lang="en-US" dirty="0"/>
              <a:t>-Plankton rejects heavier carbon </a:t>
            </a:r>
            <a:r>
              <a:rPr lang="en-US" baseline="30000" dirty="0"/>
              <a:t>13</a:t>
            </a:r>
            <a:r>
              <a:rPr lang="en-US" dirty="0"/>
              <a:t>C when sunlight is less intense (up </a:t>
            </a:r>
            <a:r>
              <a:rPr lang="en-US"/>
              <a:t>to 50 </a:t>
            </a:r>
            <a:r>
              <a:rPr lang="en-US" dirty="0"/>
              <a:t>m depth for blue light).</a:t>
            </a:r>
          </a:p>
          <a:p>
            <a:r>
              <a:rPr lang="en-US" dirty="0"/>
              <a:t>- The excess </a:t>
            </a:r>
            <a:r>
              <a:rPr lang="en-US" baseline="30000" dirty="0"/>
              <a:t>13</a:t>
            </a:r>
            <a:r>
              <a:rPr lang="en-US" dirty="0"/>
              <a:t>C is the used by the coral to build its skeleton. </a:t>
            </a:r>
          </a:p>
          <a:p>
            <a:r>
              <a:rPr lang="en-US" dirty="0"/>
              <a:t>- The relationship looks linear in shallow water but must be exponential and saturate at some depth.</a:t>
            </a:r>
          </a:p>
        </p:txBody>
      </p:sp>
      <p:pic>
        <p:nvPicPr>
          <p:cNvPr id="1032" name="Picture 8" descr="Jmse 04 00080 g009">
            <a:extLst>
              <a:ext uri="{FF2B5EF4-FFF2-40B4-BE49-F238E27FC236}">
                <a16:creationId xmlns:a16="http://schemas.microsoft.com/office/drawing/2014/main" id="{A81E77C4-73F0-AA12-57C0-6BEFEEFAAE6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36865" y="1081508"/>
            <a:ext cx="2915658" cy="27555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B5DCA7E-F478-6F05-4280-D4F4679CF904}"/>
              </a:ext>
            </a:extLst>
          </p:cNvPr>
          <p:cNvSpPr txBox="1"/>
          <p:nvPr/>
        </p:nvSpPr>
        <p:spPr>
          <a:xfrm>
            <a:off x="9063922" y="3839887"/>
            <a:ext cx="2828018" cy="307777"/>
          </a:xfrm>
          <a:prstGeom prst="rect">
            <a:avLst/>
          </a:prstGeom>
          <a:noFill/>
        </p:spPr>
        <p:txBody>
          <a:bodyPr wrap="none" rtlCol="0">
            <a:spAutoFit/>
          </a:bodyPr>
          <a:lstStyle/>
          <a:p>
            <a:r>
              <a:rPr lang="en-US" sz="1400" b="0" i="0" dirty="0">
                <a:solidFill>
                  <a:srgbClr val="222222"/>
                </a:solidFill>
                <a:effectLst/>
                <a:latin typeface="Helvetica Neue" panose="02000503000000020004" pitchFamily="2" charset="0"/>
              </a:rPr>
              <a:t>Abdelrahman, Mohamed A. 2016</a:t>
            </a:r>
            <a:endParaRPr lang="en-US" sz="1400" b="1" dirty="0"/>
          </a:p>
        </p:txBody>
      </p:sp>
      <p:sp>
        <p:nvSpPr>
          <p:cNvPr id="11" name="Freeform 10">
            <a:extLst>
              <a:ext uri="{FF2B5EF4-FFF2-40B4-BE49-F238E27FC236}">
                <a16:creationId xmlns:a16="http://schemas.microsoft.com/office/drawing/2014/main" id="{37FC4074-7C2B-F034-2940-D550B0628E68}"/>
              </a:ext>
            </a:extLst>
          </p:cNvPr>
          <p:cNvSpPr/>
          <p:nvPr/>
        </p:nvSpPr>
        <p:spPr>
          <a:xfrm>
            <a:off x="1945532" y="1721796"/>
            <a:ext cx="3715966" cy="4212076"/>
          </a:xfrm>
          <a:custGeom>
            <a:avLst/>
            <a:gdLst>
              <a:gd name="connsiteX0" fmla="*/ 3715966 w 3715966"/>
              <a:gd name="connsiteY0" fmla="*/ 0 h 4212076"/>
              <a:gd name="connsiteX1" fmla="*/ 856034 w 3715966"/>
              <a:gd name="connsiteY1" fmla="*/ 2762655 h 4212076"/>
              <a:gd name="connsiteX2" fmla="*/ 0 w 3715966"/>
              <a:gd name="connsiteY2" fmla="*/ 4212076 h 4212076"/>
            </a:gdLst>
            <a:ahLst/>
            <a:cxnLst>
              <a:cxn ang="0">
                <a:pos x="connsiteX0" y="connsiteY0"/>
              </a:cxn>
              <a:cxn ang="0">
                <a:pos x="connsiteX1" y="connsiteY1"/>
              </a:cxn>
              <a:cxn ang="0">
                <a:pos x="connsiteX2" y="connsiteY2"/>
              </a:cxn>
            </a:cxnLst>
            <a:rect l="l" t="t" r="r" b="b"/>
            <a:pathLst>
              <a:path w="3715966" h="4212076">
                <a:moveTo>
                  <a:pt x="3715966" y="0"/>
                </a:moveTo>
                <a:cubicBezTo>
                  <a:pt x="2595664" y="1030321"/>
                  <a:pt x="1475362" y="2060642"/>
                  <a:pt x="856034" y="2762655"/>
                </a:cubicBezTo>
                <a:cubicBezTo>
                  <a:pt x="236706" y="3464668"/>
                  <a:pt x="118353" y="3838372"/>
                  <a:pt x="0" y="4212076"/>
                </a:cubicBezTo>
              </a:path>
            </a:pathLst>
          </a:cu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7885F1-7F20-411F-6BC8-146F126DEDEE}"/>
              </a:ext>
            </a:extLst>
          </p:cNvPr>
          <p:cNvSpPr txBox="1"/>
          <p:nvPr/>
        </p:nvSpPr>
        <p:spPr>
          <a:xfrm>
            <a:off x="2185130" y="5420003"/>
            <a:ext cx="2756983" cy="369332"/>
          </a:xfrm>
          <a:prstGeom prst="rect">
            <a:avLst/>
          </a:prstGeom>
          <a:noFill/>
        </p:spPr>
        <p:txBody>
          <a:bodyPr wrap="square" rtlCol="0">
            <a:spAutoFit/>
          </a:bodyPr>
          <a:lstStyle/>
          <a:p>
            <a:r>
              <a:rPr lang="en-US" dirty="0"/>
              <a:t>? Expected behavior</a:t>
            </a:r>
          </a:p>
        </p:txBody>
      </p:sp>
    </p:spTree>
    <p:extLst>
      <p:ext uri="{BB962C8B-B14F-4D97-AF65-F5344CB8AC3E}">
        <p14:creationId xmlns:p14="http://schemas.microsoft.com/office/powerpoint/2010/main" val="2597174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7C274-5D29-CCDD-9CF0-083A76894728}"/>
            </a:ext>
          </a:extLst>
        </p:cNvPr>
        <p:cNvGrpSpPr/>
        <p:nvPr/>
      </p:nvGrpSpPr>
      <p:grpSpPr>
        <a:xfrm>
          <a:off x="0" y="0"/>
          <a:ext cx="0" cy="0"/>
          <a:chOff x="0" y="0"/>
          <a:chExt cx="0" cy="0"/>
        </a:xfrm>
      </p:grpSpPr>
      <p:pic>
        <p:nvPicPr>
          <p:cNvPr id="3" name="Picture 3" descr="A map of the island of the ocean&#10;&#10;Description automatically generated with medium confidence">
            <a:extLst>
              <a:ext uri="{FF2B5EF4-FFF2-40B4-BE49-F238E27FC236}">
                <a16:creationId xmlns:a16="http://schemas.microsoft.com/office/drawing/2014/main" id="{1577C3EE-5EFB-7DC3-F2C7-3610B30333B2}"/>
              </a:ext>
            </a:extLst>
          </p:cNvPr>
          <p:cNvPicPr>
            <a:picLocks noChangeAspect="1"/>
          </p:cNvPicPr>
          <p:nvPr/>
        </p:nvPicPr>
        <p:blipFill>
          <a:blip r:embed="rId3">
            <a:extLst>
              <a:ext uri="{28A0092B-C50C-407E-A947-70E740481C1C}">
                <a14:useLocalDpi xmlns:a14="http://schemas.microsoft.com/office/drawing/2010/main" val="0"/>
              </a:ext>
            </a:extLst>
          </a:blip>
          <a:srcRect l="19751" t="15626" r="9894"/>
          <a:stretch/>
        </p:blipFill>
        <p:spPr>
          <a:xfrm>
            <a:off x="2209801" y="221984"/>
            <a:ext cx="8305800" cy="6414032"/>
          </a:xfrm>
          <a:prstGeom prst="rect">
            <a:avLst/>
          </a:prstGeom>
        </p:spPr>
      </p:pic>
      <p:cxnSp>
        <p:nvCxnSpPr>
          <p:cNvPr id="5" name="Gerade Verbindung mit Pfeil 4">
            <a:extLst>
              <a:ext uri="{FF2B5EF4-FFF2-40B4-BE49-F238E27FC236}">
                <a16:creationId xmlns:a16="http://schemas.microsoft.com/office/drawing/2014/main" id="{F69A061B-02E7-BEBF-E851-72472361E4D6}"/>
              </a:ext>
            </a:extLst>
          </p:cNvPr>
          <p:cNvCxnSpPr/>
          <p:nvPr/>
        </p:nvCxnSpPr>
        <p:spPr>
          <a:xfrm>
            <a:off x="2394857" y="1883229"/>
            <a:ext cx="8262257" cy="0"/>
          </a:xfrm>
          <a:prstGeom prst="straightConnector1">
            <a:avLst/>
          </a:prstGeom>
          <a:ln w="762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 name="Textfeld 1">
            <a:extLst>
              <a:ext uri="{FF2B5EF4-FFF2-40B4-BE49-F238E27FC236}">
                <a16:creationId xmlns:a16="http://schemas.microsoft.com/office/drawing/2014/main" id="{DD40015E-7117-82D3-BCEC-197FBE608C2A}"/>
              </a:ext>
            </a:extLst>
          </p:cNvPr>
          <p:cNvSpPr txBox="1"/>
          <p:nvPr/>
        </p:nvSpPr>
        <p:spPr>
          <a:xfrm>
            <a:off x="1132113" y="2471057"/>
            <a:ext cx="1894113" cy="830997"/>
          </a:xfrm>
          <a:prstGeom prst="rect">
            <a:avLst/>
          </a:prstGeom>
          <a:noFill/>
        </p:spPr>
        <p:txBody>
          <a:bodyPr wrap="square" rtlCol="0">
            <a:spAutoFit/>
          </a:bodyPr>
          <a:lstStyle/>
          <a:p>
            <a:r>
              <a:rPr lang="de-DE" sz="4800" dirty="0">
                <a:solidFill>
                  <a:srgbClr val="FF0000"/>
                </a:solidFill>
              </a:rPr>
              <a:t>Age</a:t>
            </a:r>
          </a:p>
        </p:txBody>
      </p:sp>
    </p:spTree>
    <p:extLst>
      <p:ext uri="{BB962C8B-B14F-4D97-AF65-F5344CB8AC3E}">
        <p14:creationId xmlns:p14="http://schemas.microsoft.com/office/powerpoint/2010/main" val="125867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3CB04923-6A67-A93A-E550-0C161DBCA2D6}"/>
              </a:ext>
            </a:extLst>
          </p:cNvPr>
          <p:cNvPicPr>
            <a:picLocks noChangeAspect="1"/>
          </p:cNvPicPr>
          <p:nvPr/>
        </p:nvPicPr>
        <p:blipFill>
          <a:blip r:embed="rId3"/>
          <a:srcRect t="7361" b="7361"/>
          <a:stretch/>
        </p:blipFill>
        <p:spPr>
          <a:xfrm>
            <a:off x="1186543" y="843270"/>
            <a:ext cx="9165780" cy="5862330"/>
          </a:xfrm>
          <a:prstGeom prst="rect">
            <a:avLst/>
          </a:prstGeom>
        </p:spPr>
      </p:pic>
      <p:sp>
        <p:nvSpPr>
          <p:cNvPr id="5" name="Textfeld 4">
            <a:extLst>
              <a:ext uri="{FF2B5EF4-FFF2-40B4-BE49-F238E27FC236}">
                <a16:creationId xmlns:a16="http://schemas.microsoft.com/office/drawing/2014/main" id="{7337D28E-C3D8-7A48-9FBA-14A7D2AE00D6}"/>
              </a:ext>
            </a:extLst>
          </p:cNvPr>
          <p:cNvSpPr txBox="1"/>
          <p:nvPr/>
        </p:nvSpPr>
        <p:spPr>
          <a:xfrm>
            <a:off x="1186543" y="334070"/>
            <a:ext cx="6096000" cy="769441"/>
          </a:xfrm>
          <a:prstGeom prst="rect">
            <a:avLst/>
          </a:prstGeom>
          <a:noFill/>
        </p:spPr>
        <p:txBody>
          <a:bodyPr wrap="square">
            <a:spAutoFit/>
          </a:bodyPr>
          <a:lstStyle/>
          <a:p>
            <a:r>
              <a:rPr lang="el-GR" sz="4400" dirty="0"/>
              <a:t>δ13</a:t>
            </a:r>
            <a:r>
              <a:rPr lang="de-DE" sz="4400" dirty="0"/>
              <a:t>C in Coral</a:t>
            </a:r>
          </a:p>
        </p:txBody>
      </p:sp>
    </p:spTree>
    <p:extLst>
      <p:ext uri="{BB962C8B-B14F-4D97-AF65-F5344CB8AC3E}">
        <p14:creationId xmlns:p14="http://schemas.microsoft.com/office/powerpoint/2010/main" val="3269683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52AF-09A6-6191-A29E-BC946BA1B258}"/>
            </a:ext>
          </a:extLst>
        </p:cNvPr>
        <p:cNvGrpSpPr/>
        <p:nvPr/>
      </p:nvGrpSpPr>
      <p:grpSpPr>
        <a:xfrm>
          <a:off x="0" y="0"/>
          <a:ext cx="0" cy="0"/>
          <a:chOff x="0" y="0"/>
          <a:chExt cx="0" cy="0"/>
        </a:xfrm>
      </p:grpSpPr>
      <p:pic>
        <p:nvPicPr>
          <p:cNvPr id="11" name="Grafik 10">
            <a:extLst>
              <a:ext uri="{FF2B5EF4-FFF2-40B4-BE49-F238E27FC236}">
                <a16:creationId xmlns:a16="http://schemas.microsoft.com/office/drawing/2014/main" id="{499299D6-461B-7A03-0983-3F9C6291F645}"/>
              </a:ext>
            </a:extLst>
          </p:cNvPr>
          <p:cNvPicPr>
            <a:picLocks noChangeAspect="1"/>
          </p:cNvPicPr>
          <p:nvPr/>
        </p:nvPicPr>
        <p:blipFill>
          <a:blip r:embed="rId2"/>
          <a:srcRect t="9613" b="5108"/>
          <a:stretch/>
        </p:blipFill>
        <p:spPr>
          <a:xfrm>
            <a:off x="1186543" y="995670"/>
            <a:ext cx="9165780" cy="5862330"/>
          </a:xfrm>
          <a:prstGeom prst="rect">
            <a:avLst/>
          </a:prstGeom>
        </p:spPr>
      </p:pic>
      <p:sp>
        <p:nvSpPr>
          <p:cNvPr id="5" name="Textfeld 4">
            <a:extLst>
              <a:ext uri="{FF2B5EF4-FFF2-40B4-BE49-F238E27FC236}">
                <a16:creationId xmlns:a16="http://schemas.microsoft.com/office/drawing/2014/main" id="{92A30BE7-EF31-8137-EC9F-CB81C4492216}"/>
              </a:ext>
            </a:extLst>
          </p:cNvPr>
          <p:cNvSpPr txBox="1"/>
          <p:nvPr/>
        </p:nvSpPr>
        <p:spPr>
          <a:xfrm>
            <a:off x="1186543" y="334070"/>
            <a:ext cx="6096000" cy="769441"/>
          </a:xfrm>
          <a:prstGeom prst="rect">
            <a:avLst/>
          </a:prstGeom>
          <a:noFill/>
        </p:spPr>
        <p:txBody>
          <a:bodyPr wrap="square">
            <a:spAutoFit/>
          </a:bodyPr>
          <a:lstStyle/>
          <a:p>
            <a:r>
              <a:rPr lang="de-DE" sz="4400" dirty="0"/>
              <a:t>Relative </a:t>
            </a:r>
            <a:r>
              <a:rPr lang="de-DE" sz="4400" dirty="0" err="1"/>
              <a:t>Sea</a:t>
            </a:r>
            <a:r>
              <a:rPr lang="de-DE" sz="4400" dirty="0"/>
              <a:t> Level Trend</a:t>
            </a:r>
          </a:p>
        </p:txBody>
      </p:sp>
    </p:spTree>
    <p:extLst>
      <p:ext uri="{BB962C8B-B14F-4D97-AF65-F5344CB8AC3E}">
        <p14:creationId xmlns:p14="http://schemas.microsoft.com/office/powerpoint/2010/main" val="2096009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4DC5A-5434-80F7-9A16-B81F8AC17A3E}"/>
            </a:ext>
          </a:extLst>
        </p:cNvPr>
        <p:cNvGrpSpPr/>
        <p:nvPr/>
      </p:nvGrpSpPr>
      <p:grpSpPr>
        <a:xfrm>
          <a:off x="0" y="0"/>
          <a:ext cx="0" cy="0"/>
          <a:chOff x="0" y="0"/>
          <a:chExt cx="0" cy="0"/>
        </a:xfrm>
      </p:grpSpPr>
      <p:pic>
        <p:nvPicPr>
          <p:cNvPr id="11" name="Grafik 10">
            <a:extLst>
              <a:ext uri="{FF2B5EF4-FFF2-40B4-BE49-F238E27FC236}">
                <a16:creationId xmlns:a16="http://schemas.microsoft.com/office/drawing/2014/main" id="{F7494695-9E81-A185-97F3-CF3E9AD5604F}"/>
              </a:ext>
            </a:extLst>
          </p:cNvPr>
          <p:cNvPicPr>
            <a:picLocks noChangeAspect="1"/>
          </p:cNvPicPr>
          <p:nvPr/>
        </p:nvPicPr>
        <p:blipFill>
          <a:blip r:embed="rId3"/>
          <a:srcRect t="50716" r="5326" b="5108"/>
          <a:stretch/>
        </p:blipFill>
        <p:spPr>
          <a:xfrm>
            <a:off x="406896" y="1910614"/>
            <a:ext cx="11538056" cy="4037799"/>
          </a:xfrm>
          <a:prstGeom prst="rect">
            <a:avLst/>
          </a:prstGeom>
        </p:spPr>
      </p:pic>
      <p:sp>
        <p:nvSpPr>
          <p:cNvPr id="5" name="Textfeld 4">
            <a:extLst>
              <a:ext uri="{FF2B5EF4-FFF2-40B4-BE49-F238E27FC236}">
                <a16:creationId xmlns:a16="http://schemas.microsoft.com/office/drawing/2014/main" id="{659B1910-2570-F2CF-B163-E544A3615B21}"/>
              </a:ext>
            </a:extLst>
          </p:cNvPr>
          <p:cNvSpPr txBox="1"/>
          <p:nvPr/>
        </p:nvSpPr>
        <p:spPr>
          <a:xfrm>
            <a:off x="1186543" y="334070"/>
            <a:ext cx="6096000" cy="769441"/>
          </a:xfrm>
          <a:prstGeom prst="rect">
            <a:avLst/>
          </a:prstGeom>
          <a:noFill/>
        </p:spPr>
        <p:txBody>
          <a:bodyPr wrap="square">
            <a:spAutoFit/>
          </a:bodyPr>
          <a:lstStyle/>
          <a:p>
            <a:r>
              <a:rPr lang="de-DE" sz="4400" dirty="0"/>
              <a:t>Relative </a:t>
            </a:r>
            <a:r>
              <a:rPr lang="de-DE" sz="4400" dirty="0" err="1"/>
              <a:t>Sea</a:t>
            </a:r>
            <a:r>
              <a:rPr lang="de-DE" sz="4400" dirty="0"/>
              <a:t> Level Trend</a:t>
            </a:r>
          </a:p>
        </p:txBody>
      </p:sp>
      <p:sp>
        <p:nvSpPr>
          <p:cNvPr id="2" name="Textfeld 1">
            <a:extLst>
              <a:ext uri="{FF2B5EF4-FFF2-40B4-BE49-F238E27FC236}">
                <a16:creationId xmlns:a16="http://schemas.microsoft.com/office/drawing/2014/main" id="{AB49F9EF-8ACA-6A99-7700-B5092287A054}"/>
              </a:ext>
            </a:extLst>
          </p:cNvPr>
          <p:cNvSpPr txBox="1"/>
          <p:nvPr/>
        </p:nvSpPr>
        <p:spPr>
          <a:xfrm rot="19159151">
            <a:off x="4113458" y="2890103"/>
            <a:ext cx="1251949" cy="646331"/>
          </a:xfrm>
          <a:prstGeom prst="rect">
            <a:avLst/>
          </a:prstGeom>
          <a:noFill/>
        </p:spPr>
        <p:txBody>
          <a:bodyPr wrap="square" rtlCol="0">
            <a:spAutoFit/>
          </a:bodyPr>
          <a:lstStyle/>
          <a:p>
            <a:r>
              <a:rPr lang="de-DE" sz="3600" dirty="0">
                <a:solidFill>
                  <a:srgbClr val="FF0000"/>
                </a:solidFill>
              </a:rPr>
              <a:t>SSE</a:t>
            </a:r>
            <a:endParaRPr lang="de-DE" dirty="0">
              <a:solidFill>
                <a:srgbClr val="FF0000"/>
              </a:solidFill>
            </a:endParaRPr>
          </a:p>
        </p:txBody>
      </p:sp>
      <p:cxnSp>
        <p:nvCxnSpPr>
          <p:cNvPr id="4" name="Gerade Verbindung mit Pfeil 3">
            <a:extLst>
              <a:ext uri="{FF2B5EF4-FFF2-40B4-BE49-F238E27FC236}">
                <a16:creationId xmlns:a16="http://schemas.microsoft.com/office/drawing/2014/main" id="{E16F51F3-5B8A-1E34-EA98-D490F99F7C82}"/>
              </a:ext>
            </a:extLst>
          </p:cNvPr>
          <p:cNvCxnSpPr>
            <a:cxnSpLocks/>
          </p:cNvCxnSpPr>
          <p:nvPr/>
        </p:nvCxnSpPr>
        <p:spPr>
          <a:xfrm flipV="1">
            <a:off x="4054069" y="2954956"/>
            <a:ext cx="1826967" cy="141451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2" name="Freihandform: Form 11">
            <a:extLst>
              <a:ext uri="{FF2B5EF4-FFF2-40B4-BE49-F238E27FC236}">
                <a16:creationId xmlns:a16="http://schemas.microsoft.com/office/drawing/2014/main" id="{3CF10F82-3BAE-22C8-4C15-E89AC412A252}"/>
              </a:ext>
            </a:extLst>
          </p:cNvPr>
          <p:cNvSpPr/>
          <p:nvPr/>
        </p:nvSpPr>
        <p:spPr>
          <a:xfrm>
            <a:off x="6116376" y="2918290"/>
            <a:ext cx="1771047" cy="948089"/>
          </a:xfrm>
          <a:custGeom>
            <a:avLst/>
            <a:gdLst>
              <a:gd name="connsiteX0" fmla="*/ 0 w 1597793"/>
              <a:gd name="connsiteY0" fmla="*/ 0 h 1047539"/>
              <a:gd name="connsiteX1" fmla="*/ 202130 w 1597793"/>
              <a:gd name="connsiteY1" fmla="*/ 462013 h 1047539"/>
              <a:gd name="connsiteX2" fmla="*/ 558265 w 1597793"/>
              <a:gd name="connsiteY2" fmla="*/ 808523 h 1047539"/>
              <a:gd name="connsiteX3" fmla="*/ 1010652 w 1597793"/>
              <a:gd name="connsiteY3" fmla="*/ 1039529 h 1047539"/>
              <a:gd name="connsiteX4" fmla="*/ 1597793 w 1597793"/>
              <a:gd name="connsiteY4" fmla="*/ 972152 h 1047539"/>
              <a:gd name="connsiteX0" fmla="*/ 0 w 1636294"/>
              <a:gd name="connsiteY0" fmla="*/ 0 h 922411"/>
              <a:gd name="connsiteX1" fmla="*/ 240631 w 1636294"/>
              <a:gd name="connsiteY1" fmla="*/ 336885 h 922411"/>
              <a:gd name="connsiteX2" fmla="*/ 596766 w 1636294"/>
              <a:gd name="connsiteY2" fmla="*/ 683395 h 922411"/>
              <a:gd name="connsiteX3" fmla="*/ 1049153 w 1636294"/>
              <a:gd name="connsiteY3" fmla="*/ 914401 h 922411"/>
              <a:gd name="connsiteX4" fmla="*/ 1636294 w 1636294"/>
              <a:gd name="connsiteY4" fmla="*/ 847024 h 922411"/>
              <a:gd name="connsiteX0" fmla="*/ 0 w 1636294"/>
              <a:gd name="connsiteY0" fmla="*/ 0 h 922411"/>
              <a:gd name="connsiteX1" fmla="*/ 240631 w 1636294"/>
              <a:gd name="connsiteY1" fmla="*/ 336885 h 922411"/>
              <a:gd name="connsiteX2" fmla="*/ 683393 w 1636294"/>
              <a:gd name="connsiteY2" fmla="*/ 760398 h 922411"/>
              <a:gd name="connsiteX3" fmla="*/ 1049153 w 1636294"/>
              <a:gd name="connsiteY3" fmla="*/ 914401 h 922411"/>
              <a:gd name="connsiteX4" fmla="*/ 1636294 w 1636294"/>
              <a:gd name="connsiteY4" fmla="*/ 847024 h 922411"/>
              <a:gd name="connsiteX0" fmla="*/ 0 w 1636294"/>
              <a:gd name="connsiteY0" fmla="*/ 0 h 949017"/>
              <a:gd name="connsiteX1" fmla="*/ 240631 w 1636294"/>
              <a:gd name="connsiteY1" fmla="*/ 336885 h 949017"/>
              <a:gd name="connsiteX2" fmla="*/ 683393 w 1636294"/>
              <a:gd name="connsiteY2" fmla="*/ 760398 h 949017"/>
              <a:gd name="connsiteX3" fmla="*/ 1174281 w 1636294"/>
              <a:gd name="connsiteY3" fmla="*/ 943277 h 949017"/>
              <a:gd name="connsiteX4" fmla="*/ 1636294 w 1636294"/>
              <a:gd name="connsiteY4" fmla="*/ 847024 h 949017"/>
              <a:gd name="connsiteX0" fmla="*/ 0 w 1761422"/>
              <a:gd name="connsiteY0" fmla="*/ 0 h 958603"/>
              <a:gd name="connsiteX1" fmla="*/ 240631 w 1761422"/>
              <a:gd name="connsiteY1" fmla="*/ 336885 h 958603"/>
              <a:gd name="connsiteX2" fmla="*/ 683393 w 1761422"/>
              <a:gd name="connsiteY2" fmla="*/ 760398 h 958603"/>
              <a:gd name="connsiteX3" fmla="*/ 1174281 w 1761422"/>
              <a:gd name="connsiteY3" fmla="*/ 943277 h 958603"/>
              <a:gd name="connsiteX4" fmla="*/ 1761422 w 1761422"/>
              <a:gd name="connsiteY4" fmla="*/ 914401 h 958603"/>
              <a:gd name="connsiteX0" fmla="*/ 0 w 1771047"/>
              <a:gd name="connsiteY0" fmla="*/ 0 h 948089"/>
              <a:gd name="connsiteX1" fmla="*/ 240631 w 1771047"/>
              <a:gd name="connsiteY1" fmla="*/ 336885 h 948089"/>
              <a:gd name="connsiteX2" fmla="*/ 683393 w 1771047"/>
              <a:gd name="connsiteY2" fmla="*/ 760398 h 948089"/>
              <a:gd name="connsiteX3" fmla="*/ 1174281 w 1771047"/>
              <a:gd name="connsiteY3" fmla="*/ 943277 h 948089"/>
              <a:gd name="connsiteX4" fmla="*/ 1771047 w 1771047"/>
              <a:gd name="connsiteY4" fmla="*/ 827774 h 948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1047" h="948089">
                <a:moveTo>
                  <a:pt x="0" y="0"/>
                </a:moveTo>
                <a:cubicBezTo>
                  <a:pt x="54543" y="163629"/>
                  <a:pt x="126732" y="210152"/>
                  <a:pt x="240631" y="336885"/>
                </a:cubicBezTo>
                <a:cubicBezTo>
                  <a:pt x="354530" y="463618"/>
                  <a:pt x="527785" y="659333"/>
                  <a:pt x="683393" y="760398"/>
                </a:cubicBezTo>
                <a:cubicBezTo>
                  <a:pt x="839001" y="861463"/>
                  <a:pt x="1001026" y="916006"/>
                  <a:pt x="1174281" y="943277"/>
                </a:cubicBezTo>
                <a:cubicBezTo>
                  <a:pt x="1347536" y="970549"/>
                  <a:pt x="1564104" y="875098"/>
                  <a:pt x="1771047" y="827774"/>
                </a:cubicBezTo>
              </a:path>
            </a:pathLst>
          </a:custGeom>
          <a:noFill/>
          <a:ln w="63500">
            <a:solidFill>
              <a:srgbClr val="00206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extfeld 12">
            <a:extLst>
              <a:ext uri="{FF2B5EF4-FFF2-40B4-BE49-F238E27FC236}">
                <a16:creationId xmlns:a16="http://schemas.microsoft.com/office/drawing/2014/main" id="{18E220BF-7220-D293-4D13-C5D54B513E43}"/>
              </a:ext>
            </a:extLst>
          </p:cNvPr>
          <p:cNvSpPr txBox="1"/>
          <p:nvPr/>
        </p:nvSpPr>
        <p:spPr>
          <a:xfrm rot="19159151">
            <a:off x="7608372" y="3790147"/>
            <a:ext cx="1251949" cy="646331"/>
          </a:xfrm>
          <a:prstGeom prst="rect">
            <a:avLst/>
          </a:prstGeom>
          <a:noFill/>
        </p:spPr>
        <p:txBody>
          <a:bodyPr wrap="square" rtlCol="0">
            <a:spAutoFit/>
          </a:bodyPr>
          <a:lstStyle/>
          <a:p>
            <a:r>
              <a:rPr lang="de-DE" sz="3600" dirty="0">
                <a:solidFill>
                  <a:srgbClr val="FF0000"/>
                </a:solidFill>
              </a:rPr>
              <a:t>SSE</a:t>
            </a:r>
            <a:endParaRPr lang="de-DE" dirty="0">
              <a:solidFill>
                <a:srgbClr val="FF0000"/>
              </a:solidFill>
            </a:endParaRPr>
          </a:p>
        </p:txBody>
      </p:sp>
      <p:cxnSp>
        <p:nvCxnSpPr>
          <p:cNvPr id="14" name="Gerade Verbindung mit Pfeil 13">
            <a:extLst>
              <a:ext uri="{FF2B5EF4-FFF2-40B4-BE49-F238E27FC236}">
                <a16:creationId xmlns:a16="http://schemas.microsoft.com/office/drawing/2014/main" id="{CA589ED6-B41C-CA9E-02E9-E2DC9F47D7C9}"/>
              </a:ext>
            </a:extLst>
          </p:cNvPr>
          <p:cNvCxnSpPr>
            <a:cxnSpLocks/>
          </p:cNvCxnSpPr>
          <p:nvPr/>
        </p:nvCxnSpPr>
        <p:spPr>
          <a:xfrm flipV="1">
            <a:off x="7583236" y="3320716"/>
            <a:ext cx="1079054" cy="70063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Freihandform: Form 15">
            <a:extLst>
              <a:ext uri="{FF2B5EF4-FFF2-40B4-BE49-F238E27FC236}">
                <a16:creationId xmlns:a16="http://schemas.microsoft.com/office/drawing/2014/main" id="{BA42EC9A-9FBE-CA68-55FB-147B52F363B0}"/>
              </a:ext>
            </a:extLst>
          </p:cNvPr>
          <p:cNvSpPr/>
          <p:nvPr/>
        </p:nvSpPr>
        <p:spPr>
          <a:xfrm>
            <a:off x="8567398" y="3357731"/>
            <a:ext cx="2184934" cy="1164656"/>
          </a:xfrm>
          <a:custGeom>
            <a:avLst/>
            <a:gdLst>
              <a:gd name="connsiteX0" fmla="*/ 0 w 1597793"/>
              <a:gd name="connsiteY0" fmla="*/ 0 h 1047539"/>
              <a:gd name="connsiteX1" fmla="*/ 202130 w 1597793"/>
              <a:gd name="connsiteY1" fmla="*/ 462013 h 1047539"/>
              <a:gd name="connsiteX2" fmla="*/ 558265 w 1597793"/>
              <a:gd name="connsiteY2" fmla="*/ 808523 h 1047539"/>
              <a:gd name="connsiteX3" fmla="*/ 1010652 w 1597793"/>
              <a:gd name="connsiteY3" fmla="*/ 1039529 h 1047539"/>
              <a:gd name="connsiteX4" fmla="*/ 1597793 w 1597793"/>
              <a:gd name="connsiteY4" fmla="*/ 972152 h 1047539"/>
              <a:gd name="connsiteX0" fmla="*/ 0 w 1636294"/>
              <a:gd name="connsiteY0" fmla="*/ 0 h 922411"/>
              <a:gd name="connsiteX1" fmla="*/ 240631 w 1636294"/>
              <a:gd name="connsiteY1" fmla="*/ 336885 h 922411"/>
              <a:gd name="connsiteX2" fmla="*/ 596766 w 1636294"/>
              <a:gd name="connsiteY2" fmla="*/ 683395 h 922411"/>
              <a:gd name="connsiteX3" fmla="*/ 1049153 w 1636294"/>
              <a:gd name="connsiteY3" fmla="*/ 914401 h 922411"/>
              <a:gd name="connsiteX4" fmla="*/ 1636294 w 1636294"/>
              <a:gd name="connsiteY4" fmla="*/ 847024 h 922411"/>
              <a:gd name="connsiteX0" fmla="*/ 0 w 1636294"/>
              <a:gd name="connsiteY0" fmla="*/ 0 h 922411"/>
              <a:gd name="connsiteX1" fmla="*/ 240631 w 1636294"/>
              <a:gd name="connsiteY1" fmla="*/ 336885 h 922411"/>
              <a:gd name="connsiteX2" fmla="*/ 683393 w 1636294"/>
              <a:gd name="connsiteY2" fmla="*/ 760398 h 922411"/>
              <a:gd name="connsiteX3" fmla="*/ 1049153 w 1636294"/>
              <a:gd name="connsiteY3" fmla="*/ 914401 h 922411"/>
              <a:gd name="connsiteX4" fmla="*/ 1636294 w 1636294"/>
              <a:gd name="connsiteY4" fmla="*/ 847024 h 922411"/>
              <a:gd name="connsiteX0" fmla="*/ 0 w 1636294"/>
              <a:gd name="connsiteY0" fmla="*/ 0 h 949017"/>
              <a:gd name="connsiteX1" fmla="*/ 240631 w 1636294"/>
              <a:gd name="connsiteY1" fmla="*/ 336885 h 949017"/>
              <a:gd name="connsiteX2" fmla="*/ 683393 w 1636294"/>
              <a:gd name="connsiteY2" fmla="*/ 760398 h 949017"/>
              <a:gd name="connsiteX3" fmla="*/ 1174281 w 1636294"/>
              <a:gd name="connsiteY3" fmla="*/ 943277 h 949017"/>
              <a:gd name="connsiteX4" fmla="*/ 1636294 w 1636294"/>
              <a:gd name="connsiteY4" fmla="*/ 847024 h 949017"/>
              <a:gd name="connsiteX0" fmla="*/ 0 w 1761422"/>
              <a:gd name="connsiteY0" fmla="*/ 0 h 958603"/>
              <a:gd name="connsiteX1" fmla="*/ 240631 w 1761422"/>
              <a:gd name="connsiteY1" fmla="*/ 336885 h 958603"/>
              <a:gd name="connsiteX2" fmla="*/ 683393 w 1761422"/>
              <a:gd name="connsiteY2" fmla="*/ 760398 h 958603"/>
              <a:gd name="connsiteX3" fmla="*/ 1174281 w 1761422"/>
              <a:gd name="connsiteY3" fmla="*/ 943277 h 958603"/>
              <a:gd name="connsiteX4" fmla="*/ 1761422 w 1761422"/>
              <a:gd name="connsiteY4" fmla="*/ 914401 h 958603"/>
              <a:gd name="connsiteX0" fmla="*/ 0 w 1771047"/>
              <a:gd name="connsiteY0" fmla="*/ 0 h 948089"/>
              <a:gd name="connsiteX1" fmla="*/ 240631 w 1771047"/>
              <a:gd name="connsiteY1" fmla="*/ 336885 h 948089"/>
              <a:gd name="connsiteX2" fmla="*/ 683393 w 1771047"/>
              <a:gd name="connsiteY2" fmla="*/ 760398 h 948089"/>
              <a:gd name="connsiteX3" fmla="*/ 1174281 w 1771047"/>
              <a:gd name="connsiteY3" fmla="*/ 943277 h 948089"/>
              <a:gd name="connsiteX4" fmla="*/ 1771047 w 1771047"/>
              <a:gd name="connsiteY4" fmla="*/ 827774 h 948089"/>
              <a:gd name="connsiteX0" fmla="*/ 0 w 2002054"/>
              <a:gd name="connsiteY0" fmla="*/ 0 h 1332128"/>
              <a:gd name="connsiteX1" fmla="*/ 240631 w 2002054"/>
              <a:gd name="connsiteY1" fmla="*/ 336885 h 1332128"/>
              <a:gd name="connsiteX2" fmla="*/ 683393 w 2002054"/>
              <a:gd name="connsiteY2" fmla="*/ 760398 h 1332128"/>
              <a:gd name="connsiteX3" fmla="*/ 1174281 w 2002054"/>
              <a:gd name="connsiteY3" fmla="*/ 943277 h 1332128"/>
              <a:gd name="connsiteX4" fmla="*/ 2002054 w 2002054"/>
              <a:gd name="connsiteY4" fmla="*/ 1328287 h 1332128"/>
              <a:gd name="connsiteX0" fmla="*/ 0 w 2002054"/>
              <a:gd name="connsiteY0" fmla="*/ 0 h 1332602"/>
              <a:gd name="connsiteX1" fmla="*/ 240631 w 2002054"/>
              <a:gd name="connsiteY1" fmla="*/ 336885 h 1332602"/>
              <a:gd name="connsiteX2" fmla="*/ 683393 w 2002054"/>
              <a:gd name="connsiteY2" fmla="*/ 760398 h 1332602"/>
              <a:gd name="connsiteX3" fmla="*/ 1453414 w 2002054"/>
              <a:gd name="connsiteY3" fmla="*/ 991403 h 1332602"/>
              <a:gd name="connsiteX4" fmla="*/ 2002054 w 2002054"/>
              <a:gd name="connsiteY4" fmla="*/ 1328287 h 1332602"/>
              <a:gd name="connsiteX0" fmla="*/ 0 w 2002054"/>
              <a:gd name="connsiteY0" fmla="*/ 0 h 1332602"/>
              <a:gd name="connsiteX1" fmla="*/ 240631 w 2002054"/>
              <a:gd name="connsiteY1" fmla="*/ 336885 h 1332602"/>
              <a:gd name="connsiteX2" fmla="*/ 808522 w 2002054"/>
              <a:gd name="connsiteY2" fmla="*/ 808524 h 1332602"/>
              <a:gd name="connsiteX3" fmla="*/ 1453414 w 2002054"/>
              <a:gd name="connsiteY3" fmla="*/ 991403 h 1332602"/>
              <a:gd name="connsiteX4" fmla="*/ 2002054 w 2002054"/>
              <a:gd name="connsiteY4" fmla="*/ 1328287 h 1332602"/>
              <a:gd name="connsiteX0" fmla="*/ 0 w 2002054"/>
              <a:gd name="connsiteY0" fmla="*/ 0 h 1332602"/>
              <a:gd name="connsiteX1" fmla="*/ 308008 w 2002054"/>
              <a:gd name="connsiteY1" fmla="*/ 423513 h 1332602"/>
              <a:gd name="connsiteX2" fmla="*/ 808522 w 2002054"/>
              <a:gd name="connsiteY2" fmla="*/ 808524 h 1332602"/>
              <a:gd name="connsiteX3" fmla="*/ 1453414 w 2002054"/>
              <a:gd name="connsiteY3" fmla="*/ 991403 h 1332602"/>
              <a:gd name="connsiteX4" fmla="*/ 2002054 w 2002054"/>
              <a:gd name="connsiteY4" fmla="*/ 1328287 h 1332602"/>
              <a:gd name="connsiteX0" fmla="*/ 0 w 1963553"/>
              <a:gd name="connsiteY0" fmla="*/ 0 h 1322977"/>
              <a:gd name="connsiteX1" fmla="*/ 269507 w 1963553"/>
              <a:gd name="connsiteY1" fmla="*/ 413888 h 1322977"/>
              <a:gd name="connsiteX2" fmla="*/ 770021 w 1963553"/>
              <a:gd name="connsiteY2" fmla="*/ 798899 h 1322977"/>
              <a:gd name="connsiteX3" fmla="*/ 1414913 w 1963553"/>
              <a:gd name="connsiteY3" fmla="*/ 981778 h 1322977"/>
              <a:gd name="connsiteX4" fmla="*/ 1963553 w 1963553"/>
              <a:gd name="connsiteY4" fmla="*/ 1318662 h 1322977"/>
              <a:gd name="connsiteX0" fmla="*/ 0 w 1694046"/>
              <a:gd name="connsiteY0" fmla="*/ 0 h 909089"/>
              <a:gd name="connsiteX1" fmla="*/ 500514 w 1694046"/>
              <a:gd name="connsiteY1" fmla="*/ 385011 h 909089"/>
              <a:gd name="connsiteX2" fmla="*/ 1145406 w 1694046"/>
              <a:gd name="connsiteY2" fmla="*/ 567890 h 909089"/>
              <a:gd name="connsiteX3" fmla="*/ 1694046 w 1694046"/>
              <a:gd name="connsiteY3" fmla="*/ 904774 h 909089"/>
              <a:gd name="connsiteX0" fmla="*/ 0 w 2050181"/>
              <a:gd name="connsiteY0" fmla="*/ 0 h 1140095"/>
              <a:gd name="connsiteX1" fmla="*/ 856649 w 2050181"/>
              <a:gd name="connsiteY1" fmla="*/ 616017 h 1140095"/>
              <a:gd name="connsiteX2" fmla="*/ 1501541 w 2050181"/>
              <a:gd name="connsiteY2" fmla="*/ 798896 h 1140095"/>
              <a:gd name="connsiteX3" fmla="*/ 2050181 w 2050181"/>
              <a:gd name="connsiteY3" fmla="*/ 1135780 h 1140095"/>
              <a:gd name="connsiteX0" fmla="*/ 0 w 2050181"/>
              <a:gd name="connsiteY0" fmla="*/ 0 h 1135780"/>
              <a:gd name="connsiteX1" fmla="*/ 856649 w 2050181"/>
              <a:gd name="connsiteY1" fmla="*/ 616017 h 1135780"/>
              <a:gd name="connsiteX2" fmla="*/ 2050181 w 2050181"/>
              <a:gd name="connsiteY2" fmla="*/ 1135780 h 1135780"/>
              <a:gd name="connsiteX0" fmla="*/ 0 w 2184934"/>
              <a:gd name="connsiteY0" fmla="*/ 0 h 1164656"/>
              <a:gd name="connsiteX1" fmla="*/ 856649 w 2184934"/>
              <a:gd name="connsiteY1" fmla="*/ 616017 h 1164656"/>
              <a:gd name="connsiteX2" fmla="*/ 2184934 w 2184934"/>
              <a:gd name="connsiteY2" fmla="*/ 1164656 h 1164656"/>
              <a:gd name="connsiteX0" fmla="*/ 0 w 2184934"/>
              <a:gd name="connsiteY0" fmla="*/ 0 h 1164656"/>
              <a:gd name="connsiteX1" fmla="*/ 1097280 w 2184934"/>
              <a:gd name="connsiteY1" fmla="*/ 770021 h 1164656"/>
              <a:gd name="connsiteX2" fmla="*/ 2184934 w 2184934"/>
              <a:gd name="connsiteY2" fmla="*/ 1164656 h 1164656"/>
              <a:gd name="connsiteX0" fmla="*/ 0 w 2184934"/>
              <a:gd name="connsiteY0" fmla="*/ 0 h 1164656"/>
              <a:gd name="connsiteX1" fmla="*/ 1078030 w 2184934"/>
              <a:gd name="connsiteY1" fmla="*/ 702644 h 1164656"/>
              <a:gd name="connsiteX2" fmla="*/ 2184934 w 2184934"/>
              <a:gd name="connsiteY2" fmla="*/ 1164656 h 1164656"/>
            </a:gdLst>
            <a:ahLst/>
            <a:cxnLst>
              <a:cxn ang="0">
                <a:pos x="connsiteX0" y="connsiteY0"/>
              </a:cxn>
              <a:cxn ang="0">
                <a:pos x="connsiteX1" y="connsiteY1"/>
              </a:cxn>
              <a:cxn ang="0">
                <a:pos x="connsiteX2" y="connsiteY2"/>
              </a:cxn>
            </a:cxnLst>
            <a:rect l="l" t="t" r="r" b="b"/>
            <a:pathLst>
              <a:path w="2184934" h="1164656">
                <a:moveTo>
                  <a:pt x="0" y="0"/>
                </a:moveTo>
                <a:cubicBezTo>
                  <a:pt x="128337" y="133150"/>
                  <a:pt x="713874" y="508535"/>
                  <a:pt x="1078030" y="702644"/>
                </a:cubicBezTo>
                <a:cubicBezTo>
                  <a:pt x="1442186" y="896753"/>
                  <a:pt x="1936282" y="1056372"/>
                  <a:pt x="2184934" y="1164656"/>
                </a:cubicBezTo>
              </a:path>
            </a:pathLst>
          </a:custGeom>
          <a:noFill/>
          <a:ln w="63500">
            <a:solidFill>
              <a:srgbClr val="00206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8" name="Gerade Verbindung mit Pfeil 17">
            <a:extLst>
              <a:ext uri="{FF2B5EF4-FFF2-40B4-BE49-F238E27FC236}">
                <a16:creationId xmlns:a16="http://schemas.microsoft.com/office/drawing/2014/main" id="{F34D0F11-85AD-0570-880A-3A0866C2AC70}"/>
              </a:ext>
            </a:extLst>
          </p:cNvPr>
          <p:cNvCxnSpPr>
            <a:cxnSpLocks/>
          </p:cNvCxnSpPr>
          <p:nvPr/>
        </p:nvCxnSpPr>
        <p:spPr>
          <a:xfrm flipV="1">
            <a:off x="10876548" y="3498957"/>
            <a:ext cx="0" cy="1228709"/>
          </a:xfrm>
          <a:prstGeom prst="straightConnector1">
            <a:avLst/>
          </a:prstGeom>
          <a:ln w="127000">
            <a:solidFill>
              <a:srgbClr val="FFFF00"/>
            </a:solidFill>
            <a:tailEnd type="triangle"/>
          </a:ln>
          <a:effectLst>
            <a:glow rad="228600">
              <a:schemeClr val="tx1">
                <a:alpha val="40000"/>
              </a:scheme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6009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endParaRPr/>
          </a:p>
          <a:p>
            <a:pPr>
              <a:defRPr sz="1800"/>
            </a:pPr>
            <a:r>
              <a:t>Corals provide a high-resolution, natural archive for reconstructing seismic cycles over decades to centuries.</a:t>
            </a:r>
          </a:p>
          <a:p>
            <a:pPr>
              <a:defRPr sz="1800"/>
            </a:pPr>
            <a:r>
              <a:t>δ¹³C signals in corals show promise for tracking vertical motion and identifying tectonic events, including earthquakes and slow slip events.</a:t>
            </a:r>
          </a:p>
          <a:p>
            <a:pPr>
              <a:defRPr sz="1800"/>
            </a:pPr>
            <a:r>
              <a:t>Our preliminary results from Parara Island support the potential of stable isotopes to complement traditional paleogeodetic methods.</a:t>
            </a:r>
          </a:p>
          <a:p>
            <a:pPr>
              <a:defRPr sz="1800"/>
            </a:pPr>
            <a:r>
              <a:t>The coral record reveals both sudden and gradual tectonic processes, improving our understanding of seismic hazards in subduction zones.</a:t>
            </a:r>
          </a:p>
          <a:p>
            <a:pPr>
              <a:defRPr sz="1800"/>
            </a:pPr>
            <a:r>
              <a:t>Future work will expand sample coverage and refine δ¹³C-sea level calibrations for more robust reconstructions.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956</Words>
  <Application>Microsoft Office PowerPoint</Application>
  <PresentationFormat>Breitbild</PresentationFormat>
  <Paragraphs>66</Paragraphs>
  <Slides>17</Slides>
  <Notes>15</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17</vt:i4>
      </vt:variant>
    </vt:vector>
  </HeadingPairs>
  <TitlesOfParts>
    <vt:vector size="24" baseType="lpstr">
      <vt:lpstr>Aptos</vt:lpstr>
      <vt:lpstr>Aptos Display</vt:lpstr>
      <vt:lpstr>Arial</vt:lpstr>
      <vt:lpstr>Calibri</vt:lpstr>
      <vt:lpstr>Helvetica Neue</vt:lpstr>
      <vt:lpstr>Wingdings</vt:lpstr>
      <vt:lpstr>Office Theme</vt:lpstr>
      <vt:lpstr>Decadal to Centennial Vertical Paleogeodetic Record of the Seismic Cycle in the Western Solomons from Coral Paleogeodesy and Stable Isotopes</vt:lpstr>
      <vt:lpstr>Earthquake Cycles Reconstruction</vt:lpstr>
      <vt:lpstr>Earthquake Cycles Reconstruction</vt:lpstr>
      <vt:lpstr>Earthquake Cycles Reconstruction</vt:lpstr>
      <vt:lpstr>PowerPoint-Präsentation</vt:lpstr>
      <vt:lpstr>PowerPoint-Präsentation</vt:lpstr>
      <vt:lpstr>After Mw 8.1 2007</vt:lpstr>
      <vt:lpstr>After Mw 8.1 2007</vt:lpstr>
      <vt:lpstr>PowerPoint-Präsentation</vt:lpstr>
      <vt:lpstr>PowerPoint-Präsentation</vt:lpstr>
      <vt:lpstr>PowerPoint-Präsentation</vt:lpstr>
      <vt:lpstr>Confirmed with additional data  (Blue light/ euphotic zone)</vt:lpstr>
      <vt:lpstr>PowerPoint-Präsentation</vt:lpstr>
      <vt:lpstr>PowerPoint-Präsentation</vt:lpstr>
      <vt:lpstr>PowerPoint-Präsentation</vt:lpstr>
      <vt:lpstr>PowerPoint-Präsentation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memo</dc:creator>
  <cp:lastModifiedBy>Mehmet Karaesmen</cp:lastModifiedBy>
  <cp:revision>11</cp:revision>
  <dcterms:created xsi:type="dcterms:W3CDTF">2025-04-26T19:44:06Z</dcterms:created>
  <dcterms:modified xsi:type="dcterms:W3CDTF">2025-05-02T06:34:29Z</dcterms:modified>
</cp:coreProperties>
</file>