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6" r:id="rId1"/>
  </p:sldMasterIdLst>
  <p:notesMasterIdLst>
    <p:notesMasterId r:id="rId23"/>
  </p:notesMasterIdLst>
  <p:sldIdLst>
    <p:sldId id="256" r:id="rId2"/>
    <p:sldId id="257" r:id="rId3"/>
    <p:sldId id="258" r:id="rId4"/>
    <p:sldId id="295" r:id="rId5"/>
    <p:sldId id="296" r:id="rId6"/>
    <p:sldId id="286" r:id="rId7"/>
    <p:sldId id="259" r:id="rId8"/>
    <p:sldId id="287" r:id="rId9"/>
    <p:sldId id="285" r:id="rId10"/>
    <p:sldId id="267" r:id="rId11"/>
    <p:sldId id="277" r:id="rId12"/>
    <p:sldId id="260" r:id="rId13"/>
    <p:sldId id="291" r:id="rId14"/>
    <p:sldId id="292" r:id="rId15"/>
    <p:sldId id="261" r:id="rId16"/>
    <p:sldId id="284" r:id="rId17"/>
    <p:sldId id="294" r:id="rId18"/>
    <p:sldId id="290" r:id="rId19"/>
    <p:sldId id="289" r:id="rId20"/>
    <p:sldId id="288" r:id="rId21"/>
    <p:sldId id="293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214D1"/>
    <a:srgbClr val="CF125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6A57153-87B6-4EFB-802C-160732B77DDC}" type="datetimeFigureOut">
              <a:rPr lang="en-US" smtClean="0"/>
              <a:t>06-Nov-25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B324280-E99D-4449-B21D-E1A1183465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53716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324280-E99D-4449-B21D-E1A118346595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62313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CDCCA7-29A1-4D24-8D10-3CA8A5740AFF}" type="slidenum">
              <a:rPr lang="de-DE" smtClean="0"/>
              <a:t>7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623577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45610A-17B4-4656-93CF-E1D9982860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0080" y="1371599"/>
            <a:ext cx="6675120" cy="2951825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51C80B-DFD6-415B-BA5B-E56E510CD1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0080" y="4584879"/>
            <a:ext cx="6675120" cy="1287887"/>
          </a:xfrm>
        </p:spPr>
        <p:txBody>
          <a:bodyPr anchor="b">
            <a:normAutofit/>
          </a:bodyPr>
          <a:lstStyle>
            <a:lvl1pPr marL="0" indent="0" algn="l">
              <a:lnSpc>
                <a:spcPct val="130000"/>
              </a:lnSpc>
              <a:buNone/>
              <a:defRPr sz="1800" b="1" cap="all" spc="3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A2065B-06FF-4991-9F8A-4BE25457B4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4479B-705B-4489-957E-7E8A228BDFA0}" type="datetime1">
              <a:rPr lang="en-US" smtClean="0"/>
              <a:t>06-Nov-25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0DF2FA-C604-45D8-A633-11D3742EC1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EE5DA9-2D04-4850-AB9F-BD35381650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53091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8B246-6A68-46BE-9DBD-614FA8CF4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E47706-8D18-4093-A7C1-F30D7543CE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C7C8FC-AAEA-4AB6-9DB5-2503F58F0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9F774-3FA6-43B8-9241-99959C8FD463}" type="datetime1">
              <a:rPr lang="en-US" smtClean="0"/>
              <a:t>06-Nov-25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B1616B-3F08-4869-A522-773C38940F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030CE6-9124-4B3A-A912-AE16B5C34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63111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1BB59B6-79B9-97F5-AC3B-DF65899D39D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C78885-57B2-4930-BD7D-CBF916EDF1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291366"/>
            <a:ext cx="9214884" cy="3159974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E495E4-2F8B-4CC7-88AC-A312067E60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5018567"/>
            <a:ext cx="7907079" cy="1073889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585CC9-BAD3-4807-90BB-97DA2D6A6B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04452-5DCC-4FE2-A5C9-8A5EF6714D65}" type="datetime1">
              <a:rPr lang="en-US" smtClean="0"/>
              <a:t>06-Nov-25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108CEF-165F-4D7E-9666-5CD0156B49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0EBC3D-3277-4D34-9F67-71040C21E3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F05EAE5-4812-F718-6D75-9627884180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6281" y="4715234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333503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B477A4-4D01-45B6-9563-0BF13BA72F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E17E00-96AC-45F0-82B2-9F601E9B93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40080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BA30CD-95C0-427B-A571-A7D8A53278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18928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F67CAC-53E4-44AF-BEAC-8FFB96F05A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79ABC2-0180-4F3A-A895-A85BC724D472}" type="datetime1">
              <a:rPr lang="en-US" smtClean="0"/>
              <a:t>06-Nov-25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3D9F3A-E7F0-45E7-AFA8-0D4A669EC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5F008B-58BB-45FF-923F-5909DAB49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66155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97B549-9E51-42E0-992A-73E7759577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599"/>
            <a:ext cx="10890929" cy="93975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1A5FDC-7C4B-45FB-8462-E2CE79919F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79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D8B686-2E92-45B9-A3D7-9DCAA0C50B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0079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6ADB526-4A44-47B6-8D14-93202E590A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18928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4177CA-5C13-4311-BFD3-B98FBD942D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18928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DEA255A-4CB5-40CA-B756-1AA5E27C20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EEA9BA-4E8F-439E-BEA4-91FBA01E3F5F}" type="datetime1">
              <a:rPr lang="en-US" smtClean="0"/>
              <a:t>06-Nov-25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F3072C4-10F1-49B8-B0BF-69204EDDCF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A5ACC97-44C1-4887-909B-E6732D3C1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80811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27D313-943A-47E0-8A7A-DFFBCC297A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3AC25A7-81C8-4AA1-AD9F-C78A451FDE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5BF18-0007-481C-AA29-413124BC3EE7}" type="datetime1">
              <a:rPr lang="en-US" smtClean="0"/>
              <a:t>06-Nov-25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F54740-6022-46B2-9C55-B60E965168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9497C9-6B5E-46D6-8FE9-0A5E0CF7F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48521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" name="Rectangle 4">
            <a:extLst>
              <a:ext uri="{FF2B5EF4-FFF2-40B4-BE49-F238E27FC236}">
                <a16:creationId xmlns:a16="http://schemas.microsoft.com/office/drawing/2014/main" id="{149F9F0F-FB8C-5565-247C-BDCC156B5CA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2740D3C-270A-401A-810C-2F86BBBB87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E9870-3748-43AD-B547-02A075CB4A1D}" type="datetime1">
              <a:rPr lang="en-US" smtClean="0"/>
              <a:t>06-Nov-25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DCBE9F8-1765-4F36-A4DE-1DB136025A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90CF9E-A6C6-4873-ADBE-7A2939319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20487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8CDF8-00AD-4441-A6D5-9D7A659EB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C330AF-CB7E-420A-AE8A-E02E903258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36519" y="1031001"/>
            <a:ext cx="6594490" cy="516636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3257AD-2422-4CDA-9C55-700F4B5BF2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8"/>
            <a:ext cx="3859397" cy="322682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1B7454-C1CC-46F2-A6FB-1FE786C48F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E7897-33C5-4F1A-9307-D068E37F3DC7}" type="datetime1">
              <a:rPr lang="en-US" smtClean="0"/>
              <a:t>06-Nov-25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077DBE-6CC7-421B-AB5E-341E20BD92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6EAB8F-7526-4CDB-B782-FAD8B3E70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36199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31647F-5A61-44C9-81DC-331C9AE5DD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1627A0F-F1B8-49BE-A0FF-7FE16E3BDCC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937760" y="1033271"/>
            <a:ext cx="6592824" cy="516636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6D1BD6-1519-4431-9FAF-7D4F412997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7"/>
            <a:ext cx="3859397" cy="322682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A587A0-353B-42C2-BA96-B1ADEDF642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171BA-CC09-47C8-A6DF-F5C5CB59CEEC}" type="datetime1">
              <a:rPr lang="en-US" smtClean="0"/>
              <a:t>06-Nov-25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D5A88E-3957-4B76-B1BE-4164029217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F7C5FD-E56A-4C66-8F23-087F95A2F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30352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E4BB7-3F30-4C31-9BB2-8EC24FC0A1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CF4134-70F5-4EE6-88BE-49D129630C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9EABC7-C044-44DE-B303-55A0581DA1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B66AD-7C08-490A-ADA4-B47E10FB2407}" type="datetime1">
              <a:rPr lang="en-US" smtClean="0"/>
              <a:t>06-Nov-25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A63E1-5BC5-402E-9916-BAB84BCF0B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2EF915-AF64-4ECC-8B1A-B7E6A89B79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78746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1CB3635-47E1-90D8-B693-DA85A66B383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Vertical Title 1">
            <a:extLst>
              <a:ext uri="{FF2B5EF4-FFF2-40B4-BE49-F238E27FC236}">
                <a16:creationId xmlns:a16="http://schemas.microsoft.com/office/drawing/2014/main" id="{6EB09414-2AA1-4D8E-A00A-C092FBC92D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09219" y="640079"/>
            <a:ext cx="1811773" cy="553688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2C3A78-37C5-46D0-9DF4-CB78AF883C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40080" y="640080"/>
            <a:ext cx="8412422" cy="553688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D8705E-925D-4F57-8268-107CE3CF4C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95027-4255-49E7-9841-CD21BCC99996}" type="datetime1">
              <a:rPr lang="en-US" smtClean="0"/>
              <a:t>06-Nov-25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FE207E-070D-4EC8-A44C-21F1815FDA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5D01D1-C266-4161-A820-C084B9801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230604F-219C-2DEE-830E-27274CC2FE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rot="5400000">
            <a:off x="10872154" y="1192438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091097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AB4E786-7636-4278-8595-D365D28A79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601"/>
            <a:ext cx="10890929" cy="109728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740849-7059-4C70-992B-5304D2EE9B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2633472"/>
            <a:ext cx="10890928" cy="35661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9FEBF6-CEA6-4332-87B3-697807571C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4008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DA38F49-B3E2-4BF0-BEC7-C30D34ABBB8D}" type="datetime1">
              <a:rPr lang="en-US" smtClean="0"/>
              <a:t>06-Nov-25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6BAF94-621C-43E1-BA0C-410A689903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67622" y="6356350"/>
            <a:ext cx="40403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7D19E5-9E16-48C9-AAE2-0C70679A8D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07995" y="6356350"/>
            <a:ext cx="7230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824713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  <p:sldLayoutId id="2147483682" r:id="rId2"/>
    <p:sldLayoutId id="2147483683" r:id="rId3"/>
    <p:sldLayoutId id="2147483684" r:id="rId4"/>
    <p:sldLayoutId id="2147483685" r:id="rId5"/>
    <p:sldLayoutId id="2147483679" r:id="rId6"/>
    <p:sldLayoutId id="2147483675" r:id="rId7"/>
    <p:sldLayoutId id="2147483676" r:id="rId8"/>
    <p:sldLayoutId id="2147483677" r:id="rId9"/>
    <p:sldLayoutId id="2147483678" r:id="rId10"/>
    <p:sldLayoutId id="2147483680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87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93776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51560" indent="-28575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sv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5.svg"/><Relationship Id="rId4" Type="http://schemas.openxmlformats.org/officeDocument/2006/relationships/image" Target="../media/image24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9F9BF86-FE94-4517-B97D-026C7515E5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2934384-770C-8991-A672-7742ED4BE70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37528" y="1032764"/>
            <a:ext cx="4308672" cy="3224045"/>
          </a:xfrm>
        </p:spPr>
        <p:txBody>
          <a:bodyPr anchor="b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600"/>
              <a:t>A new method for paleogeodesy with stable isotopes in corals from Solomon Islands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7913127-B312-9948-B099-B27DC60AA1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535756" y="5046281"/>
            <a:ext cx="4308672" cy="1172408"/>
          </a:xfrm>
        </p:spPr>
        <p:txBody>
          <a:bodyPr anchor="t">
            <a:normAutofit/>
          </a:bodyPr>
          <a:lstStyle/>
          <a:p>
            <a:r>
              <a:rPr lang="en-US" dirty="0"/>
              <a:t>M. Ege Karaesmen</a:t>
            </a:r>
          </a:p>
          <a:p>
            <a:r>
              <a:rPr lang="en-US" dirty="0"/>
              <a:t>November 6</a:t>
            </a:r>
            <a:r>
              <a:rPr lang="en-US" baseline="30000" dirty="0"/>
              <a:t>th</a:t>
            </a:r>
            <a:r>
              <a:rPr lang="en-US" dirty="0"/>
              <a:t>, 2025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9A45102-5F29-D6AC-B4E9-D368213C456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100" r="12100"/>
          <a:stretch/>
        </p:blipFill>
        <p:spPr>
          <a:xfrm>
            <a:off x="20" y="10"/>
            <a:ext cx="6931132" cy="6857990"/>
          </a:xfrm>
          <a:prstGeom prst="rect">
            <a:avLst/>
          </a:prstGeom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6CA391F1-4B2C-521B-F6A5-52C74B3034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675848" y="4711579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68A94BE2-16F1-EB2B-927E-7B8585FB7CC7}"/>
              </a:ext>
            </a:extLst>
          </p:cNvPr>
          <p:cNvSpPr txBox="1"/>
          <p:nvPr/>
        </p:nvSpPr>
        <p:spPr>
          <a:xfrm>
            <a:off x="6876647" y="6628587"/>
            <a:ext cx="1318217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 err="1"/>
              <a:t>wikipedia.en</a:t>
            </a:r>
            <a:endParaRPr lang="en-US" sz="1000" dirty="0"/>
          </a:p>
        </p:txBody>
      </p:sp>
      <p:pic>
        <p:nvPicPr>
          <p:cNvPr id="6" name="Grafik 7">
            <a:extLst>
              <a:ext uri="{FF2B5EF4-FFF2-40B4-BE49-F238E27FC236}">
                <a16:creationId xmlns:a16="http://schemas.microsoft.com/office/drawing/2014/main" id="{01648072-FE7E-98AC-E9A8-C7461B474B7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736531" y="0"/>
            <a:ext cx="3455469" cy="720377"/>
          </a:xfrm>
          <a:prstGeom prst="rect">
            <a:avLst/>
          </a:prstGeom>
        </p:spPr>
      </p:pic>
      <p:pic>
        <p:nvPicPr>
          <p:cNvPr id="7" name="Grafik 9">
            <a:extLst>
              <a:ext uri="{FF2B5EF4-FFF2-40B4-BE49-F238E27FC236}">
                <a16:creationId xmlns:a16="http://schemas.microsoft.com/office/drawing/2014/main" id="{15CD3BF0-2646-3876-CDE1-6A08D002DE9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15059"/>
            <a:ext cx="1568435" cy="14106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33939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19E542-3BD0-6B8C-E54B-784F97EBE2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Coral </a:t>
            </a:r>
            <a:r>
              <a:rPr lang="en-US" dirty="0" err="1"/>
              <a:t>Paleogeodesy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F80F73-B70D-C8C6-DAAE-FA0B9F177B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What &amp; how?</a:t>
            </a:r>
          </a:p>
          <a:p>
            <a:pPr marL="0" indent="0">
              <a:buNone/>
            </a:pPr>
            <a:r>
              <a:rPr lang="en-US" dirty="0"/>
              <a:t>Surface deformation in the past is captured by </a:t>
            </a:r>
            <a:r>
              <a:rPr lang="en-US" b="1" dirty="0"/>
              <a:t>the corals</a:t>
            </a:r>
            <a:endParaRPr lang="en-US" dirty="0"/>
          </a:p>
          <a:p>
            <a:pPr lvl="1"/>
            <a:r>
              <a:rPr lang="en-US" dirty="0"/>
              <a:t>It is known that the coral morphology is an indicator (Philibosian 2025)</a:t>
            </a:r>
          </a:p>
          <a:p>
            <a:pPr lvl="1"/>
            <a:r>
              <a:rPr lang="en-US" b="1" dirty="0"/>
              <a:t>We propose </a:t>
            </a:r>
            <a:r>
              <a:rPr lang="en-US" dirty="0"/>
              <a:t>using the </a:t>
            </a:r>
            <a:r>
              <a:rPr lang="el-GR" dirty="0">
                <a:latin typeface="Grandview Display" panose="020B0502040204020203" pitchFamily="34" charset="0"/>
              </a:rPr>
              <a:t>δ</a:t>
            </a:r>
            <a:r>
              <a:rPr lang="en-US" baseline="30000" dirty="0">
                <a:latin typeface="Grandview Display" panose="020B0502040204020203" pitchFamily="34" charset="0"/>
              </a:rPr>
              <a:t>13</a:t>
            </a:r>
            <a:r>
              <a:rPr lang="en-US" dirty="0">
                <a:latin typeface="Grandview Display" panose="020B0502040204020203" pitchFamily="34" charset="0"/>
              </a:rPr>
              <a:t>C time series</a:t>
            </a:r>
          </a:p>
        </p:txBody>
      </p:sp>
      <p:pic>
        <p:nvPicPr>
          <p:cNvPr id="1026" name="Picture 2" descr="WWC The Grinch Porites - World Wide Corals">
            <a:extLst>
              <a:ext uri="{FF2B5EF4-FFF2-40B4-BE49-F238E27FC236}">
                <a16:creationId xmlns:a16="http://schemas.microsoft.com/office/drawing/2014/main" id="{97E8F48E-F6D2-1943-15D8-809C1B80CE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31718" y="166036"/>
            <a:ext cx="3262964" cy="32629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FA2ED47-9905-18D5-63C2-A3B5CA8A6A96}"/>
              </a:ext>
            </a:extLst>
          </p:cNvPr>
          <p:cNvSpPr txBox="1"/>
          <p:nvPr/>
        </p:nvSpPr>
        <p:spPr>
          <a:xfrm>
            <a:off x="10674219" y="3388185"/>
            <a:ext cx="1318217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/>
              <a:t>bulkreefsupply.com</a:t>
            </a:r>
          </a:p>
        </p:txBody>
      </p:sp>
    </p:spTree>
    <p:extLst>
      <p:ext uri="{BB962C8B-B14F-4D97-AF65-F5344CB8AC3E}">
        <p14:creationId xmlns:p14="http://schemas.microsoft.com/office/powerpoint/2010/main" val="36081214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3CD92A-4B3F-CFE1-478D-FCD31189B6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1DA2DCD6-9E30-756E-1390-E1105724DD4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9341" t="4546" r="4927" b="4166"/>
          <a:stretch>
            <a:fillRect/>
          </a:stretch>
        </p:blipFill>
        <p:spPr>
          <a:xfrm>
            <a:off x="6576965" y="3421367"/>
            <a:ext cx="4430057" cy="302448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5831911-EC84-3199-09D1-D6139C7714D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50527"/>
          <a:stretch>
            <a:fillRect/>
          </a:stretch>
        </p:blipFill>
        <p:spPr>
          <a:xfrm>
            <a:off x="6096000" y="123138"/>
            <a:ext cx="4616559" cy="319156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B950B78-05BF-957E-5D24-C63AD81248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Coral </a:t>
            </a:r>
            <a:r>
              <a:rPr lang="en-US" dirty="0" err="1"/>
              <a:t>Paleogeodesy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823E1F-C79B-EF74-6ADF-2A6E8A4D6B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Why?</a:t>
            </a:r>
          </a:p>
          <a:p>
            <a:pPr marL="0" indent="0">
              <a:buNone/>
            </a:pPr>
            <a:r>
              <a:rPr lang="en-US" dirty="0"/>
              <a:t>Establish the detailed parameters in </a:t>
            </a:r>
            <a:br>
              <a:rPr lang="en-US" dirty="0"/>
            </a:br>
            <a:r>
              <a:rPr lang="en-US" dirty="0"/>
              <a:t>addition to </a:t>
            </a:r>
            <a:r>
              <a:rPr lang="en-US" b="1" dirty="0"/>
              <a:t>timing of past earthquakes</a:t>
            </a:r>
          </a:p>
          <a:p>
            <a:pPr lvl="1"/>
            <a:r>
              <a:rPr lang="en-US" dirty="0"/>
              <a:t>Slow Slip Events (SSEs)</a:t>
            </a:r>
          </a:p>
          <a:p>
            <a:pPr lvl="1"/>
            <a:r>
              <a:rPr lang="en-US" dirty="0"/>
              <a:t>Slip distribution</a:t>
            </a:r>
          </a:p>
          <a:p>
            <a:pPr lvl="1"/>
            <a:r>
              <a:rPr lang="en-US" dirty="0"/>
              <a:t>Rupture length ?</a:t>
            </a:r>
          </a:p>
          <a:p>
            <a:pPr lvl="1"/>
            <a:r>
              <a:rPr lang="en-US" dirty="0"/>
              <a:t>Width ?</a:t>
            </a:r>
          </a:p>
          <a:p>
            <a:pPr lvl="1"/>
            <a:r>
              <a:rPr lang="en-US" dirty="0"/>
              <a:t>Multiple EQ cycles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A1F31B0-74C1-337D-C5DD-328EE15098B5}"/>
              </a:ext>
            </a:extLst>
          </p:cNvPr>
          <p:cNvSpPr txBox="1"/>
          <p:nvPr/>
        </p:nvSpPr>
        <p:spPr>
          <a:xfrm>
            <a:off x="10364295" y="6199632"/>
            <a:ext cx="1285454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/>
              <a:t>Philibosian 2025</a:t>
            </a:r>
          </a:p>
        </p:txBody>
      </p:sp>
      <p:pic>
        <p:nvPicPr>
          <p:cNvPr id="10" name="Graphic 9" descr="Work from home Wi-Fi with solid fill">
            <a:extLst>
              <a:ext uri="{FF2B5EF4-FFF2-40B4-BE49-F238E27FC236}">
                <a16:creationId xmlns:a16="http://schemas.microsoft.com/office/drawing/2014/main" id="{F4C31AD9-A3FD-4687-B88B-9AA98F86696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897368" y="1882909"/>
            <a:ext cx="356615" cy="356615"/>
          </a:xfrm>
          <a:prstGeom prst="rect">
            <a:avLst/>
          </a:prstGeom>
        </p:spPr>
      </p:pic>
      <p:pic>
        <p:nvPicPr>
          <p:cNvPr id="11" name="Graphic 10" descr="Work from home Wi-Fi with solid fill">
            <a:extLst>
              <a:ext uri="{FF2B5EF4-FFF2-40B4-BE49-F238E27FC236}">
                <a16:creationId xmlns:a16="http://schemas.microsoft.com/office/drawing/2014/main" id="{C1169965-E1F2-7FBC-AAA3-AE454DDA471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897367" y="5062715"/>
            <a:ext cx="356615" cy="3566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18280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066228-F056-9CF4-1563-8E19EF168F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8295"/>
            <a:ext cx="10515600" cy="1325563"/>
          </a:xfrm>
        </p:spPr>
        <p:txBody>
          <a:bodyPr/>
          <a:lstStyle/>
          <a:p>
            <a:r>
              <a:rPr lang="en-US" noProof="0" dirty="0"/>
              <a:t>Earthquake Cycles Reconstruction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755901-7994-2F60-134E-AD765BAE17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48854" y="1902032"/>
            <a:ext cx="5346970" cy="4727367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Reconstruct vertical tectonics over 100s to 1000s years using coral </a:t>
            </a:r>
            <a:r>
              <a:rPr lang="en-US" dirty="0" err="1"/>
              <a:t>paleogeodesy</a:t>
            </a:r>
            <a:br>
              <a:rPr lang="en-US" dirty="0"/>
            </a:br>
            <a:endParaRPr lang="en-US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Including tectonic motion over multiple seismic cycles</a:t>
            </a:r>
            <a:br>
              <a:rPr lang="en-US" dirty="0"/>
            </a:br>
            <a:endParaRPr lang="en-US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Infer viscoelastic properties</a:t>
            </a:r>
            <a:br>
              <a:rPr lang="en-US" dirty="0"/>
            </a:br>
            <a:endParaRPr lang="en-US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Slow slip events + Precursory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dirty="0"/>
          </a:p>
          <a:p>
            <a:pPr>
              <a:buFont typeface="Wingdings" panose="05000000000000000000" pitchFamily="2" charset="2"/>
              <a:buChar char="Ø"/>
            </a:pPr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754C914-5088-131C-60F6-EFA39B8AFF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161638"/>
            <a:ext cx="4649528" cy="2525843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66851062-5EB4-CCD1-5BB8-B250A884C6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9061" y="3687481"/>
            <a:ext cx="4649528" cy="320535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452CD26-F934-E422-23FE-3B36708274EF}"/>
              </a:ext>
            </a:extLst>
          </p:cNvPr>
          <p:cNvSpPr txBox="1"/>
          <p:nvPr/>
        </p:nvSpPr>
        <p:spPr>
          <a:xfrm>
            <a:off x="4142606" y="3876627"/>
            <a:ext cx="26902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Ono Oncken, (2018)</a:t>
            </a:r>
          </a:p>
        </p:txBody>
      </p:sp>
    </p:spTree>
    <p:extLst>
      <p:ext uri="{BB962C8B-B14F-4D97-AF65-F5344CB8AC3E}">
        <p14:creationId xmlns:p14="http://schemas.microsoft.com/office/powerpoint/2010/main" val="14622154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ACFD32-15D9-4CCC-97E8-6AEE616B5A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A5E843-4B21-4D34-90F0-962380AB60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8295"/>
            <a:ext cx="10515600" cy="1325563"/>
          </a:xfrm>
        </p:spPr>
        <p:txBody>
          <a:bodyPr/>
          <a:lstStyle/>
          <a:p>
            <a:r>
              <a:rPr lang="en-US" noProof="0" dirty="0"/>
              <a:t>Earthquake Cycles Reconstruction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258BE3-AECE-46A3-BF95-A82DD80757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48854" y="1902032"/>
            <a:ext cx="5346970" cy="4727367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Reconstruct vertical tectonics over 100s to 1000s years using coral </a:t>
            </a:r>
            <a:r>
              <a:rPr lang="en-US" dirty="0" err="1"/>
              <a:t>paleogeodesy</a:t>
            </a:r>
            <a:br>
              <a:rPr lang="en-US" dirty="0"/>
            </a:br>
            <a:endParaRPr lang="en-US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Including tectonic motion over multiple seismic cycles</a:t>
            </a:r>
            <a:br>
              <a:rPr lang="en-US" dirty="0"/>
            </a:br>
            <a:endParaRPr lang="en-US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Infer viscoelastic properties</a:t>
            </a:r>
            <a:br>
              <a:rPr lang="en-US" dirty="0"/>
            </a:br>
            <a:endParaRPr lang="en-US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Slow slip events + Precursory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dirty="0"/>
          </a:p>
          <a:p>
            <a:pPr>
              <a:buFont typeface="Wingdings" panose="05000000000000000000" pitchFamily="2" charset="2"/>
              <a:buChar char="Ø"/>
            </a:pPr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1F8DBAD-A676-D78C-F4DA-D17E36EF02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161638"/>
            <a:ext cx="4649528" cy="2525843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0FC88652-6057-0A7E-8603-ABB8D0BBD0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9061" y="3687481"/>
            <a:ext cx="4649528" cy="320535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0E4115E7-693A-36F0-8107-93B47EC5002F}"/>
              </a:ext>
            </a:extLst>
          </p:cNvPr>
          <p:cNvSpPr txBox="1"/>
          <p:nvPr/>
        </p:nvSpPr>
        <p:spPr>
          <a:xfrm>
            <a:off x="4142606" y="3876627"/>
            <a:ext cx="26902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Ono Oncken, (2018)</a:t>
            </a:r>
          </a:p>
        </p:txBody>
      </p:sp>
      <p:cxnSp>
        <p:nvCxnSpPr>
          <p:cNvPr id="5" name="Gerade Verbindung mit Pfeil 4">
            <a:extLst>
              <a:ext uri="{FF2B5EF4-FFF2-40B4-BE49-F238E27FC236}">
                <a16:creationId xmlns:a16="http://schemas.microsoft.com/office/drawing/2014/main" id="{00A1809D-15CC-09AE-38D2-A8445B40328C}"/>
              </a:ext>
            </a:extLst>
          </p:cNvPr>
          <p:cNvCxnSpPr>
            <a:cxnSpLocks/>
          </p:cNvCxnSpPr>
          <p:nvPr/>
        </p:nvCxnSpPr>
        <p:spPr>
          <a:xfrm>
            <a:off x="2318657" y="3200400"/>
            <a:ext cx="76200" cy="1741714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Gerade Verbindung mit Pfeil 10">
            <a:extLst>
              <a:ext uri="{FF2B5EF4-FFF2-40B4-BE49-F238E27FC236}">
                <a16:creationId xmlns:a16="http://schemas.microsoft.com/office/drawing/2014/main" id="{7F0E3F46-B484-5BEE-419C-AF845039E6A3}"/>
              </a:ext>
            </a:extLst>
          </p:cNvPr>
          <p:cNvCxnSpPr>
            <a:cxnSpLocks/>
          </p:cNvCxnSpPr>
          <p:nvPr/>
        </p:nvCxnSpPr>
        <p:spPr>
          <a:xfrm>
            <a:off x="2394857" y="3200400"/>
            <a:ext cx="838200" cy="1741714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Gerade Verbindung mit Pfeil 14">
            <a:extLst>
              <a:ext uri="{FF2B5EF4-FFF2-40B4-BE49-F238E27FC236}">
                <a16:creationId xmlns:a16="http://schemas.microsoft.com/office/drawing/2014/main" id="{3B38233C-889F-FCAB-BFEF-F48AAD44BB1E}"/>
              </a:ext>
            </a:extLst>
          </p:cNvPr>
          <p:cNvCxnSpPr>
            <a:cxnSpLocks/>
          </p:cNvCxnSpPr>
          <p:nvPr/>
        </p:nvCxnSpPr>
        <p:spPr>
          <a:xfrm>
            <a:off x="2547257" y="3200400"/>
            <a:ext cx="1164772" cy="1632857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407321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6C37F6-648A-150B-67D8-41F2D3780D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026525-82A2-4355-3718-1E5F262BBA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8295"/>
            <a:ext cx="10515600" cy="1325563"/>
          </a:xfrm>
        </p:spPr>
        <p:txBody>
          <a:bodyPr/>
          <a:lstStyle/>
          <a:p>
            <a:r>
              <a:rPr lang="en-US" noProof="0" dirty="0"/>
              <a:t>Earthquake Cycles Reconstruction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167BA0-B4AD-5D47-7037-D669D0D9D9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48854" y="1902032"/>
            <a:ext cx="5346970" cy="4727367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Reconstruct vertical tectonics over 100s to 1000s years using coral </a:t>
            </a:r>
            <a:r>
              <a:rPr lang="en-US" dirty="0" err="1"/>
              <a:t>paleogeodesy</a:t>
            </a:r>
            <a:br>
              <a:rPr lang="en-US" dirty="0"/>
            </a:br>
            <a:endParaRPr lang="en-US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Including tectonic motion over multiple seismic cycles</a:t>
            </a:r>
            <a:br>
              <a:rPr lang="en-US" dirty="0"/>
            </a:br>
            <a:endParaRPr lang="en-US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Infer viscoelastic properties</a:t>
            </a:r>
            <a:br>
              <a:rPr lang="en-US" dirty="0"/>
            </a:br>
            <a:endParaRPr lang="en-US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Slow slip events + Precursory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dirty="0"/>
          </a:p>
          <a:p>
            <a:pPr>
              <a:buFont typeface="Wingdings" panose="05000000000000000000" pitchFamily="2" charset="2"/>
              <a:buChar char="Ø"/>
            </a:pPr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2299E87-63A0-0C49-1BE1-B656D8FFD5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161638"/>
            <a:ext cx="4649528" cy="2525843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4E6E6104-21DF-9020-FAA1-24903DD6B6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9061" y="3687481"/>
            <a:ext cx="4649528" cy="320535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2B33BF6F-DCB4-F501-B91B-0C6D5CC3E45D}"/>
              </a:ext>
            </a:extLst>
          </p:cNvPr>
          <p:cNvSpPr txBox="1"/>
          <p:nvPr/>
        </p:nvSpPr>
        <p:spPr>
          <a:xfrm>
            <a:off x="4142606" y="3876627"/>
            <a:ext cx="26902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Ono Oncken, (2018)</a:t>
            </a:r>
          </a:p>
        </p:txBody>
      </p:sp>
      <p:cxnSp>
        <p:nvCxnSpPr>
          <p:cNvPr id="6" name="Verbinder: gekrümmt 5">
            <a:extLst>
              <a:ext uri="{FF2B5EF4-FFF2-40B4-BE49-F238E27FC236}">
                <a16:creationId xmlns:a16="http://schemas.microsoft.com/office/drawing/2014/main" id="{AFBA320A-A2C6-0CED-E109-0FE2641247CA}"/>
              </a:ext>
            </a:extLst>
          </p:cNvPr>
          <p:cNvCxnSpPr/>
          <p:nvPr/>
        </p:nvCxnSpPr>
        <p:spPr>
          <a:xfrm rot="16200000" flipH="1">
            <a:off x="2601686" y="3298371"/>
            <a:ext cx="1774371" cy="1143000"/>
          </a:xfrm>
          <a:prstGeom prst="curvedConnector3">
            <a:avLst/>
          </a:prstGeom>
          <a:ln w="57150"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168686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Ellipse 7">
            <a:extLst>
              <a:ext uri="{FF2B5EF4-FFF2-40B4-BE49-F238E27FC236}">
                <a16:creationId xmlns:a16="http://schemas.microsoft.com/office/drawing/2014/main" id="{7739900C-117E-8026-9C92-BF111097C7B3}"/>
              </a:ext>
            </a:extLst>
          </p:cNvPr>
          <p:cNvSpPr/>
          <p:nvPr/>
        </p:nvSpPr>
        <p:spPr>
          <a:xfrm>
            <a:off x="6106886" y="4757056"/>
            <a:ext cx="587829" cy="587829"/>
          </a:xfrm>
          <a:prstGeom prst="ellipse">
            <a:avLst/>
          </a:prstGeom>
          <a:noFill/>
          <a:ln w="7620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9" name="Picture 4">
            <a:extLst>
              <a:ext uri="{FF2B5EF4-FFF2-40B4-BE49-F238E27FC236}">
                <a16:creationId xmlns:a16="http://schemas.microsoft.com/office/drawing/2014/main" id="{7A5F7A73-E6B9-93BB-2699-1D54E967C2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75127" y="0"/>
            <a:ext cx="1226712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49454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0ACFA0-AC95-35AF-7F61-F219943D0C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92AC15D-816B-6E71-A264-BAADB8ABFC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1769" y="0"/>
            <a:ext cx="11404404" cy="68971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56606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7C8A06-EC83-8627-FEF1-002D101DE2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DB2398-8060-E1EC-CAAD-3F117D1A67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A524AFC-2354-9924-73BA-8DBAD94734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4653" y="-202131"/>
            <a:ext cx="12196653" cy="72594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90519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2591198-7987-A969-70FB-3F958A61CEE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888" t="6177" r="46112" b="9350"/>
          <a:stretch/>
        </p:blipFill>
        <p:spPr>
          <a:xfrm>
            <a:off x="391885" y="1316899"/>
            <a:ext cx="4978193" cy="4224201"/>
          </a:xfrm>
          <a:prstGeom prst="rect">
            <a:avLst/>
          </a:prstGeom>
        </p:spPr>
      </p:pic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DA86858-6514-42C6-EA41-FB642D72991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551714" y="1316899"/>
            <a:ext cx="6356166" cy="4224201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EBA53E92-654E-64E9-3CD7-CE06850851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1885" y="223611"/>
            <a:ext cx="10515600" cy="1325563"/>
          </a:xfrm>
        </p:spPr>
        <p:txBody>
          <a:bodyPr/>
          <a:lstStyle/>
          <a:p>
            <a:r>
              <a:rPr lang="en-US" dirty="0"/>
              <a:t>After Mw 8.1 2007</a:t>
            </a: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5E868621-37A4-1394-A0FE-A214DD3F5395}"/>
              </a:ext>
            </a:extLst>
          </p:cNvPr>
          <p:cNvSpPr txBox="1"/>
          <p:nvPr/>
        </p:nvSpPr>
        <p:spPr>
          <a:xfrm>
            <a:off x="5757256" y="5711058"/>
            <a:ext cx="594508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lang="en-US" b="1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UT Austin doctoral student Kaustubh Thirumalai inspect</a:t>
            </a:r>
            <a:r>
              <a:rPr lang="en-US" b="1" dirty="0">
                <a:solidFill>
                  <a:srgbClr val="000000"/>
                </a:solidFill>
                <a:latin typeface="Arial" panose="020B0604020202020204" pitchFamily="34" charset="0"/>
              </a:rPr>
              <a:t>ing</a:t>
            </a:r>
            <a:r>
              <a:rPr lang="en-US" b="1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corals near the Solomon Islands’ </a:t>
            </a:r>
            <a:r>
              <a:rPr lang="en-US" b="1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Ranongga</a:t>
            </a:r>
            <a:r>
              <a:rPr lang="en-US" b="1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Island in 2015</a:t>
            </a:r>
            <a:r>
              <a:rPr lang="en-US" b="1" dirty="0">
                <a:solidFill>
                  <a:srgbClr val="000000"/>
                </a:solidFill>
                <a:latin typeface="Arial" panose="020B0604020202020204" pitchFamily="34" charset="0"/>
              </a:rPr>
              <a:t>.</a:t>
            </a:r>
            <a:endParaRPr lang="en-US" b="1" i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C2AC70C3-E121-0889-992A-D1F2215A9CB8}"/>
              </a:ext>
            </a:extLst>
          </p:cNvPr>
          <p:cNvSpPr txBox="1"/>
          <p:nvPr/>
        </p:nvSpPr>
        <p:spPr>
          <a:xfrm>
            <a:off x="391885" y="5711058"/>
            <a:ext cx="473528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lang="en-US" b="1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Luc Lavier measuring the vertical position of th</a:t>
            </a:r>
            <a:r>
              <a:rPr lang="en-US" b="1" dirty="0">
                <a:solidFill>
                  <a:srgbClr val="000000"/>
                </a:solidFill>
                <a:latin typeface="Arial" panose="020B0604020202020204" pitchFamily="34" charset="0"/>
              </a:rPr>
              <a:t>e sampled coral, near </a:t>
            </a:r>
            <a:r>
              <a:rPr lang="en-US" b="1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Ranongga</a:t>
            </a:r>
            <a:r>
              <a:rPr lang="en-US" b="1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Island in</a:t>
            </a:r>
            <a:r>
              <a:rPr lang="en-US" b="1" dirty="0">
                <a:solidFill>
                  <a:srgbClr val="000000"/>
                </a:solidFill>
                <a:latin typeface="Arial" panose="020B0604020202020204" pitchFamily="34" charset="0"/>
              </a:rPr>
              <a:t> 2012.</a:t>
            </a:r>
            <a:endParaRPr lang="en-US" b="1" i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614251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E6520F-4047-E59C-1D72-E217CB60C5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A03717F-CC94-69DF-093A-5E99AC895F0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0094" r="10094"/>
          <a:stretch/>
        </p:blipFill>
        <p:spPr>
          <a:xfrm>
            <a:off x="779558" y="1219230"/>
            <a:ext cx="5076955" cy="4227491"/>
          </a:xfrm>
          <a:prstGeom prst="rect">
            <a:avLst/>
          </a:prstGeom>
        </p:spPr>
      </p:pic>
      <p:pic>
        <p:nvPicPr>
          <p:cNvPr id="5" name="Content Placeholder 4" descr="A person standing next to a piece of wood&#10;&#10;Description automatically generated">
            <a:extLst>
              <a:ext uri="{FF2B5EF4-FFF2-40B4-BE49-F238E27FC236}">
                <a16:creationId xmlns:a16="http://schemas.microsoft.com/office/drawing/2014/main" id="{5023C9B5-75F0-1226-4E52-C70381948D3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34285" y="1248684"/>
            <a:ext cx="5597382" cy="4198037"/>
          </a:xfrm>
          <a:prstGeom prst="rect">
            <a:avLst/>
          </a:prstGeom>
        </p:spPr>
      </p:pic>
      <p:sp>
        <p:nvSpPr>
          <p:cNvPr id="11" name="Title 1">
            <a:extLst>
              <a:ext uri="{FF2B5EF4-FFF2-40B4-BE49-F238E27FC236}">
                <a16:creationId xmlns:a16="http://schemas.microsoft.com/office/drawing/2014/main" id="{43B08C19-7387-7A5C-B9FC-C8759BA9BD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1885" y="223611"/>
            <a:ext cx="10515600" cy="1325563"/>
          </a:xfrm>
        </p:spPr>
        <p:txBody>
          <a:bodyPr/>
          <a:lstStyle/>
          <a:p>
            <a:r>
              <a:rPr lang="en-US" dirty="0"/>
              <a:t>After Mw 8.1 2007</a:t>
            </a:r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8D7908DC-F98A-DF1C-BF66-4C8D3AB97026}"/>
              </a:ext>
            </a:extLst>
          </p:cNvPr>
          <p:cNvSpPr txBox="1"/>
          <p:nvPr/>
        </p:nvSpPr>
        <p:spPr>
          <a:xfrm>
            <a:off x="936170" y="5638770"/>
            <a:ext cx="492034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lang="en-US" b="1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Fred Taylor</a:t>
            </a:r>
            <a:r>
              <a:rPr lang="en-US" b="1" dirty="0">
                <a:solidFill>
                  <a:srgbClr val="000000"/>
                </a:solidFill>
                <a:latin typeface="Arial" panose="020B0604020202020204" pitchFamily="34" charset="0"/>
              </a:rPr>
              <a:t> (</a:t>
            </a:r>
            <a:r>
              <a:rPr lang="en-US" b="1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UT Austin) collects samples from corals in the Solomon Islands, after 2007 Earthquake uplift. (201</a:t>
            </a:r>
            <a:r>
              <a:rPr lang="en-US" b="1" dirty="0">
                <a:solidFill>
                  <a:srgbClr val="000000"/>
                </a:solidFill>
                <a:latin typeface="Arial" panose="020B0604020202020204" pitchFamily="34" charset="0"/>
              </a:rPr>
              <a:t>5</a:t>
            </a:r>
            <a:r>
              <a:rPr lang="en-US" b="1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)</a:t>
            </a:r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B24002EC-1E57-585B-E2F9-283767A582C3}"/>
              </a:ext>
            </a:extLst>
          </p:cNvPr>
          <p:cNvSpPr txBox="1"/>
          <p:nvPr/>
        </p:nvSpPr>
        <p:spPr>
          <a:xfrm>
            <a:off x="6096000" y="5638770"/>
            <a:ext cx="492034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lang="en-US" b="1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The sample taken in 2012 from Parara Island and </a:t>
            </a:r>
            <a:r>
              <a:rPr lang="en-US" b="1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analayzed</a:t>
            </a:r>
            <a:r>
              <a:rPr lang="en-US" b="1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in 2024 at Austin. </a:t>
            </a:r>
          </a:p>
        </p:txBody>
      </p:sp>
    </p:spTree>
    <p:extLst>
      <p:ext uri="{BB962C8B-B14F-4D97-AF65-F5344CB8AC3E}">
        <p14:creationId xmlns:p14="http://schemas.microsoft.com/office/powerpoint/2010/main" val="36409005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F7A632-4C19-1114-584F-5EA58CAC61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E3E877-504F-736B-CFBD-D157AF2670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Content Placeholder 4" descr="A map of the great lakes&#10;&#10;AI-generated content may be incorrect.">
            <a:extLst>
              <a:ext uri="{FF2B5EF4-FFF2-40B4-BE49-F238E27FC236}">
                <a16:creationId xmlns:a16="http://schemas.microsoft.com/office/drawing/2014/main" id="{878AE4AF-3C92-D10E-3D1B-60B3067A441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973" t="597" r="11293" b="4230"/>
          <a:stretch>
            <a:fillRect/>
          </a:stretch>
        </p:blipFill>
        <p:spPr>
          <a:xfrm>
            <a:off x="2011680" y="48075"/>
            <a:ext cx="8739739" cy="676185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010A3DE7-4DA8-F633-C590-72F21F04B85E}"/>
              </a:ext>
            </a:extLst>
          </p:cNvPr>
          <p:cNvSpPr/>
          <p:nvPr/>
        </p:nvSpPr>
        <p:spPr>
          <a:xfrm>
            <a:off x="500514" y="779646"/>
            <a:ext cx="1318661" cy="59195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725196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0167659F-255C-C0A9-76BE-C3873025E883}"/>
              </a:ext>
            </a:extLst>
          </p:cNvPr>
          <p:cNvSpPr/>
          <p:nvPr/>
        </p:nvSpPr>
        <p:spPr>
          <a:xfrm>
            <a:off x="500514" y="779646"/>
            <a:ext cx="1318661" cy="59195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 descr="A graph with a red line and a red line&#10;&#10;Description automatically generated">
            <a:extLst>
              <a:ext uri="{FF2B5EF4-FFF2-40B4-BE49-F238E27FC236}">
                <a16:creationId xmlns:a16="http://schemas.microsoft.com/office/drawing/2014/main" id="{678C1A33-512F-69B2-2258-5B500BF038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57419" y="1077112"/>
            <a:ext cx="5969506" cy="470377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C3157BB-E90D-8EE4-F923-70D436B048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1606" y="-77003"/>
            <a:ext cx="2914721" cy="6745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854239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C41D71-58FB-71F4-8190-F635E6A608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6D107B5-45D7-FACB-E9A4-868C171B46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3848" y="1546852"/>
            <a:ext cx="9313992" cy="3764296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84FE68D5-7CD1-9684-A08B-6EEED6200F4F}"/>
              </a:ext>
            </a:extLst>
          </p:cNvPr>
          <p:cNvSpPr/>
          <p:nvPr/>
        </p:nvSpPr>
        <p:spPr>
          <a:xfrm>
            <a:off x="500514" y="779646"/>
            <a:ext cx="1318661" cy="59195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179291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AD9CD2-714B-FE99-B008-078F6DFC42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What has been done so far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4C4C3E-608E-A133-62BA-A0ADAE9F00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Sampling </a:t>
            </a:r>
          </a:p>
          <a:p>
            <a:r>
              <a:rPr lang="en-US" dirty="0"/>
              <a:t>Lab Analysis</a:t>
            </a:r>
          </a:p>
          <a:p>
            <a:r>
              <a:rPr lang="en-US" dirty="0"/>
              <a:t>Growth Lines</a:t>
            </a:r>
          </a:p>
          <a:p>
            <a:r>
              <a:rPr lang="en-US" dirty="0"/>
              <a:t>Age Model</a:t>
            </a:r>
          </a:p>
          <a:p>
            <a:r>
              <a:rPr lang="en-US" dirty="0"/>
              <a:t>Time Series Analysis</a:t>
            </a:r>
          </a:p>
          <a:p>
            <a:r>
              <a:rPr lang="en-US" b="1" dirty="0"/>
              <a:t>Writing!</a:t>
            </a:r>
          </a:p>
        </p:txBody>
      </p:sp>
      <p:pic>
        <p:nvPicPr>
          <p:cNvPr id="5" name="Graphic 4" descr="Checkmark with solid fill">
            <a:extLst>
              <a:ext uri="{FF2B5EF4-FFF2-40B4-BE49-F238E27FC236}">
                <a16:creationId xmlns:a16="http://schemas.microsoft.com/office/drawing/2014/main" id="{6FD5B32E-C006-494E-4C4C-28F97479EA5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152529" y="2633472"/>
            <a:ext cx="417255" cy="417255"/>
          </a:xfrm>
          <a:prstGeom prst="rect">
            <a:avLst/>
          </a:prstGeom>
        </p:spPr>
      </p:pic>
      <p:pic>
        <p:nvPicPr>
          <p:cNvPr id="6" name="Graphic 5" descr="Checkmark with solid fill">
            <a:extLst>
              <a:ext uri="{FF2B5EF4-FFF2-40B4-BE49-F238E27FC236}">
                <a16:creationId xmlns:a16="http://schemas.microsoft.com/office/drawing/2014/main" id="{B38AA28F-0BAB-633F-31F0-0FC61E996AD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475296" y="3215318"/>
            <a:ext cx="417255" cy="417255"/>
          </a:xfrm>
          <a:prstGeom prst="rect">
            <a:avLst/>
          </a:prstGeom>
        </p:spPr>
      </p:pic>
      <p:pic>
        <p:nvPicPr>
          <p:cNvPr id="7" name="Graphic 6" descr="Checkmark with solid fill">
            <a:extLst>
              <a:ext uri="{FF2B5EF4-FFF2-40B4-BE49-F238E27FC236}">
                <a16:creationId xmlns:a16="http://schemas.microsoft.com/office/drawing/2014/main" id="{3C8B503D-56B8-5E8A-A466-F4FA4BFF925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532886" y="3632573"/>
            <a:ext cx="417255" cy="417255"/>
          </a:xfrm>
          <a:prstGeom prst="rect">
            <a:avLst/>
          </a:prstGeom>
        </p:spPr>
      </p:pic>
      <p:pic>
        <p:nvPicPr>
          <p:cNvPr id="8" name="Graphic 7" descr="Checkmark with solid fill">
            <a:extLst>
              <a:ext uri="{FF2B5EF4-FFF2-40B4-BE49-F238E27FC236}">
                <a16:creationId xmlns:a16="http://schemas.microsoft.com/office/drawing/2014/main" id="{E0A28D7E-2829-996E-E2A5-38EE642C092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58646" y="4165811"/>
            <a:ext cx="417255" cy="417255"/>
          </a:xfrm>
          <a:prstGeom prst="rect">
            <a:avLst/>
          </a:prstGeom>
        </p:spPr>
      </p:pic>
      <p:pic>
        <p:nvPicPr>
          <p:cNvPr id="10" name="Graphic 9" descr="Checkmark with solid fill">
            <a:extLst>
              <a:ext uri="{FF2B5EF4-FFF2-40B4-BE49-F238E27FC236}">
                <a16:creationId xmlns:a16="http://schemas.microsoft.com/office/drawing/2014/main" id="{BA329C8F-7064-D802-E97A-5E5A96BAB7B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354322" y="4583066"/>
            <a:ext cx="417255" cy="4172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91634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eschweifte Klammer rechts 12">
            <a:extLst>
              <a:ext uri="{FF2B5EF4-FFF2-40B4-BE49-F238E27FC236}">
                <a16:creationId xmlns:a16="http://schemas.microsoft.com/office/drawing/2014/main" id="{B2D6D3CB-0477-D5C9-FC7B-5043EDF71A9C}"/>
              </a:ext>
            </a:extLst>
          </p:cNvPr>
          <p:cNvSpPr/>
          <p:nvPr/>
        </p:nvSpPr>
        <p:spPr>
          <a:xfrm rot="6584985">
            <a:off x="2830862" y="522696"/>
            <a:ext cx="315866" cy="4017524"/>
          </a:xfrm>
          <a:prstGeom prst="rightBrace">
            <a:avLst>
              <a:gd name="adj1" fmla="val 8333"/>
              <a:gd name="adj2" fmla="val 52257"/>
            </a:avLst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4" name="Geschweifte Klammer rechts 13">
            <a:extLst>
              <a:ext uri="{FF2B5EF4-FFF2-40B4-BE49-F238E27FC236}">
                <a16:creationId xmlns:a16="http://schemas.microsoft.com/office/drawing/2014/main" id="{45B234DF-10E3-263F-D9F9-0EE5BF0742A2}"/>
              </a:ext>
            </a:extLst>
          </p:cNvPr>
          <p:cNvSpPr/>
          <p:nvPr/>
        </p:nvSpPr>
        <p:spPr>
          <a:xfrm rot="6164684">
            <a:off x="6720725" y="82376"/>
            <a:ext cx="175243" cy="4507781"/>
          </a:xfrm>
          <a:prstGeom prst="rightBrace">
            <a:avLst>
              <a:gd name="adj1" fmla="val 8333"/>
              <a:gd name="adj2" fmla="val 52257"/>
            </a:avLst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2" name="Grafik 1">
            <a:extLst>
              <a:ext uri="{FF2B5EF4-FFF2-40B4-BE49-F238E27FC236}">
                <a16:creationId xmlns:a16="http://schemas.microsoft.com/office/drawing/2014/main" id="{E3D533B6-EB3C-F364-F4C0-E2DDDDAED14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502" r="6640" b="15349"/>
          <a:stretch/>
        </p:blipFill>
        <p:spPr>
          <a:xfrm>
            <a:off x="257867" y="3895098"/>
            <a:ext cx="11676266" cy="2753732"/>
          </a:xfrm>
          <a:prstGeom prst="rect">
            <a:avLst/>
          </a:prstGeom>
        </p:spPr>
      </p:pic>
      <p:sp>
        <p:nvSpPr>
          <p:cNvPr id="5" name="Geschweifte Klammer rechts 4">
            <a:extLst>
              <a:ext uri="{FF2B5EF4-FFF2-40B4-BE49-F238E27FC236}">
                <a16:creationId xmlns:a16="http://schemas.microsoft.com/office/drawing/2014/main" id="{B48C5E46-7D37-B195-A181-E765D83CB3DC}"/>
              </a:ext>
            </a:extLst>
          </p:cNvPr>
          <p:cNvSpPr/>
          <p:nvPr/>
        </p:nvSpPr>
        <p:spPr>
          <a:xfrm rot="17410658">
            <a:off x="9237287" y="1434661"/>
            <a:ext cx="144283" cy="1128068"/>
          </a:xfrm>
          <a:prstGeom prst="rightBrace">
            <a:avLst>
              <a:gd name="adj1" fmla="val 8333"/>
              <a:gd name="adj2" fmla="val 52257"/>
            </a:avLst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6B61A92-2124-3C12-C83C-8E8351C42B6B}"/>
              </a:ext>
            </a:extLst>
          </p:cNvPr>
          <p:cNvSpPr/>
          <p:nvPr/>
        </p:nvSpPr>
        <p:spPr>
          <a:xfrm>
            <a:off x="500514" y="779646"/>
            <a:ext cx="1318661" cy="59195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E78E5D77-AD7A-945D-EA3D-574E12FE3EB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953" r="54498"/>
          <a:stretch/>
        </p:blipFill>
        <p:spPr>
          <a:xfrm>
            <a:off x="934507" y="294067"/>
            <a:ext cx="9722608" cy="33629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040848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8B04A1C2-EDA2-4F05-B94D-FFB1BD030675}"/>
              </a:ext>
            </a:extLst>
          </p:cNvPr>
          <p:cNvSpPr/>
          <p:nvPr/>
        </p:nvSpPr>
        <p:spPr>
          <a:xfrm>
            <a:off x="500514" y="779646"/>
            <a:ext cx="1318661" cy="59195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2B8EB79-45A3-33D0-697B-BD9FB0D966F1}"/>
              </a:ext>
            </a:extLst>
          </p:cNvPr>
          <p:cNvSpPr txBox="1"/>
          <p:nvPr/>
        </p:nvSpPr>
        <p:spPr>
          <a:xfrm flipH="1">
            <a:off x="5155474" y="3013501"/>
            <a:ext cx="188105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1" dirty="0"/>
              <a:t>DATA</a:t>
            </a:r>
          </a:p>
        </p:txBody>
      </p:sp>
    </p:spTree>
    <p:extLst>
      <p:ext uri="{BB962C8B-B14F-4D97-AF65-F5344CB8AC3E}">
        <p14:creationId xmlns:p14="http://schemas.microsoft.com/office/powerpoint/2010/main" val="353646802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58B8D5-7A5E-27FA-6867-244EAB9CDF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13" name="Content Placeholder 12">
            <a:extLst>
              <a:ext uri="{FF2B5EF4-FFF2-40B4-BE49-F238E27FC236}">
                <a16:creationId xmlns:a16="http://schemas.microsoft.com/office/drawing/2014/main" id="{91B89224-69BB-8720-1888-0440AF37CEF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5250" y="1041675"/>
            <a:ext cx="7479607" cy="4986405"/>
          </a:xfr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D56CD0C4-D138-4448-843D-1F83B0CACAA7}"/>
              </a:ext>
            </a:extLst>
          </p:cNvPr>
          <p:cNvSpPr/>
          <p:nvPr/>
        </p:nvSpPr>
        <p:spPr>
          <a:xfrm>
            <a:off x="500514" y="779646"/>
            <a:ext cx="1318661" cy="59195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541016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D9D300-ED25-E332-54F5-1735BA2A05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FA8E76A-AE8E-19FF-4E68-13866D0FF21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67" t="8201" r="7248"/>
          <a:stretch>
            <a:fillRect/>
          </a:stretch>
        </p:blipFill>
        <p:spPr>
          <a:xfrm>
            <a:off x="288757" y="394635"/>
            <a:ext cx="11666235" cy="6198669"/>
          </a:xfrm>
        </p:spPr>
      </p:pic>
    </p:spTree>
    <p:extLst>
      <p:ext uri="{BB962C8B-B14F-4D97-AF65-F5344CB8AC3E}">
        <p14:creationId xmlns:p14="http://schemas.microsoft.com/office/powerpoint/2010/main" val="59768757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D8BE24-E3F6-6272-4EF0-9792DD250A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1EF4006-A463-3441-95C0-68192978BCA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378" r="9588"/>
          <a:stretch>
            <a:fillRect/>
          </a:stretch>
        </p:blipFill>
        <p:spPr>
          <a:xfrm>
            <a:off x="0" y="204173"/>
            <a:ext cx="11049802" cy="6653827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C4363CC-7318-A767-9FDA-6BC333FDFA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81585" y="300425"/>
            <a:ext cx="2444115" cy="28727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577832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DA0B72-A199-6C7C-C3E3-DF8731E626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B874FF-DD77-F782-7FCF-6A3876A547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1BE0DB3-AC49-BCE6-3378-A683C28AC22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378" r="9588"/>
          <a:stretch>
            <a:fillRect/>
          </a:stretch>
        </p:blipFill>
        <p:spPr>
          <a:xfrm>
            <a:off x="0" y="204173"/>
            <a:ext cx="11049802" cy="6653827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2C598D0-9AD9-9A78-BFBF-2FA0E815CD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81585" y="300425"/>
            <a:ext cx="2444115" cy="2872776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D44615C-9CFA-E6CC-903E-E032D2A4B6EA}"/>
              </a:ext>
            </a:extLst>
          </p:cNvPr>
          <p:cNvSpPr txBox="1"/>
          <p:nvPr/>
        </p:nvSpPr>
        <p:spPr>
          <a:xfrm rot="19321397">
            <a:off x="3512806" y="2267602"/>
            <a:ext cx="22542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CF1252"/>
                </a:solidFill>
              </a:rPr>
              <a:t>SSE ?</a:t>
            </a:r>
            <a:endParaRPr lang="en-US" b="1" dirty="0">
              <a:solidFill>
                <a:srgbClr val="CF1252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EC876CA-F87B-84B0-537E-26E8FE2C20D4}"/>
              </a:ext>
            </a:extLst>
          </p:cNvPr>
          <p:cNvSpPr txBox="1"/>
          <p:nvPr/>
        </p:nvSpPr>
        <p:spPr>
          <a:xfrm rot="19652568">
            <a:off x="6910491" y="3278447"/>
            <a:ext cx="11071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CF1252"/>
                </a:solidFill>
              </a:rPr>
              <a:t>SSE ?</a:t>
            </a:r>
            <a:endParaRPr lang="en-US" b="1" dirty="0">
              <a:solidFill>
                <a:srgbClr val="CF1252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6C88838-6D28-50F2-809D-78EC8E27AB25}"/>
              </a:ext>
            </a:extLst>
          </p:cNvPr>
          <p:cNvSpPr txBox="1"/>
          <p:nvPr/>
        </p:nvSpPr>
        <p:spPr>
          <a:xfrm rot="3218487">
            <a:off x="5206214" y="2633557"/>
            <a:ext cx="22542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err="1">
                <a:solidFill>
                  <a:srgbClr val="1214D1"/>
                </a:solidFill>
              </a:rPr>
              <a:t>Interseismic</a:t>
            </a:r>
            <a:endParaRPr lang="en-US" b="1" dirty="0">
              <a:solidFill>
                <a:srgbClr val="1214D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8337C04-ABB3-6550-3A07-C60F75ACAE47}"/>
              </a:ext>
            </a:extLst>
          </p:cNvPr>
          <p:cNvSpPr txBox="1"/>
          <p:nvPr/>
        </p:nvSpPr>
        <p:spPr>
          <a:xfrm rot="2418996">
            <a:off x="8208539" y="3869833"/>
            <a:ext cx="22542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err="1">
                <a:solidFill>
                  <a:srgbClr val="1214D1"/>
                </a:solidFill>
              </a:rPr>
              <a:t>Interseismic</a:t>
            </a:r>
            <a:endParaRPr lang="en-US" b="1" dirty="0">
              <a:solidFill>
                <a:srgbClr val="1214D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8B2447C-4E71-7558-6836-DA5CE6CD993A}"/>
              </a:ext>
            </a:extLst>
          </p:cNvPr>
          <p:cNvSpPr txBox="1"/>
          <p:nvPr/>
        </p:nvSpPr>
        <p:spPr>
          <a:xfrm rot="2689515">
            <a:off x="1058657" y="2760617"/>
            <a:ext cx="22542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err="1">
                <a:solidFill>
                  <a:srgbClr val="1214D1"/>
                </a:solidFill>
              </a:rPr>
              <a:t>Interseismic</a:t>
            </a:r>
            <a:endParaRPr lang="en-US" b="1" dirty="0">
              <a:solidFill>
                <a:srgbClr val="1214D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50009499"/>
      </p:ext>
    </p:extLst>
  </p:cSld>
  <p:clrMapOvr>
    <a:masterClrMapping/>
  </p:clrMapOvr>
</p:sld>
</file>

<file path=ppt/theme/theme1.xml><?xml version="1.0" encoding="utf-8"?>
<a:theme xmlns:a="http://schemas.openxmlformats.org/drawingml/2006/main" name="DashVTI">
  <a:themeElements>
    <a:clrScheme name="Custom 6">
      <a:dk1>
        <a:sysClr val="windowText" lastClr="000000"/>
      </a:dk1>
      <a:lt1>
        <a:sysClr val="window" lastClr="FFFFFF"/>
      </a:lt1>
      <a:dk2>
        <a:srgbClr val="0D1C3B"/>
      </a:dk2>
      <a:lt2>
        <a:srgbClr val="F5F2F9"/>
      </a:lt2>
      <a:accent1>
        <a:srgbClr val="1973EB"/>
      </a:accent1>
      <a:accent2>
        <a:srgbClr val="25C8A2"/>
      </a:accent2>
      <a:accent3>
        <a:srgbClr val="BF8ED1"/>
      </a:accent3>
      <a:accent4>
        <a:srgbClr val="FE733C"/>
      </a:accent4>
      <a:accent5>
        <a:srgbClr val="FE5A5A"/>
      </a:accent5>
      <a:accent6>
        <a:srgbClr val="1AC16E"/>
      </a:accent6>
      <a:hlink>
        <a:srgbClr val="1AC16E"/>
      </a:hlink>
      <a:folHlink>
        <a:srgbClr val="00B0F0"/>
      </a:folHlink>
    </a:clrScheme>
    <a:fontScheme name="grandview display">
      <a:majorFont>
        <a:latin typeface="Grandview Display"/>
        <a:ea typeface=""/>
        <a:cs typeface=""/>
      </a:majorFont>
      <a:minorFont>
        <a:latin typeface="Grandview Display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shVTI" id="{0A75137F-CDEB-4E94-A788-9D255EBE1B91}" vid="{DE9A6A09-5855-45A3-8E99-4290ED24057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1482</TotalTime>
  <Words>322</Words>
  <Application>Microsoft Office PowerPoint</Application>
  <PresentationFormat>Widescreen</PresentationFormat>
  <Paragraphs>58</Paragraphs>
  <Slides>21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6" baseType="lpstr">
      <vt:lpstr>Aptos</vt:lpstr>
      <vt:lpstr>Arial</vt:lpstr>
      <vt:lpstr>Grandview Display</vt:lpstr>
      <vt:lpstr>Wingdings</vt:lpstr>
      <vt:lpstr>DashVTI</vt:lpstr>
      <vt:lpstr>A new method for paleogeodesy with stable isotopes in corals from Solomon Islands </vt:lpstr>
      <vt:lpstr>Coral Paleogeodesy</vt:lpstr>
      <vt:lpstr>Coral Paleogeodesy</vt:lpstr>
      <vt:lpstr>Earthquake Cycles Reconstruction</vt:lpstr>
      <vt:lpstr>Earthquake Cycles Reconstruction</vt:lpstr>
      <vt:lpstr>Earthquake Cycles Reconstruction</vt:lpstr>
      <vt:lpstr>PowerPoint Presentation</vt:lpstr>
      <vt:lpstr>PowerPoint Presentation</vt:lpstr>
      <vt:lpstr>PowerPoint Presentation</vt:lpstr>
      <vt:lpstr>After Mw 8.1 2007</vt:lpstr>
      <vt:lpstr>After Mw 8.1 2007</vt:lpstr>
      <vt:lpstr>PowerPoint Presentation</vt:lpstr>
      <vt:lpstr>PowerPoint Presentation</vt:lpstr>
      <vt:lpstr>PowerPoint Presentation</vt:lpstr>
      <vt:lpstr>What has been done so far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Karaesmen, Mehmet E</dc:creator>
  <cp:lastModifiedBy>Karaesmen, Mehmet E</cp:lastModifiedBy>
  <cp:revision>11</cp:revision>
  <dcterms:created xsi:type="dcterms:W3CDTF">2025-11-06T16:32:20Z</dcterms:created>
  <dcterms:modified xsi:type="dcterms:W3CDTF">2025-11-07T17:14:51Z</dcterms:modified>
</cp:coreProperties>
</file>