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57" r:id="rId3"/>
    <p:sldId id="285" r:id="rId4"/>
    <p:sldId id="286" r:id="rId5"/>
    <p:sldId id="259" r:id="rId6"/>
    <p:sldId id="287" r:id="rId7"/>
    <p:sldId id="267" r:id="rId8"/>
    <p:sldId id="277" r:id="rId9"/>
    <p:sldId id="284" r:id="rId10"/>
    <p:sldId id="264" r:id="rId11"/>
    <p:sldId id="288" r:id="rId12"/>
    <p:sldId id="276" r:id="rId13"/>
    <p:sldId id="289" r:id="rId14"/>
    <p:sldId id="265" r:id="rId15"/>
    <p:sldId id="291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hmet Karaesmen" initials="MK" lastIdx="1" clrIdx="0">
    <p:extLst>
      <p:ext uri="{19B8F6BF-5375-455C-9EA6-DF929625EA0E}">
        <p15:presenceInfo xmlns:p15="http://schemas.microsoft.com/office/powerpoint/2012/main" userId="S::mehmet.karaesmen@anemos.de::b2d7ad2a-5523-4e47-8844-8f6b6da35f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1B687-6C3A-488C-8ABB-E39EACCF4EC9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DCCA7-29A1-4D24-8D10-3CA8A5740A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7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DCCA7-29A1-4D24-8D10-3CA8A5740AF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35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CDF-76DC-F121-338A-D6C7DAADF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C9068-F7E6-582D-7BA4-2DCD698D8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CE9C-B3B1-FEDE-53CD-C3417B6E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47472-65C6-6A0B-B4C4-6C75E2E9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EE36-F6F1-AC9F-D9DD-4185106A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2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7662-1EE8-F11A-82AB-168B8230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4482-D8F1-99A4-1E8B-C70FB1F2E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F29A0-1806-FD1B-D6B5-F767750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8061-AECA-5D2C-B4C6-35EBCF4D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3E02-4831-49A4-337A-5C0C7EE7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9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CE51-ACEB-04AA-2659-FBA492B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AA4D-443B-8AA5-D168-05EB34A8E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31FC-0B1E-7305-0A8B-802D44A6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8CA5-24D3-9F74-EC7F-089905B3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54AF1-019F-A7E9-4077-A0DA6C0D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52F-1EBC-DEC5-D8CD-08559495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653F-084A-CF6A-F636-A3620573E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FCC00-1972-0195-5FC3-D0B0CA80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EE562-6821-5A63-6072-F8B61460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CC0F5-60F7-4BBC-D11E-26A998FF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BA84-6D6D-46C8-0012-EF80398B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AA5E-0F11-B7B5-6BE2-4AD9736D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B6CB-B224-63B6-5FFA-E7C4A168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DA00C-B764-E3FA-8E14-25A2AA8D4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68274-C076-8AF2-EAA4-968BC4EB1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1BFC3-47D9-81FB-19A7-983B11B16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3A085-08B1-59D2-4B12-B205C717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33E42-3275-E2AA-F690-14DE19E9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EBEAE-C311-10D9-8316-0EA57303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B221-F268-9276-93A7-CD3D6825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D450E-B658-B4E1-2117-765D21AF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9CCB2-4095-B522-8E95-1529BEDF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163C9-767F-697D-336A-CD2F62EC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62146-9536-07DC-83BC-F096BF7A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30E90-981F-A8C2-FA08-E914F2E3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E64D4-D803-C7B5-62F6-349E4CC7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6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FDB4-99DA-64F3-D203-0746CC5F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035A-0F28-1294-6131-DDF715F5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956AC-B313-46FC-8C32-8ED850FEC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43E3-357C-BB82-1872-27DF90F5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ED5B9-A268-84F9-EA32-06849C91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A4407-8023-AC2B-B004-44E0087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1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3E1C-1F46-6A06-97A5-8D56E4B1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66359-AE82-1AF2-503E-06E89AE95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B52A8-DBC4-3EF3-C5E7-40C06D696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CFDD-7621-DCE6-907B-A36A0DC5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AAF10-69B0-C26D-5B1E-D5EF1AE2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E5C00-396E-6E6C-CD0B-0C595E23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4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85E1-41C2-F93D-AF14-F283E1F2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26715-DB3C-7540-4F31-971726035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9611-D532-5C2D-0F27-9FC66246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31E4-19D9-5802-EEC7-6B316EA4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3355-F5DE-1530-A3E2-01A16AD4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0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7F31E-EE5A-CB3F-5F15-8386163AE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D3444-4680-705E-C5C4-5AEC1E6F0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2669-93E1-0235-D5AD-B77292F1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EC1A7-D084-F86A-3773-8A604DE3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386F5-5FDD-39A6-5244-169FAE6E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5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1EB28-722C-DBAD-254F-4F2CE35F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DA3F8-AB42-371D-48D4-4E29C802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4EF6B-8977-94C0-3600-C7059D62C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6EDF8-F669-F94A-971A-233868348FCA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415C-462C-BA89-C2D4-64C7AF1DE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75F5F-26DF-C19E-1350-647B77114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88314-60CE-2D40-9B7F-F06720492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BE3F5C6-2BD0-F117-5970-EB3A2186D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3" y="-642257"/>
            <a:ext cx="12201693" cy="8136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F40107-FAF0-7AC4-1E53-69B1EAEAA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393370"/>
            <a:ext cx="10058400" cy="2506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Decadal to Centennial Vertical </a:t>
            </a:r>
            <a:r>
              <a:rPr lang="en-US" sz="4000" b="0" i="0" u="none" strike="noStrike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Paleogeodetic</a:t>
            </a:r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Record of the Seismic Cycle in the Western Solomons from Coral </a:t>
            </a:r>
            <a:r>
              <a:rPr lang="en-US" sz="4000" b="0" i="0" u="none" strike="noStrike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Paleogeodesy</a:t>
            </a:r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and Stable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50528-A28F-DE23-ECEC-C07A11225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7509" y="4800823"/>
            <a:ext cx="9307287" cy="9935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M. Ege Karaesmen, Luc Lavier, Frederic Taylor, </a:t>
            </a:r>
          </a:p>
          <a:p>
            <a:r>
              <a:rPr lang="en-US" dirty="0">
                <a:solidFill>
                  <a:srgbClr val="FFFFFF"/>
                </a:solidFill>
              </a:rPr>
              <a:t>Lauren Kendall, Ann Chen, Laura Wallace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926330E-CC43-1E66-6EDA-4DE3E919F92C}"/>
              </a:ext>
            </a:extLst>
          </p:cNvPr>
          <p:cNvSpPr txBox="1">
            <a:spLocks/>
          </p:cNvSpPr>
          <p:nvPr/>
        </p:nvSpPr>
        <p:spPr>
          <a:xfrm>
            <a:off x="1204898" y="5935954"/>
            <a:ext cx="9307287" cy="9935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</a:rPr>
              <a:t>University of Texas at Austin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1648072-FE7E-98AC-E9A8-C7461B474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822897"/>
            <a:ext cx="3455469" cy="72037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5CD3BF0-2646-3876-CDE1-6A08D002D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5685" y="5299327"/>
            <a:ext cx="1568435" cy="14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3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6228-F056-9CF4-1563-8E19EF16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5901-7994-2F60-134E-AD765BAE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54C914-5088-131C-60F6-EFA39B8A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851062-5EB4-CCD1-5BB8-B250A884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2CD26-F934-E422-23FE-3B36708274E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</p:spTree>
    <p:extLst>
      <p:ext uri="{BB962C8B-B14F-4D97-AF65-F5344CB8AC3E}">
        <p14:creationId xmlns:p14="http://schemas.microsoft.com/office/powerpoint/2010/main" val="14622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FD32-15D9-4CCC-97E8-6AEE616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E843-4B21-4D34-90F0-962380A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8BE3-AECE-46A3-BF95-A82DD8075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F8DBAD-A676-D78C-F4DA-D17E36EF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C88652-6057-0A7E-8603-ABB8D0BB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4115E7-693A-36F0-8107-93B47EC5002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0A1809D-15CC-09AE-38D2-A8445B40328C}"/>
              </a:ext>
            </a:extLst>
          </p:cNvPr>
          <p:cNvCxnSpPr>
            <a:cxnSpLocks/>
          </p:cNvCxnSpPr>
          <p:nvPr/>
        </p:nvCxnSpPr>
        <p:spPr>
          <a:xfrm>
            <a:off x="2318657" y="3200400"/>
            <a:ext cx="76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F0E3F46-B484-5BEE-419C-AF845039E6A3}"/>
              </a:ext>
            </a:extLst>
          </p:cNvPr>
          <p:cNvCxnSpPr>
            <a:cxnSpLocks/>
          </p:cNvCxnSpPr>
          <p:nvPr/>
        </p:nvCxnSpPr>
        <p:spPr>
          <a:xfrm>
            <a:off x="2394857" y="3200400"/>
            <a:ext cx="838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38233C-889F-FCAB-BFEF-F48AAD44BB1E}"/>
              </a:ext>
            </a:extLst>
          </p:cNvPr>
          <p:cNvCxnSpPr>
            <a:cxnSpLocks/>
          </p:cNvCxnSpPr>
          <p:nvPr/>
        </p:nvCxnSpPr>
        <p:spPr>
          <a:xfrm>
            <a:off x="2547257" y="3200400"/>
            <a:ext cx="1164772" cy="16328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73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37F6-648A-150B-67D8-41F2D378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6525-82A2-4355-3718-1E5F262B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7BA0-B4AD-5D47-7037-D669D0D9D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99E87-63A0-0C49-1BE1-B656D8FF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6E6104-21DF-9020-FAA1-24903DD6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3BF6F-DCB4-F501-B91B-0C6D5CC3E45D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6" name="Verbinder: gekrümmt 5">
            <a:extLst>
              <a:ext uri="{FF2B5EF4-FFF2-40B4-BE49-F238E27FC236}">
                <a16:creationId xmlns:a16="http://schemas.microsoft.com/office/drawing/2014/main" id="{AFBA320A-A2C6-0CED-E109-0FE2641247CA}"/>
              </a:ext>
            </a:extLst>
          </p:cNvPr>
          <p:cNvCxnSpPr/>
          <p:nvPr/>
        </p:nvCxnSpPr>
        <p:spPr>
          <a:xfrm rot="16200000" flipH="1">
            <a:off x="2601686" y="3298371"/>
            <a:ext cx="1774371" cy="1143000"/>
          </a:xfrm>
          <a:prstGeom prst="curved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86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7739900C-117E-8026-9C92-BF111097C7B3}"/>
              </a:ext>
            </a:extLst>
          </p:cNvPr>
          <p:cNvSpPr/>
          <p:nvPr/>
        </p:nvSpPr>
        <p:spPr>
          <a:xfrm>
            <a:off x="6106886" y="4757056"/>
            <a:ext cx="587829" cy="587829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A5F7A73-E6B9-93BB-2699-1D54E967C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127" y="0"/>
            <a:ext cx="12267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CFA0-AC95-35AF-7F61-F219943D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AC15D-816B-6E71-A264-BAADB8AB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9" y="0"/>
            <a:ext cx="11404404" cy="68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6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591198-7987-A969-70FB-3F958A61C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" t="6177" r="46112" b="9350"/>
          <a:stretch/>
        </p:blipFill>
        <p:spPr>
          <a:xfrm>
            <a:off x="391885" y="1316899"/>
            <a:ext cx="4978193" cy="42242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86858-6514-42C6-EA41-FB642D72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714" y="1316899"/>
            <a:ext cx="6356166" cy="42242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A53E92-654E-64E9-3CD7-CE068508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868621-37A4-1394-A0FE-A214DD3F5395}"/>
              </a:ext>
            </a:extLst>
          </p:cNvPr>
          <p:cNvSpPr txBox="1"/>
          <p:nvPr/>
        </p:nvSpPr>
        <p:spPr>
          <a:xfrm>
            <a:off x="5757256" y="5711058"/>
            <a:ext cx="5945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 doctoral student Kaustubh Thirumalai inspect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ing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corals near the Solomon Islands’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 2015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2AC70C3-E121-0889-992A-D1F2215A9CB8}"/>
              </a:ext>
            </a:extLst>
          </p:cNvPr>
          <p:cNvSpPr txBox="1"/>
          <p:nvPr/>
        </p:nvSpPr>
        <p:spPr>
          <a:xfrm>
            <a:off x="391885" y="5711058"/>
            <a:ext cx="4735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Luc Lavier measuring the vertical position of th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 sampled coral, near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2012.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2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520F-4047-E59C-1D72-E217CB60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3717F-CC94-69DF-093A-5E99AC89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94" r="10094"/>
          <a:stretch/>
        </p:blipFill>
        <p:spPr>
          <a:xfrm>
            <a:off x="779558" y="1219230"/>
            <a:ext cx="5076955" cy="4227491"/>
          </a:xfrm>
          <a:prstGeom prst="rect">
            <a:avLst/>
          </a:prstGeom>
        </p:spPr>
      </p:pic>
      <p:pic>
        <p:nvPicPr>
          <p:cNvPr id="5" name="Content Placeholder 4" descr="A person standing next to a piece of wood&#10;&#10;Description automatically generated">
            <a:extLst>
              <a:ext uri="{FF2B5EF4-FFF2-40B4-BE49-F238E27FC236}">
                <a16:creationId xmlns:a16="http://schemas.microsoft.com/office/drawing/2014/main" id="{5023C9B5-75F0-1226-4E52-C70381948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285" y="1248684"/>
            <a:ext cx="5597382" cy="41980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3B08C19-7387-7A5C-B9FC-C8759BA9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D7908DC-F98A-DF1C-BF66-4C8D3AB97026}"/>
              </a:ext>
            </a:extLst>
          </p:cNvPr>
          <p:cNvSpPr txBox="1"/>
          <p:nvPr/>
        </p:nvSpPr>
        <p:spPr>
          <a:xfrm>
            <a:off x="936170" y="5638770"/>
            <a:ext cx="4920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Fred Taylor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Austin) collects samples from corals in the Solomon Islands, after 2007 Earthquake uplift. (201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24002EC-1E57-585B-E2F9-283767A582C3}"/>
              </a:ext>
            </a:extLst>
          </p:cNvPr>
          <p:cNvSpPr txBox="1"/>
          <p:nvPr/>
        </p:nvSpPr>
        <p:spPr>
          <a:xfrm>
            <a:off x="6096000" y="5638770"/>
            <a:ext cx="4920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sample taken in 2012 from Parara Island and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analayzed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2024 at Austin. </a:t>
            </a:r>
          </a:p>
        </p:txBody>
      </p:sp>
    </p:spTree>
    <p:extLst>
      <p:ext uri="{BB962C8B-B14F-4D97-AF65-F5344CB8AC3E}">
        <p14:creationId xmlns:p14="http://schemas.microsoft.com/office/powerpoint/2010/main" val="36409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78E5D77-AD7A-945D-EA3D-574E12FE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r="54498"/>
          <a:stretch/>
        </p:blipFill>
        <p:spPr>
          <a:xfrm>
            <a:off x="934507" y="294067"/>
            <a:ext cx="9722608" cy="3362908"/>
          </a:xfrm>
          <a:prstGeom prst="rect">
            <a:avLst/>
          </a:prstGeom>
        </p:spPr>
      </p:pic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B2D6D3CB-0477-D5C9-FC7B-5043EDF71A9C}"/>
              </a:ext>
            </a:extLst>
          </p:cNvPr>
          <p:cNvSpPr/>
          <p:nvPr/>
        </p:nvSpPr>
        <p:spPr>
          <a:xfrm rot="6584985">
            <a:off x="2830862" y="522696"/>
            <a:ext cx="315866" cy="4017524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rechts 13">
            <a:extLst>
              <a:ext uri="{FF2B5EF4-FFF2-40B4-BE49-F238E27FC236}">
                <a16:creationId xmlns:a16="http://schemas.microsoft.com/office/drawing/2014/main" id="{45B234DF-10E3-263F-D9F9-0EE5BF0742A2}"/>
              </a:ext>
            </a:extLst>
          </p:cNvPr>
          <p:cNvSpPr/>
          <p:nvPr/>
        </p:nvSpPr>
        <p:spPr>
          <a:xfrm rot="6164684">
            <a:off x="6720725" y="82376"/>
            <a:ext cx="175243" cy="4507781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3D533B6-EB3C-F364-F4C0-E2DDDDAE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02" r="6640" b="15349"/>
          <a:stretch/>
        </p:blipFill>
        <p:spPr>
          <a:xfrm>
            <a:off x="257867" y="3895098"/>
            <a:ext cx="11676266" cy="2753732"/>
          </a:xfrm>
          <a:prstGeom prst="rect">
            <a:avLst/>
          </a:prstGeom>
        </p:spPr>
      </p:pic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B48C5E46-7D37-B195-A181-E765D83CB3DC}"/>
              </a:ext>
            </a:extLst>
          </p:cNvPr>
          <p:cNvSpPr/>
          <p:nvPr/>
        </p:nvSpPr>
        <p:spPr>
          <a:xfrm rot="17410658">
            <a:off x="9237287" y="1434661"/>
            <a:ext cx="144283" cy="1128068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40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1410B2-7CD7-623E-ADAE-1984EF27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528" y="0"/>
            <a:ext cx="7503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2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CBB9-D69F-3CA4-890C-BB078990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map of the island of the ocean&#10;&#10;Description automatically generated with medium confidence">
            <a:extLst>
              <a:ext uri="{FF2B5EF4-FFF2-40B4-BE49-F238E27FC236}">
                <a16:creationId xmlns:a16="http://schemas.microsoft.com/office/drawing/2014/main" id="{A3FDD227-DE38-B4F4-8F75-B659F20C6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1" t="15626" r="9894"/>
          <a:stretch/>
        </p:blipFill>
        <p:spPr>
          <a:xfrm>
            <a:off x="2209801" y="221984"/>
            <a:ext cx="8305800" cy="6414032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7C5371B-9370-1A01-9C16-3FBF537F19AF}"/>
              </a:ext>
            </a:extLst>
          </p:cNvPr>
          <p:cNvCxnSpPr>
            <a:cxnSpLocks/>
          </p:cNvCxnSpPr>
          <p:nvPr/>
        </p:nvCxnSpPr>
        <p:spPr>
          <a:xfrm>
            <a:off x="3712029" y="435429"/>
            <a:ext cx="0" cy="5965371"/>
          </a:xfrm>
          <a:prstGeom prst="straightConnector1">
            <a:avLst/>
          </a:prstGeom>
          <a:ln w="762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240EF3F-7C23-F727-4E0F-A518E9BAE2E0}"/>
              </a:ext>
            </a:extLst>
          </p:cNvPr>
          <p:cNvSpPr txBox="1"/>
          <p:nvPr/>
        </p:nvSpPr>
        <p:spPr>
          <a:xfrm>
            <a:off x="1132113" y="2471057"/>
            <a:ext cx="1894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00B0F0"/>
                </a:solidFill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252551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43D7-0D1F-65DC-0C91-6BC694C7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Confirmed with additional data </a:t>
            </a:r>
            <a:br>
              <a:rPr lang="en-US" dirty="0"/>
            </a:br>
            <a:r>
              <a:rPr lang="en-US" dirty="0"/>
              <a:t>(Blue light/ euphotic zone)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364732-3588-98FF-480A-A499847FF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83" y="1253331"/>
            <a:ext cx="6000433" cy="523954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3149D1-CC4E-465A-A08B-87E0BD9E9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16" y="1598005"/>
            <a:ext cx="1985091" cy="223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1D6BE-7D83-7AB0-037F-C72FC75D3F3D}"/>
              </a:ext>
            </a:extLst>
          </p:cNvPr>
          <p:cNvSpPr txBox="1"/>
          <p:nvPr/>
        </p:nvSpPr>
        <p:spPr>
          <a:xfrm>
            <a:off x="6453051" y="4468288"/>
            <a:ext cx="53427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HYPOTHESIS</a:t>
            </a:r>
          </a:p>
          <a:p>
            <a:r>
              <a:rPr lang="en-US" dirty="0"/>
              <a:t>-Plankton rejects heavier carbon </a:t>
            </a:r>
            <a:r>
              <a:rPr lang="en-US" baseline="30000" dirty="0"/>
              <a:t>13</a:t>
            </a:r>
            <a:r>
              <a:rPr lang="en-US" dirty="0"/>
              <a:t>C when sunlight is less intense (up </a:t>
            </a:r>
            <a:r>
              <a:rPr lang="en-US"/>
              <a:t>to 50 </a:t>
            </a:r>
            <a:r>
              <a:rPr lang="en-US" dirty="0"/>
              <a:t>m depth for blue light).</a:t>
            </a:r>
          </a:p>
          <a:p>
            <a:r>
              <a:rPr lang="en-US" dirty="0"/>
              <a:t>- The excess </a:t>
            </a:r>
            <a:r>
              <a:rPr lang="en-US" baseline="30000" dirty="0"/>
              <a:t>13</a:t>
            </a:r>
            <a:r>
              <a:rPr lang="en-US" dirty="0"/>
              <a:t>C is the used by the coral to build its skeleton. </a:t>
            </a:r>
          </a:p>
          <a:p>
            <a:r>
              <a:rPr lang="en-US" dirty="0"/>
              <a:t>- The relationship looks linear in shallow water but must be exponential and saturate at some depth.</a:t>
            </a:r>
          </a:p>
        </p:txBody>
      </p:sp>
      <p:pic>
        <p:nvPicPr>
          <p:cNvPr id="1032" name="Picture 8" descr="Jmse 04 00080 g009">
            <a:extLst>
              <a:ext uri="{FF2B5EF4-FFF2-40B4-BE49-F238E27FC236}">
                <a16:creationId xmlns:a16="http://schemas.microsoft.com/office/drawing/2014/main" id="{A81E77C4-73F0-AA12-57C0-6BEFEEFA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865" y="1081508"/>
            <a:ext cx="2915658" cy="27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DCA7E-F478-6F05-4280-D4F4679CF904}"/>
              </a:ext>
            </a:extLst>
          </p:cNvPr>
          <p:cNvSpPr txBox="1"/>
          <p:nvPr/>
        </p:nvSpPr>
        <p:spPr>
          <a:xfrm>
            <a:off x="9063922" y="3839887"/>
            <a:ext cx="28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Abdelrahman, Mohamed A. 2016</a:t>
            </a:r>
            <a:endParaRPr lang="en-US" sz="1400" b="1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FC4074-7C2B-F034-2940-D550B0628E68}"/>
              </a:ext>
            </a:extLst>
          </p:cNvPr>
          <p:cNvSpPr/>
          <p:nvPr/>
        </p:nvSpPr>
        <p:spPr>
          <a:xfrm>
            <a:off x="1945532" y="1721796"/>
            <a:ext cx="3715966" cy="4212076"/>
          </a:xfrm>
          <a:custGeom>
            <a:avLst/>
            <a:gdLst>
              <a:gd name="connsiteX0" fmla="*/ 3715966 w 3715966"/>
              <a:gd name="connsiteY0" fmla="*/ 0 h 4212076"/>
              <a:gd name="connsiteX1" fmla="*/ 856034 w 3715966"/>
              <a:gd name="connsiteY1" fmla="*/ 2762655 h 4212076"/>
              <a:gd name="connsiteX2" fmla="*/ 0 w 3715966"/>
              <a:gd name="connsiteY2" fmla="*/ 4212076 h 4212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5966" h="4212076">
                <a:moveTo>
                  <a:pt x="3715966" y="0"/>
                </a:moveTo>
                <a:cubicBezTo>
                  <a:pt x="2595664" y="1030321"/>
                  <a:pt x="1475362" y="2060642"/>
                  <a:pt x="856034" y="2762655"/>
                </a:cubicBezTo>
                <a:cubicBezTo>
                  <a:pt x="236706" y="3464668"/>
                  <a:pt x="118353" y="3838372"/>
                  <a:pt x="0" y="4212076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885F1-7F20-411F-6BC8-146F126DEDEE}"/>
              </a:ext>
            </a:extLst>
          </p:cNvPr>
          <p:cNvSpPr txBox="1"/>
          <p:nvPr/>
        </p:nvSpPr>
        <p:spPr>
          <a:xfrm>
            <a:off x="2185130" y="5420003"/>
            <a:ext cx="27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 Expected behavior</a:t>
            </a:r>
          </a:p>
        </p:txBody>
      </p:sp>
    </p:spTree>
    <p:extLst>
      <p:ext uri="{BB962C8B-B14F-4D97-AF65-F5344CB8AC3E}">
        <p14:creationId xmlns:p14="http://schemas.microsoft.com/office/powerpoint/2010/main" val="2597174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274-5D29-CCDD-9CF0-083A7689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map of the island of the ocean&#10;&#10;Description automatically generated with medium confidence">
            <a:extLst>
              <a:ext uri="{FF2B5EF4-FFF2-40B4-BE49-F238E27FC236}">
                <a16:creationId xmlns:a16="http://schemas.microsoft.com/office/drawing/2014/main" id="{1577C3EE-5EFB-7DC3-F2C7-3610B3033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1" t="15626" r="9894"/>
          <a:stretch/>
        </p:blipFill>
        <p:spPr>
          <a:xfrm>
            <a:off x="2209801" y="221984"/>
            <a:ext cx="8305800" cy="6414032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F69A061B-02E7-BEBF-E851-72472361E4D6}"/>
              </a:ext>
            </a:extLst>
          </p:cNvPr>
          <p:cNvCxnSpPr/>
          <p:nvPr/>
        </p:nvCxnSpPr>
        <p:spPr>
          <a:xfrm>
            <a:off x="2394857" y="1883229"/>
            <a:ext cx="8262257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DD40015E-7117-82D3-BCEC-197FBE608C2A}"/>
              </a:ext>
            </a:extLst>
          </p:cNvPr>
          <p:cNvSpPr txBox="1"/>
          <p:nvPr/>
        </p:nvSpPr>
        <p:spPr>
          <a:xfrm>
            <a:off x="1132113" y="2471057"/>
            <a:ext cx="1894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0000"/>
                </a:solidFill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125867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3CB04923-6A67-A93A-E550-0C161DBC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61" b="7361"/>
          <a:stretch/>
        </p:blipFill>
        <p:spPr>
          <a:xfrm>
            <a:off x="1186543" y="843270"/>
            <a:ext cx="9165780" cy="586233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337D28E-C3D8-7A48-9FBA-14A7D2AE00D6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4400" dirty="0"/>
              <a:t>δ13</a:t>
            </a:r>
            <a:r>
              <a:rPr lang="de-DE" sz="4400" dirty="0"/>
              <a:t>C in Coral</a:t>
            </a:r>
          </a:p>
        </p:txBody>
      </p:sp>
    </p:spTree>
    <p:extLst>
      <p:ext uri="{BB962C8B-B14F-4D97-AF65-F5344CB8AC3E}">
        <p14:creationId xmlns:p14="http://schemas.microsoft.com/office/powerpoint/2010/main" val="326968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52AF-09A6-6191-A29E-BC946BA1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499299D6-461B-7A03-0983-3F9C6291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13" b="5108"/>
          <a:stretch/>
        </p:blipFill>
        <p:spPr>
          <a:xfrm>
            <a:off x="1186543" y="995670"/>
            <a:ext cx="9165780" cy="586233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2A30BE7-EF31-8137-EC9F-CB81C4492216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dirty="0"/>
              <a:t>Relative </a:t>
            </a:r>
            <a:r>
              <a:rPr lang="de-DE" sz="4400" dirty="0" err="1"/>
              <a:t>Sea</a:t>
            </a:r>
            <a:r>
              <a:rPr lang="de-DE" sz="4400" dirty="0"/>
              <a:t> Level Trend</a:t>
            </a:r>
          </a:p>
        </p:txBody>
      </p:sp>
    </p:spTree>
    <p:extLst>
      <p:ext uri="{BB962C8B-B14F-4D97-AF65-F5344CB8AC3E}">
        <p14:creationId xmlns:p14="http://schemas.microsoft.com/office/powerpoint/2010/main" val="2096009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DC5A-5434-80F7-9A16-B81F8AC1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7494695-9E81-A185-97F3-CF3E9AD56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716" r="5326" b="5108"/>
          <a:stretch/>
        </p:blipFill>
        <p:spPr>
          <a:xfrm>
            <a:off x="406896" y="1910614"/>
            <a:ext cx="11538056" cy="403779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59B1910-2570-F2CF-B163-E544A3615B21}"/>
              </a:ext>
            </a:extLst>
          </p:cNvPr>
          <p:cNvSpPr txBox="1"/>
          <p:nvPr/>
        </p:nvSpPr>
        <p:spPr>
          <a:xfrm>
            <a:off x="1186543" y="33407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dirty="0"/>
              <a:t>Relative </a:t>
            </a:r>
            <a:r>
              <a:rPr lang="de-DE" sz="4400" dirty="0" err="1"/>
              <a:t>Sea</a:t>
            </a:r>
            <a:r>
              <a:rPr lang="de-DE" sz="4400" dirty="0"/>
              <a:t> Level Trend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B49F9EF-8ACA-6A99-7700-B5092287A054}"/>
              </a:ext>
            </a:extLst>
          </p:cNvPr>
          <p:cNvSpPr txBox="1"/>
          <p:nvPr/>
        </p:nvSpPr>
        <p:spPr>
          <a:xfrm rot="19159151">
            <a:off x="4113458" y="2890103"/>
            <a:ext cx="1251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rgbClr val="FF0000"/>
                </a:solidFill>
              </a:rPr>
              <a:t>SSE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16F51F3-5B8A-1E34-EA98-D490F99F7C82}"/>
              </a:ext>
            </a:extLst>
          </p:cNvPr>
          <p:cNvCxnSpPr>
            <a:cxnSpLocks/>
          </p:cNvCxnSpPr>
          <p:nvPr/>
        </p:nvCxnSpPr>
        <p:spPr>
          <a:xfrm flipV="1">
            <a:off x="4054069" y="2954956"/>
            <a:ext cx="1826967" cy="14145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3CF10F82-3BAE-22C8-4C15-E89AC412A252}"/>
              </a:ext>
            </a:extLst>
          </p:cNvPr>
          <p:cNvSpPr/>
          <p:nvPr/>
        </p:nvSpPr>
        <p:spPr>
          <a:xfrm>
            <a:off x="6116376" y="2918290"/>
            <a:ext cx="1771047" cy="948089"/>
          </a:xfrm>
          <a:custGeom>
            <a:avLst/>
            <a:gdLst>
              <a:gd name="connsiteX0" fmla="*/ 0 w 1597793"/>
              <a:gd name="connsiteY0" fmla="*/ 0 h 1047539"/>
              <a:gd name="connsiteX1" fmla="*/ 202130 w 1597793"/>
              <a:gd name="connsiteY1" fmla="*/ 462013 h 1047539"/>
              <a:gd name="connsiteX2" fmla="*/ 558265 w 1597793"/>
              <a:gd name="connsiteY2" fmla="*/ 808523 h 1047539"/>
              <a:gd name="connsiteX3" fmla="*/ 1010652 w 1597793"/>
              <a:gd name="connsiteY3" fmla="*/ 1039529 h 1047539"/>
              <a:gd name="connsiteX4" fmla="*/ 1597793 w 1597793"/>
              <a:gd name="connsiteY4" fmla="*/ 972152 h 1047539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596766 w 1636294"/>
              <a:gd name="connsiteY2" fmla="*/ 683395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683393 w 1636294"/>
              <a:gd name="connsiteY2" fmla="*/ 760398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49017"/>
              <a:gd name="connsiteX1" fmla="*/ 240631 w 1636294"/>
              <a:gd name="connsiteY1" fmla="*/ 336885 h 949017"/>
              <a:gd name="connsiteX2" fmla="*/ 683393 w 1636294"/>
              <a:gd name="connsiteY2" fmla="*/ 760398 h 949017"/>
              <a:gd name="connsiteX3" fmla="*/ 1174281 w 1636294"/>
              <a:gd name="connsiteY3" fmla="*/ 943277 h 949017"/>
              <a:gd name="connsiteX4" fmla="*/ 1636294 w 1636294"/>
              <a:gd name="connsiteY4" fmla="*/ 847024 h 949017"/>
              <a:gd name="connsiteX0" fmla="*/ 0 w 1761422"/>
              <a:gd name="connsiteY0" fmla="*/ 0 h 958603"/>
              <a:gd name="connsiteX1" fmla="*/ 240631 w 1761422"/>
              <a:gd name="connsiteY1" fmla="*/ 336885 h 958603"/>
              <a:gd name="connsiteX2" fmla="*/ 683393 w 1761422"/>
              <a:gd name="connsiteY2" fmla="*/ 760398 h 958603"/>
              <a:gd name="connsiteX3" fmla="*/ 1174281 w 1761422"/>
              <a:gd name="connsiteY3" fmla="*/ 943277 h 958603"/>
              <a:gd name="connsiteX4" fmla="*/ 1761422 w 1761422"/>
              <a:gd name="connsiteY4" fmla="*/ 914401 h 958603"/>
              <a:gd name="connsiteX0" fmla="*/ 0 w 1771047"/>
              <a:gd name="connsiteY0" fmla="*/ 0 h 948089"/>
              <a:gd name="connsiteX1" fmla="*/ 240631 w 1771047"/>
              <a:gd name="connsiteY1" fmla="*/ 336885 h 948089"/>
              <a:gd name="connsiteX2" fmla="*/ 683393 w 1771047"/>
              <a:gd name="connsiteY2" fmla="*/ 760398 h 948089"/>
              <a:gd name="connsiteX3" fmla="*/ 1174281 w 1771047"/>
              <a:gd name="connsiteY3" fmla="*/ 943277 h 948089"/>
              <a:gd name="connsiteX4" fmla="*/ 1771047 w 1771047"/>
              <a:gd name="connsiteY4" fmla="*/ 827774 h 948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047" h="948089">
                <a:moveTo>
                  <a:pt x="0" y="0"/>
                </a:moveTo>
                <a:cubicBezTo>
                  <a:pt x="54543" y="163629"/>
                  <a:pt x="126732" y="210152"/>
                  <a:pt x="240631" y="336885"/>
                </a:cubicBezTo>
                <a:cubicBezTo>
                  <a:pt x="354530" y="463618"/>
                  <a:pt x="527785" y="659333"/>
                  <a:pt x="683393" y="760398"/>
                </a:cubicBezTo>
                <a:cubicBezTo>
                  <a:pt x="839001" y="861463"/>
                  <a:pt x="1001026" y="916006"/>
                  <a:pt x="1174281" y="943277"/>
                </a:cubicBezTo>
                <a:cubicBezTo>
                  <a:pt x="1347536" y="970549"/>
                  <a:pt x="1564104" y="875098"/>
                  <a:pt x="1771047" y="827774"/>
                </a:cubicBezTo>
              </a:path>
            </a:pathLst>
          </a:custGeom>
          <a:noFill/>
          <a:ln w="63500">
            <a:solidFill>
              <a:srgbClr val="00206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E220BF-7220-D293-4D13-C5D54B513E43}"/>
              </a:ext>
            </a:extLst>
          </p:cNvPr>
          <p:cNvSpPr txBox="1"/>
          <p:nvPr/>
        </p:nvSpPr>
        <p:spPr>
          <a:xfrm rot="19159151">
            <a:off x="7608372" y="3790147"/>
            <a:ext cx="1251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rgbClr val="FF0000"/>
                </a:solidFill>
              </a:rPr>
              <a:t>SSE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A589ED6-B41C-CA9E-02E9-E2DC9F47D7C9}"/>
              </a:ext>
            </a:extLst>
          </p:cNvPr>
          <p:cNvCxnSpPr>
            <a:cxnSpLocks/>
          </p:cNvCxnSpPr>
          <p:nvPr/>
        </p:nvCxnSpPr>
        <p:spPr>
          <a:xfrm flipV="1">
            <a:off x="7583236" y="3320716"/>
            <a:ext cx="1079054" cy="7006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A42EC9A-9FBE-CA68-55FB-147B52F363B0}"/>
              </a:ext>
            </a:extLst>
          </p:cNvPr>
          <p:cNvSpPr/>
          <p:nvPr/>
        </p:nvSpPr>
        <p:spPr>
          <a:xfrm>
            <a:off x="8567398" y="3357731"/>
            <a:ext cx="2184934" cy="1164656"/>
          </a:xfrm>
          <a:custGeom>
            <a:avLst/>
            <a:gdLst>
              <a:gd name="connsiteX0" fmla="*/ 0 w 1597793"/>
              <a:gd name="connsiteY0" fmla="*/ 0 h 1047539"/>
              <a:gd name="connsiteX1" fmla="*/ 202130 w 1597793"/>
              <a:gd name="connsiteY1" fmla="*/ 462013 h 1047539"/>
              <a:gd name="connsiteX2" fmla="*/ 558265 w 1597793"/>
              <a:gd name="connsiteY2" fmla="*/ 808523 h 1047539"/>
              <a:gd name="connsiteX3" fmla="*/ 1010652 w 1597793"/>
              <a:gd name="connsiteY3" fmla="*/ 1039529 h 1047539"/>
              <a:gd name="connsiteX4" fmla="*/ 1597793 w 1597793"/>
              <a:gd name="connsiteY4" fmla="*/ 972152 h 1047539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596766 w 1636294"/>
              <a:gd name="connsiteY2" fmla="*/ 683395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22411"/>
              <a:gd name="connsiteX1" fmla="*/ 240631 w 1636294"/>
              <a:gd name="connsiteY1" fmla="*/ 336885 h 922411"/>
              <a:gd name="connsiteX2" fmla="*/ 683393 w 1636294"/>
              <a:gd name="connsiteY2" fmla="*/ 760398 h 922411"/>
              <a:gd name="connsiteX3" fmla="*/ 1049153 w 1636294"/>
              <a:gd name="connsiteY3" fmla="*/ 914401 h 922411"/>
              <a:gd name="connsiteX4" fmla="*/ 1636294 w 1636294"/>
              <a:gd name="connsiteY4" fmla="*/ 847024 h 922411"/>
              <a:gd name="connsiteX0" fmla="*/ 0 w 1636294"/>
              <a:gd name="connsiteY0" fmla="*/ 0 h 949017"/>
              <a:gd name="connsiteX1" fmla="*/ 240631 w 1636294"/>
              <a:gd name="connsiteY1" fmla="*/ 336885 h 949017"/>
              <a:gd name="connsiteX2" fmla="*/ 683393 w 1636294"/>
              <a:gd name="connsiteY2" fmla="*/ 760398 h 949017"/>
              <a:gd name="connsiteX3" fmla="*/ 1174281 w 1636294"/>
              <a:gd name="connsiteY3" fmla="*/ 943277 h 949017"/>
              <a:gd name="connsiteX4" fmla="*/ 1636294 w 1636294"/>
              <a:gd name="connsiteY4" fmla="*/ 847024 h 949017"/>
              <a:gd name="connsiteX0" fmla="*/ 0 w 1761422"/>
              <a:gd name="connsiteY0" fmla="*/ 0 h 958603"/>
              <a:gd name="connsiteX1" fmla="*/ 240631 w 1761422"/>
              <a:gd name="connsiteY1" fmla="*/ 336885 h 958603"/>
              <a:gd name="connsiteX2" fmla="*/ 683393 w 1761422"/>
              <a:gd name="connsiteY2" fmla="*/ 760398 h 958603"/>
              <a:gd name="connsiteX3" fmla="*/ 1174281 w 1761422"/>
              <a:gd name="connsiteY3" fmla="*/ 943277 h 958603"/>
              <a:gd name="connsiteX4" fmla="*/ 1761422 w 1761422"/>
              <a:gd name="connsiteY4" fmla="*/ 914401 h 958603"/>
              <a:gd name="connsiteX0" fmla="*/ 0 w 1771047"/>
              <a:gd name="connsiteY0" fmla="*/ 0 h 948089"/>
              <a:gd name="connsiteX1" fmla="*/ 240631 w 1771047"/>
              <a:gd name="connsiteY1" fmla="*/ 336885 h 948089"/>
              <a:gd name="connsiteX2" fmla="*/ 683393 w 1771047"/>
              <a:gd name="connsiteY2" fmla="*/ 760398 h 948089"/>
              <a:gd name="connsiteX3" fmla="*/ 1174281 w 1771047"/>
              <a:gd name="connsiteY3" fmla="*/ 943277 h 948089"/>
              <a:gd name="connsiteX4" fmla="*/ 1771047 w 1771047"/>
              <a:gd name="connsiteY4" fmla="*/ 827774 h 948089"/>
              <a:gd name="connsiteX0" fmla="*/ 0 w 2002054"/>
              <a:gd name="connsiteY0" fmla="*/ 0 h 1332128"/>
              <a:gd name="connsiteX1" fmla="*/ 240631 w 2002054"/>
              <a:gd name="connsiteY1" fmla="*/ 336885 h 1332128"/>
              <a:gd name="connsiteX2" fmla="*/ 683393 w 2002054"/>
              <a:gd name="connsiteY2" fmla="*/ 760398 h 1332128"/>
              <a:gd name="connsiteX3" fmla="*/ 1174281 w 2002054"/>
              <a:gd name="connsiteY3" fmla="*/ 943277 h 1332128"/>
              <a:gd name="connsiteX4" fmla="*/ 2002054 w 2002054"/>
              <a:gd name="connsiteY4" fmla="*/ 1328287 h 1332128"/>
              <a:gd name="connsiteX0" fmla="*/ 0 w 2002054"/>
              <a:gd name="connsiteY0" fmla="*/ 0 h 1332602"/>
              <a:gd name="connsiteX1" fmla="*/ 240631 w 2002054"/>
              <a:gd name="connsiteY1" fmla="*/ 336885 h 1332602"/>
              <a:gd name="connsiteX2" fmla="*/ 683393 w 2002054"/>
              <a:gd name="connsiteY2" fmla="*/ 760398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2002054"/>
              <a:gd name="connsiteY0" fmla="*/ 0 h 1332602"/>
              <a:gd name="connsiteX1" fmla="*/ 240631 w 2002054"/>
              <a:gd name="connsiteY1" fmla="*/ 336885 h 1332602"/>
              <a:gd name="connsiteX2" fmla="*/ 808522 w 2002054"/>
              <a:gd name="connsiteY2" fmla="*/ 808524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2002054"/>
              <a:gd name="connsiteY0" fmla="*/ 0 h 1332602"/>
              <a:gd name="connsiteX1" fmla="*/ 308008 w 2002054"/>
              <a:gd name="connsiteY1" fmla="*/ 423513 h 1332602"/>
              <a:gd name="connsiteX2" fmla="*/ 808522 w 2002054"/>
              <a:gd name="connsiteY2" fmla="*/ 808524 h 1332602"/>
              <a:gd name="connsiteX3" fmla="*/ 1453414 w 2002054"/>
              <a:gd name="connsiteY3" fmla="*/ 991403 h 1332602"/>
              <a:gd name="connsiteX4" fmla="*/ 2002054 w 2002054"/>
              <a:gd name="connsiteY4" fmla="*/ 1328287 h 1332602"/>
              <a:gd name="connsiteX0" fmla="*/ 0 w 1963553"/>
              <a:gd name="connsiteY0" fmla="*/ 0 h 1322977"/>
              <a:gd name="connsiteX1" fmla="*/ 269507 w 1963553"/>
              <a:gd name="connsiteY1" fmla="*/ 413888 h 1322977"/>
              <a:gd name="connsiteX2" fmla="*/ 770021 w 1963553"/>
              <a:gd name="connsiteY2" fmla="*/ 798899 h 1322977"/>
              <a:gd name="connsiteX3" fmla="*/ 1414913 w 1963553"/>
              <a:gd name="connsiteY3" fmla="*/ 981778 h 1322977"/>
              <a:gd name="connsiteX4" fmla="*/ 1963553 w 1963553"/>
              <a:gd name="connsiteY4" fmla="*/ 1318662 h 1322977"/>
              <a:gd name="connsiteX0" fmla="*/ 0 w 1694046"/>
              <a:gd name="connsiteY0" fmla="*/ 0 h 909089"/>
              <a:gd name="connsiteX1" fmla="*/ 500514 w 1694046"/>
              <a:gd name="connsiteY1" fmla="*/ 385011 h 909089"/>
              <a:gd name="connsiteX2" fmla="*/ 1145406 w 1694046"/>
              <a:gd name="connsiteY2" fmla="*/ 567890 h 909089"/>
              <a:gd name="connsiteX3" fmla="*/ 1694046 w 1694046"/>
              <a:gd name="connsiteY3" fmla="*/ 904774 h 909089"/>
              <a:gd name="connsiteX0" fmla="*/ 0 w 2050181"/>
              <a:gd name="connsiteY0" fmla="*/ 0 h 1140095"/>
              <a:gd name="connsiteX1" fmla="*/ 856649 w 2050181"/>
              <a:gd name="connsiteY1" fmla="*/ 616017 h 1140095"/>
              <a:gd name="connsiteX2" fmla="*/ 1501541 w 2050181"/>
              <a:gd name="connsiteY2" fmla="*/ 798896 h 1140095"/>
              <a:gd name="connsiteX3" fmla="*/ 2050181 w 2050181"/>
              <a:gd name="connsiteY3" fmla="*/ 1135780 h 1140095"/>
              <a:gd name="connsiteX0" fmla="*/ 0 w 2050181"/>
              <a:gd name="connsiteY0" fmla="*/ 0 h 1135780"/>
              <a:gd name="connsiteX1" fmla="*/ 856649 w 2050181"/>
              <a:gd name="connsiteY1" fmla="*/ 616017 h 1135780"/>
              <a:gd name="connsiteX2" fmla="*/ 2050181 w 2050181"/>
              <a:gd name="connsiteY2" fmla="*/ 1135780 h 1135780"/>
              <a:gd name="connsiteX0" fmla="*/ 0 w 2184934"/>
              <a:gd name="connsiteY0" fmla="*/ 0 h 1164656"/>
              <a:gd name="connsiteX1" fmla="*/ 856649 w 2184934"/>
              <a:gd name="connsiteY1" fmla="*/ 616017 h 1164656"/>
              <a:gd name="connsiteX2" fmla="*/ 2184934 w 2184934"/>
              <a:gd name="connsiteY2" fmla="*/ 1164656 h 1164656"/>
              <a:gd name="connsiteX0" fmla="*/ 0 w 2184934"/>
              <a:gd name="connsiteY0" fmla="*/ 0 h 1164656"/>
              <a:gd name="connsiteX1" fmla="*/ 1097280 w 2184934"/>
              <a:gd name="connsiteY1" fmla="*/ 770021 h 1164656"/>
              <a:gd name="connsiteX2" fmla="*/ 2184934 w 2184934"/>
              <a:gd name="connsiteY2" fmla="*/ 1164656 h 1164656"/>
              <a:gd name="connsiteX0" fmla="*/ 0 w 2184934"/>
              <a:gd name="connsiteY0" fmla="*/ 0 h 1164656"/>
              <a:gd name="connsiteX1" fmla="*/ 1078030 w 2184934"/>
              <a:gd name="connsiteY1" fmla="*/ 702644 h 1164656"/>
              <a:gd name="connsiteX2" fmla="*/ 2184934 w 2184934"/>
              <a:gd name="connsiteY2" fmla="*/ 1164656 h 1164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4934" h="1164656">
                <a:moveTo>
                  <a:pt x="0" y="0"/>
                </a:moveTo>
                <a:cubicBezTo>
                  <a:pt x="128337" y="133150"/>
                  <a:pt x="713874" y="508535"/>
                  <a:pt x="1078030" y="702644"/>
                </a:cubicBezTo>
                <a:cubicBezTo>
                  <a:pt x="1442186" y="896753"/>
                  <a:pt x="1936282" y="1056372"/>
                  <a:pt x="2184934" y="1164656"/>
                </a:cubicBezTo>
              </a:path>
            </a:pathLst>
          </a:custGeom>
          <a:noFill/>
          <a:ln w="63500">
            <a:solidFill>
              <a:srgbClr val="00206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34D0F11-85AD-0570-880A-3A0866C2AC70}"/>
              </a:ext>
            </a:extLst>
          </p:cNvPr>
          <p:cNvCxnSpPr>
            <a:cxnSpLocks/>
          </p:cNvCxnSpPr>
          <p:nvPr/>
        </p:nvCxnSpPr>
        <p:spPr>
          <a:xfrm flipV="1">
            <a:off x="10876548" y="3498957"/>
            <a:ext cx="0" cy="1228709"/>
          </a:xfrm>
          <a:prstGeom prst="straightConnector1">
            <a:avLst/>
          </a:prstGeom>
          <a:ln w="127000">
            <a:solidFill>
              <a:srgbClr val="FFFF00"/>
            </a:solidFill>
            <a:tailEnd type="triangle"/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00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332</Words>
  <Application>Microsoft Office PowerPoint</Application>
  <PresentationFormat>Widescreen</PresentationFormat>
  <Paragraphs>43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Helvetica Neue</vt:lpstr>
      <vt:lpstr>Wingdings</vt:lpstr>
      <vt:lpstr>Office Theme</vt:lpstr>
      <vt:lpstr>Decadal to Centennial Vertical Paleogeodetic Record of the Seismic Cycle in the Western Solomons from Coral Paleogeodesy and Stable Isotopes</vt:lpstr>
      <vt:lpstr>Earthquake Cycles Reconstruction</vt:lpstr>
      <vt:lpstr>Earthquake Cycles Reconstruction</vt:lpstr>
      <vt:lpstr>Earthquake Cycles Reconstruction</vt:lpstr>
      <vt:lpstr>PowerPoint Presentation</vt:lpstr>
      <vt:lpstr>PowerPoint Presentation</vt:lpstr>
      <vt:lpstr>After Mw 8.1 2007</vt:lpstr>
      <vt:lpstr>After Mw 8.1 2007</vt:lpstr>
      <vt:lpstr>PowerPoint Presentation</vt:lpstr>
      <vt:lpstr>PowerPoint Presentation</vt:lpstr>
      <vt:lpstr>PowerPoint Presentation</vt:lpstr>
      <vt:lpstr>Confirmed with additional data  (Blue light/ euphotic zone)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memo</dc:creator>
  <cp:lastModifiedBy>Karaesmen, Mehmet E</cp:lastModifiedBy>
  <cp:revision>11</cp:revision>
  <dcterms:created xsi:type="dcterms:W3CDTF">2025-04-26T19:44:06Z</dcterms:created>
  <dcterms:modified xsi:type="dcterms:W3CDTF">2025-11-06T19:53:04Z</dcterms:modified>
</cp:coreProperties>
</file>