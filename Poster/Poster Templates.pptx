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9" r:id="rId3"/>
    <p:sldId id="262" r:id="rId4"/>
    <p:sldId id="260" r:id="rId5"/>
    <p:sldId id="263" r:id="rId6"/>
    <p:sldId id="258" r:id="rId7"/>
    <p:sldId id="264" r:id="rId8"/>
    <p:sldId id="257" r:id="rId9"/>
    <p:sldId id="266" r:id="rId10"/>
  </p:sldIdLst>
  <p:sldSz cx="51206400" cy="29260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216" userDrawn="1">
          <p15:clr>
            <a:srgbClr val="A4A3A4"/>
          </p15:clr>
        </p15:guide>
        <p15:guide id="2" pos="1612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136"/>
    <p:restoredTop sz="96327"/>
  </p:normalViewPr>
  <p:slideViewPr>
    <p:cSldViewPr snapToGrid="0" snapToObjects="1" showGuides="1">
      <p:cViewPr varScale="1">
        <p:scale>
          <a:sx n="40" d="100"/>
          <a:sy n="40" d="100"/>
        </p:scale>
        <p:origin x="472" y="1216"/>
      </p:cViewPr>
      <p:guideLst>
        <p:guide orient="horz" pos="9216"/>
        <p:guide pos="1612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00800" y="4788749"/>
            <a:ext cx="38404800" cy="10187093"/>
          </a:xfrm>
        </p:spPr>
        <p:txBody>
          <a:bodyPr anchor="b"/>
          <a:lstStyle>
            <a:lvl1pPr algn="ctr">
              <a:defRPr sz="2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00800" y="15368695"/>
            <a:ext cx="38404800" cy="7064585"/>
          </a:xfrm>
        </p:spPr>
        <p:txBody>
          <a:bodyPr/>
          <a:lstStyle>
            <a:lvl1pPr marL="0" indent="0" algn="ctr">
              <a:buNone/>
              <a:defRPr sz="10080"/>
            </a:lvl1pPr>
            <a:lvl2pPr marL="1920240" indent="0" algn="ctr">
              <a:buNone/>
              <a:defRPr sz="8400"/>
            </a:lvl2pPr>
            <a:lvl3pPr marL="3840480" indent="0" algn="ctr">
              <a:buNone/>
              <a:defRPr sz="7560"/>
            </a:lvl3pPr>
            <a:lvl4pPr marL="5760720" indent="0" algn="ctr">
              <a:buNone/>
              <a:defRPr sz="6720"/>
            </a:lvl4pPr>
            <a:lvl5pPr marL="7680960" indent="0" algn="ctr">
              <a:buNone/>
              <a:defRPr sz="6720"/>
            </a:lvl5pPr>
            <a:lvl6pPr marL="9601200" indent="0" algn="ctr">
              <a:buNone/>
              <a:defRPr sz="6720"/>
            </a:lvl6pPr>
            <a:lvl7pPr marL="11521440" indent="0" algn="ctr">
              <a:buNone/>
              <a:defRPr sz="6720"/>
            </a:lvl7pPr>
            <a:lvl8pPr marL="13441680" indent="0" algn="ctr">
              <a:buNone/>
              <a:defRPr sz="6720"/>
            </a:lvl8pPr>
            <a:lvl9pPr marL="15361920" indent="0" algn="ctr">
              <a:buNone/>
              <a:defRPr sz="67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624D9-ACE4-724D-A711-244E9FC0D622}" type="datetimeFigureOut">
              <a:rPr lang="en-US" smtClean="0"/>
              <a:t>2/22/22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5E7C9-405E-2348-B1DF-F8651E82EC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917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624D9-ACE4-724D-A711-244E9FC0D622}" type="datetimeFigureOut">
              <a:rPr lang="en-US" smtClean="0"/>
              <a:t>2/22/22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5E7C9-405E-2348-B1DF-F8651E82EC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6967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93770" y="7294884"/>
            <a:ext cx="44165520" cy="12171678"/>
          </a:xfrm>
        </p:spPr>
        <p:txBody>
          <a:bodyPr anchor="b"/>
          <a:lstStyle>
            <a:lvl1pPr>
              <a:defRPr sz="2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93770" y="19581711"/>
            <a:ext cx="44165520" cy="6400798"/>
          </a:xfrm>
        </p:spPr>
        <p:txBody>
          <a:bodyPr/>
          <a:lstStyle>
            <a:lvl1pPr marL="0" indent="0">
              <a:buNone/>
              <a:defRPr sz="10080">
                <a:solidFill>
                  <a:schemeClr val="tx1">
                    <a:tint val="75000"/>
                  </a:schemeClr>
                </a:solidFill>
              </a:defRPr>
            </a:lvl1pPr>
            <a:lvl2pPr marL="1920240" indent="0">
              <a:buNone/>
              <a:defRPr sz="8400">
                <a:solidFill>
                  <a:schemeClr val="tx1">
                    <a:tint val="75000"/>
                  </a:schemeClr>
                </a:solidFill>
              </a:defRPr>
            </a:lvl2pPr>
            <a:lvl3pPr marL="3840480" indent="0">
              <a:buNone/>
              <a:defRPr sz="7560">
                <a:solidFill>
                  <a:schemeClr val="tx1">
                    <a:tint val="75000"/>
                  </a:schemeClr>
                </a:solidFill>
              </a:defRPr>
            </a:lvl3pPr>
            <a:lvl4pPr marL="576072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4pPr>
            <a:lvl5pPr marL="768096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5pPr>
            <a:lvl6pPr marL="960120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6pPr>
            <a:lvl7pPr marL="1152144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7pPr>
            <a:lvl8pPr marL="1344168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8pPr>
            <a:lvl9pPr marL="1536192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624D9-ACE4-724D-A711-244E9FC0D622}" type="datetimeFigureOut">
              <a:rPr lang="en-US" smtClean="0"/>
              <a:t>2/22/22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5E7C9-405E-2348-B1DF-F8651E82EC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4199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20440" y="7789333"/>
            <a:ext cx="21762720" cy="185657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923240" y="7789333"/>
            <a:ext cx="21762720" cy="185657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624D9-ACE4-724D-A711-244E9FC0D622}" type="datetimeFigureOut">
              <a:rPr lang="en-US" smtClean="0"/>
              <a:t>2/22/22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5E7C9-405E-2348-B1DF-F8651E82EC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5141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7110" y="1557869"/>
            <a:ext cx="44165520" cy="565573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27112" y="7172962"/>
            <a:ext cx="21662705" cy="3515358"/>
          </a:xfrm>
        </p:spPr>
        <p:txBody>
          <a:bodyPr anchor="b"/>
          <a:lstStyle>
            <a:lvl1pPr marL="0" indent="0">
              <a:buNone/>
              <a:defRPr sz="10080" b="1"/>
            </a:lvl1pPr>
            <a:lvl2pPr marL="1920240" indent="0">
              <a:buNone/>
              <a:defRPr sz="8400" b="1"/>
            </a:lvl2pPr>
            <a:lvl3pPr marL="3840480" indent="0">
              <a:buNone/>
              <a:defRPr sz="7560" b="1"/>
            </a:lvl3pPr>
            <a:lvl4pPr marL="5760720" indent="0">
              <a:buNone/>
              <a:defRPr sz="6720" b="1"/>
            </a:lvl4pPr>
            <a:lvl5pPr marL="7680960" indent="0">
              <a:buNone/>
              <a:defRPr sz="6720" b="1"/>
            </a:lvl5pPr>
            <a:lvl6pPr marL="9601200" indent="0">
              <a:buNone/>
              <a:defRPr sz="6720" b="1"/>
            </a:lvl6pPr>
            <a:lvl7pPr marL="11521440" indent="0">
              <a:buNone/>
              <a:defRPr sz="6720" b="1"/>
            </a:lvl7pPr>
            <a:lvl8pPr marL="13441680" indent="0">
              <a:buNone/>
              <a:defRPr sz="6720" b="1"/>
            </a:lvl8pPr>
            <a:lvl9pPr marL="15361920" indent="0">
              <a:buNone/>
              <a:defRPr sz="67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27112" y="10688320"/>
            <a:ext cx="21662705" cy="157209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5923240" y="7172962"/>
            <a:ext cx="21769390" cy="3515358"/>
          </a:xfrm>
        </p:spPr>
        <p:txBody>
          <a:bodyPr anchor="b"/>
          <a:lstStyle>
            <a:lvl1pPr marL="0" indent="0">
              <a:buNone/>
              <a:defRPr sz="10080" b="1"/>
            </a:lvl1pPr>
            <a:lvl2pPr marL="1920240" indent="0">
              <a:buNone/>
              <a:defRPr sz="8400" b="1"/>
            </a:lvl2pPr>
            <a:lvl3pPr marL="3840480" indent="0">
              <a:buNone/>
              <a:defRPr sz="7560" b="1"/>
            </a:lvl3pPr>
            <a:lvl4pPr marL="5760720" indent="0">
              <a:buNone/>
              <a:defRPr sz="6720" b="1"/>
            </a:lvl4pPr>
            <a:lvl5pPr marL="7680960" indent="0">
              <a:buNone/>
              <a:defRPr sz="6720" b="1"/>
            </a:lvl5pPr>
            <a:lvl6pPr marL="9601200" indent="0">
              <a:buNone/>
              <a:defRPr sz="6720" b="1"/>
            </a:lvl6pPr>
            <a:lvl7pPr marL="11521440" indent="0">
              <a:buNone/>
              <a:defRPr sz="6720" b="1"/>
            </a:lvl7pPr>
            <a:lvl8pPr marL="13441680" indent="0">
              <a:buNone/>
              <a:defRPr sz="6720" b="1"/>
            </a:lvl8pPr>
            <a:lvl9pPr marL="15361920" indent="0">
              <a:buNone/>
              <a:defRPr sz="67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5923240" y="10688320"/>
            <a:ext cx="21769390" cy="157209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624D9-ACE4-724D-A711-244E9FC0D622}" type="datetimeFigureOut">
              <a:rPr lang="en-US" smtClean="0"/>
              <a:t>2/22/22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5E7C9-405E-2348-B1DF-F8651E82EC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479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624D9-ACE4-724D-A711-244E9FC0D622}" type="datetimeFigureOut">
              <a:rPr lang="en-US" smtClean="0"/>
              <a:t>2/22/22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5E7C9-405E-2348-B1DF-F8651E82EC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661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624D9-ACE4-724D-A711-244E9FC0D622}" type="datetimeFigureOut">
              <a:rPr lang="en-US" smtClean="0"/>
              <a:t>2/22/22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5E7C9-405E-2348-B1DF-F8651E82EC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1999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7112" y="1950720"/>
            <a:ext cx="16515395" cy="6827520"/>
          </a:xfrm>
        </p:spPr>
        <p:txBody>
          <a:bodyPr anchor="b"/>
          <a:lstStyle>
            <a:lvl1pPr>
              <a:defRPr sz="134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69390" y="4213016"/>
            <a:ext cx="25923240" cy="20794133"/>
          </a:xfrm>
        </p:spPr>
        <p:txBody>
          <a:bodyPr/>
          <a:lstStyle>
            <a:lvl1pPr>
              <a:defRPr sz="13440"/>
            </a:lvl1pPr>
            <a:lvl2pPr>
              <a:defRPr sz="11760"/>
            </a:lvl2pPr>
            <a:lvl3pPr>
              <a:defRPr sz="10080"/>
            </a:lvl3pPr>
            <a:lvl4pPr>
              <a:defRPr sz="8400"/>
            </a:lvl4pPr>
            <a:lvl5pPr>
              <a:defRPr sz="8400"/>
            </a:lvl5pPr>
            <a:lvl6pPr>
              <a:defRPr sz="8400"/>
            </a:lvl6pPr>
            <a:lvl7pPr>
              <a:defRPr sz="8400"/>
            </a:lvl7pPr>
            <a:lvl8pPr>
              <a:defRPr sz="8400"/>
            </a:lvl8pPr>
            <a:lvl9pPr>
              <a:defRPr sz="8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27112" y="8778240"/>
            <a:ext cx="16515395" cy="16262775"/>
          </a:xfrm>
        </p:spPr>
        <p:txBody>
          <a:bodyPr/>
          <a:lstStyle>
            <a:lvl1pPr marL="0" indent="0">
              <a:buNone/>
              <a:defRPr sz="6720"/>
            </a:lvl1pPr>
            <a:lvl2pPr marL="1920240" indent="0">
              <a:buNone/>
              <a:defRPr sz="5880"/>
            </a:lvl2pPr>
            <a:lvl3pPr marL="3840480" indent="0">
              <a:buNone/>
              <a:defRPr sz="5040"/>
            </a:lvl3pPr>
            <a:lvl4pPr marL="5760720" indent="0">
              <a:buNone/>
              <a:defRPr sz="4200"/>
            </a:lvl4pPr>
            <a:lvl5pPr marL="7680960" indent="0">
              <a:buNone/>
              <a:defRPr sz="4200"/>
            </a:lvl5pPr>
            <a:lvl6pPr marL="9601200" indent="0">
              <a:buNone/>
              <a:defRPr sz="4200"/>
            </a:lvl6pPr>
            <a:lvl7pPr marL="11521440" indent="0">
              <a:buNone/>
              <a:defRPr sz="4200"/>
            </a:lvl7pPr>
            <a:lvl8pPr marL="13441680" indent="0">
              <a:buNone/>
              <a:defRPr sz="4200"/>
            </a:lvl8pPr>
            <a:lvl9pPr marL="15361920" indent="0">
              <a:buNone/>
              <a:defRPr sz="4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624D9-ACE4-724D-A711-244E9FC0D622}" type="datetimeFigureOut">
              <a:rPr lang="en-US" smtClean="0"/>
              <a:t>2/22/22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5E7C9-405E-2348-B1DF-F8651E82EC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610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7112" y="1950720"/>
            <a:ext cx="16515395" cy="6827520"/>
          </a:xfrm>
        </p:spPr>
        <p:txBody>
          <a:bodyPr anchor="b"/>
          <a:lstStyle>
            <a:lvl1pPr>
              <a:defRPr sz="134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769390" y="4213016"/>
            <a:ext cx="25923240" cy="20794133"/>
          </a:xfrm>
        </p:spPr>
        <p:txBody>
          <a:bodyPr anchor="t"/>
          <a:lstStyle>
            <a:lvl1pPr marL="0" indent="0">
              <a:buNone/>
              <a:defRPr sz="13440"/>
            </a:lvl1pPr>
            <a:lvl2pPr marL="1920240" indent="0">
              <a:buNone/>
              <a:defRPr sz="11760"/>
            </a:lvl2pPr>
            <a:lvl3pPr marL="3840480" indent="0">
              <a:buNone/>
              <a:defRPr sz="10080"/>
            </a:lvl3pPr>
            <a:lvl4pPr marL="5760720" indent="0">
              <a:buNone/>
              <a:defRPr sz="8400"/>
            </a:lvl4pPr>
            <a:lvl5pPr marL="7680960" indent="0">
              <a:buNone/>
              <a:defRPr sz="8400"/>
            </a:lvl5pPr>
            <a:lvl6pPr marL="9601200" indent="0">
              <a:buNone/>
              <a:defRPr sz="8400"/>
            </a:lvl6pPr>
            <a:lvl7pPr marL="11521440" indent="0">
              <a:buNone/>
              <a:defRPr sz="8400"/>
            </a:lvl7pPr>
            <a:lvl8pPr marL="13441680" indent="0">
              <a:buNone/>
              <a:defRPr sz="8400"/>
            </a:lvl8pPr>
            <a:lvl9pPr marL="15361920" indent="0">
              <a:buNone/>
              <a:defRPr sz="8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27112" y="8778240"/>
            <a:ext cx="16515395" cy="16262775"/>
          </a:xfrm>
        </p:spPr>
        <p:txBody>
          <a:bodyPr/>
          <a:lstStyle>
            <a:lvl1pPr marL="0" indent="0">
              <a:buNone/>
              <a:defRPr sz="6720"/>
            </a:lvl1pPr>
            <a:lvl2pPr marL="1920240" indent="0">
              <a:buNone/>
              <a:defRPr sz="5880"/>
            </a:lvl2pPr>
            <a:lvl3pPr marL="3840480" indent="0">
              <a:buNone/>
              <a:defRPr sz="5040"/>
            </a:lvl3pPr>
            <a:lvl4pPr marL="5760720" indent="0">
              <a:buNone/>
              <a:defRPr sz="4200"/>
            </a:lvl4pPr>
            <a:lvl5pPr marL="7680960" indent="0">
              <a:buNone/>
              <a:defRPr sz="4200"/>
            </a:lvl5pPr>
            <a:lvl6pPr marL="9601200" indent="0">
              <a:buNone/>
              <a:defRPr sz="4200"/>
            </a:lvl6pPr>
            <a:lvl7pPr marL="11521440" indent="0">
              <a:buNone/>
              <a:defRPr sz="4200"/>
            </a:lvl7pPr>
            <a:lvl8pPr marL="13441680" indent="0">
              <a:buNone/>
              <a:defRPr sz="4200"/>
            </a:lvl8pPr>
            <a:lvl9pPr marL="15361920" indent="0">
              <a:buNone/>
              <a:defRPr sz="4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624D9-ACE4-724D-A711-244E9FC0D622}" type="datetimeFigureOut">
              <a:rPr lang="en-US" smtClean="0"/>
              <a:t>2/22/22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5E7C9-405E-2348-B1DF-F8651E82EC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198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624D9-ACE4-724D-A711-244E9FC0D622}" type="datetimeFigureOut">
              <a:rPr lang="en-US" smtClean="0"/>
              <a:t>2/22/22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5E7C9-405E-2348-B1DF-F8651E82EC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7337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6644580" y="1557867"/>
            <a:ext cx="11041380" cy="247971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520440" y="1557867"/>
            <a:ext cx="32484060" cy="247971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624D9-ACE4-724D-A711-244E9FC0D622}" type="datetimeFigureOut">
              <a:rPr lang="en-US" smtClean="0"/>
              <a:t>2/22/22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5E7C9-405E-2348-B1DF-F8651E82EC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7717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20440" y="1557869"/>
            <a:ext cx="44165520" cy="56557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20440" y="7789333"/>
            <a:ext cx="44165520" cy="185657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520440" y="27120429"/>
            <a:ext cx="11521440" cy="1557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0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5624D9-ACE4-724D-A711-244E9FC0D622}" type="datetimeFigureOut">
              <a:rPr lang="en-US" smtClean="0"/>
              <a:t>2/22/22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962120" y="27120429"/>
            <a:ext cx="17282160" cy="1557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0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164520" y="27120429"/>
            <a:ext cx="11521440" cy="1557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0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95E7C9-405E-2348-B1DF-F8651E82EC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8605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840480" rtl="0" eaLnBrk="1" latinLnBrk="0" hangingPunct="1">
        <a:lnSpc>
          <a:spcPct val="90000"/>
        </a:lnSpc>
        <a:spcBef>
          <a:spcPct val="0"/>
        </a:spcBef>
        <a:buNone/>
        <a:defRPr sz="184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60120" indent="-960120" algn="l" defTabSz="3840480" rtl="0" eaLnBrk="1" latinLnBrk="0" hangingPunct="1">
        <a:lnSpc>
          <a:spcPct val="90000"/>
        </a:lnSpc>
        <a:spcBef>
          <a:spcPts val="4200"/>
        </a:spcBef>
        <a:buFont typeface="Arial" panose="020B0604020202020204" pitchFamily="34" charset="0"/>
        <a:buChar char="•"/>
        <a:defRPr sz="11760" kern="1200">
          <a:solidFill>
            <a:schemeClr val="tx1"/>
          </a:solidFill>
          <a:latin typeface="+mn-lt"/>
          <a:ea typeface="+mn-ea"/>
          <a:cs typeface="+mn-cs"/>
        </a:defRPr>
      </a:lvl1pPr>
      <a:lvl2pPr marL="2880360" indent="-960120" algn="l" defTabSz="3840480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2pPr>
      <a:lvl3pPr marL="4800600" indent="-960120" algn="l" defTabSz="3840480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8400" kern="1200">
          <a:solidFill>
            <a:schemeClr val="tx1"/>
          </a:solidFill>
          <a:latin typeface="+mn-lt"/>
          <a:ea typeface="+mn-ea"/>
          <a:cs typeface="+mn-cs"/>
        </a:defRPr>
      </a:lvl3pPr>
      <a:lvl4pPr marL="6720840" indent="-960120" algn="l" defTabSz="3840480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7560" kern="1200">
          <a:solidFill>
            <a:schemeClr val="tx1"/>
          </a:solidFill>
          <a:latin typeface="+mn-lt"/>
          <a:ea typeface="+mn-ea"/>
          <a:cs typeface="+mn-cs"/>
        </a:defRPr>
      </a:lvl4pPr>
      <a:lvl5pPr marL="8641080" indent="-960120" algn="l" defTabSz="3840480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7560" kern="1200">
          <a:solidFill>
            <a:schemeClr val="tx1"/>
          </a:solidFill>
          <a:latin typeface="+mn-lt"/>
          <a:ea typeface="+mn-ea"/>
          <a:cs typeface="+mn-cs"/>
        </a:defRPr>
      </a:lvl5pPr>
      <a:lvl6pPr marL="10561320" indent="-960120" algn="l" defTabSz="3840480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7560" kern="1200">
          <a:solidFill>
            <a:schemeClr val="tx1"/>
          </a:solidFill>
          <a:latin typeface="+mn-lt"/>
          <a:ea typeface="+mn-ea"/>
          <a:cs typeface="+mn-cs"/>
        </a:defRPr>
      </a:lvl6pPr>
      <a:lvl7pPr marL="12481560" indent="-960120" algn="l" defTabSz="3840480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7560" kern="1200">
          <a:solidFill>
            <a:schemeClr val="tx1"/>
          </a:solidFill>
          <a:latin typeface="+mn-lt"/>
          <a:ea typeface="+mn-ea"/>
          <a:cs typeface="+mn-cs"/>
        </a:defRPr>
      </a:lvl7pPr>
      <a:lvl8pPr marL="14401800" indent="-960120" algn="l" defTabSz="3840480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7560" kern="1200">
          <a:solidFill>
            <a:schemeClr val="tx1"/>
          </a:solidFill>
          <a:latin typeface="+mn-lt"/>
          <a:ea typeface="+mn-ea"/>
          <a:cs typeface="+mn-cs"/>
        </a:defRPr>
      </a:lvl8pPr>
      <a:lvl9pPr marL="16322040" indent="-960120" algn="l" defTabSz="3840480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75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40480" rtl="0" eaLnBrk="1" latinLnBrk="0" hangingPunct="1">
        <a:defRPr sz="7560" kern="1200">
          <a:solidFill>
            <a:schemeClr val="tx1"/>
          </a:solidFill>
          <a:latin typeface="+mn-lt"/>
          <a:ea typeface="+mn-ea"/>
          <a:cs typeface="+mn-cs"/>
        </a:defRPr>
      </a:lvl1pPr>
      <a:lvl2pPr marL="1920240" algn="l" defTabSz="3840480" rtl="0" eaLnBrk="1" latinLnBrk="0" hangingPunct="1">
        <a:defRPr sz="7560" kern="1200">
          <a:solidFill>
            <a:schemeClr val="tx1"/>
          </a:solidFill>
          <a:latin typeface="+mn-lt"/>
          <a:ea typeface="+mn-ea"/>
          <a:cs typeface="+mn-cs"/>
        </a:defRPr>
      </a:lvl2pPr>
      <a:lvl3pPr marL="3840480" algn="l" defTabSz="3840480" rtl="0" eaLnBrk="1" latinLnBrk="0" hangingPunct="1">
        <a:defRPr sz="7560" kern="1200">
          <a:solidFill>
            <a:schemeClr val="tx1"/>
          </a:solidFill>
          <a:latin typeface="+mn-lt"/>
          <a:ea typeface="+mn-ea"/>
          <a:cs typeface="+mn-cs"/>
        </a:defRPr>
      </a:lvl3pPr>
      <a:lvl4pPr marL="5760720" algn="l" defTabSz="3840480" rtl="0" eaLnBrk="1" latinLnBrk="0" hangingPunct="1">
        <a:defRPr sz="7560" kern="1200">
          <a:solidFill>
            <a:schemeClr val="tx1"/>
          </a:solidFill>
          <a:latin typeface="+mn-lt"/>
          <a:ea typeface="+mn-ea"/>
          <a:cs typeface="+mn-cs"/>
        </a:defRPr>
      </a:lvl4pPr>
      <a:lvl5pPr marL="7680960" algn="l" defTabSz="3840480" rtl="0" eaLnBrk="1" latinLnBrk="0" hangingPunct="1">
        <a:defRPr sz="7560" kern="1200">
          <a:solidFill>
            <a:schemeClr val="tx1"/>
          </a:solidFill>
          <a:latin typeface="+mn-lt"/>
          <a:ea typeface="+mn-ea"/>
          <a:cs typeface="+mn-cs"/>
        </a:defRPr>
      </a:lvl5pPr>
      <a:lvl6pPr marL="9601200" algn="l" defTabSz="3840480" rtl="0" eaLnBrk="1" latinLnBrk="0" hangingPunct="1">
        <a:defRPr sz="7560" kern="1200">
          <a:solidFill>
            <a:schemeClr val="tx1"/>
          </a:solidFill>
          <a:latin typeface="+mn-lt"/>
          <a:ea typeface="+mn-ea"/>
          <a:cs typeface="+mn-cs"/>
        </a:defRPr>
      </a:lvl6pPr>
      <a:lvl7pPr marL="11521440" algn="l" defTabSz="3840480" rtl="0" eaLnBrk="1" latinLnBrk="0" hangingPunct="1">
        <a:defRPr sz="7560" kern="1200">
          <a:solidFill>
            <a:schemeClr val="tx1"/>
          </a:solidFill>
          <a:latin typeface="+mn-lt"/>
          <a:ea typeface="+mn-ea"/>
          <a:cs typeface="+mn-cs"/>
        </a:defRPr>
      </a:lvl7pPr>
      <a:lvl8pPr marL="13441680" algn="l" defTabSz="3840480" rtl="0" eaLnBrk="1" latinLnBrk="0" hangingPunct="1">
        <a:defRPr sz="7560" kern="1200">
          <a:solidFill>
            <a:schemeClr val="tx1"/>
          </a:solidFill>
          <a:latin typeface="+mn-lt"/>
          <a:ea typeface="+mn-ea"/>
          <a:cs typeface="+mn-cs"/>
        </a:defRPr>
      </a:lvl8pPr>
      <a:lvl9pPr marL="15361920" algn="l" defTabSz="3840480" rtl="0" eaLnBrk="1" latinLnBrk="0" hangingPunct="1">
        <a:defRPr sz="75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C30E7-D375-7A47-A512-AA82654DD5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ADD091-D2DE-6B44-8FEC-0ACCF5AB02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CF1E7B6-0C70-294F-8DA1-3D856CAD76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496" y="-434667"/>
            <a:ext cx="50673407" cy="30130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977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C30E7-D375-7A47-A512-AA82654DD5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799" y="887507"/>
            <a:ext cx="38404800" cy="4195482"/>
          </a:xfrm>
        </p:spPr>
        <p:txBody>
          <a:bodyPr>
            <a:noAutofit/>
          </a:bodyPr>
          <a:lstStyle/>
          <a:p>
            <a:r>
              <a:rPr lang="en-US" sz="7200" b="1" dirty="0">
                <a:latin typeface="+mn-lt"/>
              </a:rPr>
              <a:t>ADD TITLE HERE (this is 72pt font, don’t go much smaller)</a:t>
            </a:r>
            <a:br>
              <a:rPr lang="en-US" sz="7200" b="1" dirty="0">
                <a:latin typeface="+mn-lt"/>
              </a:rPr>
            </a:br>
            <a:br>
              <a:rPr lang="en-US" sz="7200" b="1" dirty="0">
                <a:latin typeface="+mn-lt"/>
              </a:rPr>
            </a:br>
            <a:r>
              <a:rPr lang="en-US" sz="6000" b="1" dirty="0">
                <a:latin typeface="+mn-lt"/>
              </a:rPr>
              <a:t>Add Authors Here (this is 60pt font)</a:t>
            </a:r>
            <a:br>
              <a:rPr lang="en-US" sz="6000" b="1" dirty="0">
                <a:latin typeface="+mn-lt"/>
              </a:rPr>
            </a:br>
            <a:r>
              <a:rPr lang="en-US" sz="6000" dirty="0">
                <a:latin typeface="+mn-lt"/>
              </a:rPr>
              <a:t>Add author’s affiliations here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71D415-EE08-0646-8849-3B5A6C1B5028}"/>
              </a:ext>
            </a:extLst>
          </p:cNvPr>
          <p:cNvSpPr/>
          <p:nvPr/>
        </p:nvSpPr>
        <p:spPr>
          <a:xfrm>
            <a:off x="430306" y="416859"/>
            <a:ext cx="50345789" cy="28427082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Logo, icon&#10;&#10;Description automatically generated">
            <a:extLst>
              <a:ext uri="{FF2B5EF4-FFF2-40B4-BE49-F238E27FC236}">
                <a16:creationId xmlns:a16="http://schemas.microsoft.com/office/drawing/2014/main" id="{D7E5EF51-C4ED-7A49-8F38-91E4D5800D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2442" y="1536356"/>
            <a:ext cx="4343027" cy="2897784"/>
          </a:xfrm>
          <a:prstGeom prst="rect">
            <a:avLst/>
          </a:prstGeom>
        </p:spPr>
      </p:pic>
      <p:pic>
        <p:nvPicPr>
          <p:cNvPr id="9" name="Picture 8" descr="Graphical user interface&#10;&#10;Description automatically generated with low confidence">
            <a:extLst>
              <a:ext uri="{FF2B5EF4-FFF2-40B4-BE49-F238E27FC236}">
                <a16:creationId xmlns:a16="http://schemas.microsoft.com/office/drawing/2014/main" id="{359A5732-F69F-8E4B-9476-D5A4E558BA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80946" y="1872368"/>
            <a:ext cx="8576926" cy="170353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1CE0D4-5902-8340-992A-0C1226DA6B0F}"/>
              </a:ext>
            </a:extLst>
          </p:cNvPr>
          <p:cNvSpPr/>
          <p:nvPr/>
        </p:nvSpPr>
        <p:spPr>
          <a:xfrm>
            <a:off x="767443" y="711092"/>
            <a:ext cx="49671515" cy="437189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13F2989-BFC0-0547-9373-DC9CB1F2D367}"/>
              </a:ext>
            </a:extLst>
          </p:cNvPr>
          <p:cNvSpPr/>
          <p:nvPr/>
        </p:nvSpPr>
        <p:spPr>
          <a:xfrm>
            <a:off x="767443" y="16636185"/>
            <a:ext cx="12184257" cy="1191352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AB3618A-F932-D341-B3AB-B4D01D463702}"/>
              </a:ext>
            </a:extLst>
          </p:cNvPr>
          <p:cNvSpPr/>
          <p:nvPr/>
        </p:nvSpPr>
        <p:spPr>
          <a:xfrm>
            <a:off x="767443" y="5350296"/>
            <a:ext cx="12206028" cy="1097549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F6F55A3-74C0-8247-80BB-F28887C92355}"/>
              </a:ext>
            </a:extLst>
          </p:cNvPr>
          <p:cNvSpPr/>
          <p:nvPr/>
        </p:nvSpPr>
        <p:spPr>
          <a:xfrm>
            <a:off x="38254701" y="16636185"/>
            <a:ext cx="12184257" cy="1191352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942B9A6-DE85-C34C-9DB7-394A9D0FD2F8}"/>
              </a:ext>
            </a:extLst>
          </p:cNvPr>
          <p:cNvSpPr/>
          <p:nvPr/>
        </p:nvSpPr>
        <p:spPr>
          <a:xfrm>
            <a:off x="38232930" y="5350296"/>
            <a:ext cx="12206028" cy="1097549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9EF9705-AA48-4940-A06B-22534E4A8560}"/>
              </a:ext>
            </a:extLst>
          </p:cNvPr>
          <p:cNvSpPr txBox="1"/>
          <p:nvPr/>
        </p:nvSpPr>
        <p:spPr>
          <a:xfrm>
            <a:off x="1110343" y="5617029"/>
            <a:ext cx="11495314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/>
              <a:t>Add Introduction/Question/</a:t>
            </a:r>
          </a:p>
          <a:p>
            <a:pPr algn="ctr"/>
            <a:r>
              <a:rPr lang="en-US" sz="4800" b="1" dirty="0"/>
              <a:t>Goals of your poster here</a:t>
            </a:r>
          </a:p>
          <a:p>
            <a:endParaRPr lang="en-US" sz="3600" dirty="0"/>
          </a:p>
          <a:p>
            <a:r>
              <a:rPr lang="en-US" sz="3600" dirty="0"/>
              <a:t>- Short/snappy text is best </a:t>
            </a:r>
          </a:p>
          <a:p>
            <a:r>
              <a:rPr lang="en-US" sz="3600" dirty="0"/>
              <a:t>- Don’t write in a long abstract</a:t>
            </a:r>
          </a:p>
          <a:p>
            <a:r>
              <a:rPr lang="en-US" sz="3600" dirty="0"/>
              <a:t>- Bullet points are better than paragraphs</a:t>
            </a:r>
          </a:p>
          <a:p>
            <a:r>
              <a:rPr lang="en-US" sz="3600" dirty="0"/>
              <a:t>- Make sure you get people’s attention</a:t>
            </a:r>
          </a:p>
          <a:p>
            <a:r>
              <a:rPr lang="en-US" sz="3600" b="1" dirty="0"/>
              <a:t>WHY DO WE CARE?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0C08CA5-E64A-DF4D-86EC-39DA96D3BEF0}"/>
              </a:ext>
            </a:extLst>
          </p:cNvPr>
          <p:cNvSpPr txBox="1"/>
          <p:nvPr/>
        </p:nvSpPr>
        <p:spPr>
          <a:xfrm>
            <a:off x="1122800" y="17108654"/>
            <a:ext cx="11495314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/>
              <a:t>Add background information/</a:t>
            </a:r>
          </a:p>
          <a:p>
            <a:pPr algn="ctr"/>
            <a:r>
              <a:rPr lang="en-US" sz="4800" b="1" dirty="0"/>
              <a:t>methods/geological setting here</a:t>
            </a:r>
          </a:p>
          <a:p>
            <a:pPr algn="ctr"/>
            <a:endParaRPr lang="en-US" sz="3600" dirty="0"/>
          </a:p>
          <a:p>
            <a:r>
              <a:rPr lang="en-US" sz="3600" dirty="0"/>
              <a:t>- Short/snappy text is best </a:t>
            </a:r>
          </a:p>
          <a:p>
            <a:r>
              <a:rPr lang="en-US" sz="3600" dirty="0"/>
              <a:t>- Bullet points are better than paragraphs</a:t>
            </a:r>
          </a:p>
          <a:p>
            <a:r>
              <a:rPr lang="en-US" sz="3600" dirty="0"/>
              <a:t>- Make sure you give people  background on what you’re doing</a:t>
            </a:r>
            <a:endParaRPr lang="en-US" sz="36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3606753-80B4-0147-833E-6EC656912144}"/>
              </a:ext>
            </a:extLst>
          </p:cNvPr>
          <p:cNvSpPr txBox="1"/>
          <p:nvPr/>
        </p:nvSpPr>
        <p:spPr>
          <a:xfrm>
            <a:off x="38600743" y="5617029"/>
            <a:ext cx="11495314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/>
              <a:t>Results Summary or </a:t>
            </a:r>
          </a:p>
          <a:p>
            <a:pPr algn="ctr"/>
            <a:r>
              <a:rPr lang="en-US" sz="4800" b="1" dirty="0"/>
              <a:t>Discussion points goes here</a:t>
            </a:r>
          </a:p>
          <a:p>
            <a:pPr algn="ctr"/>
            <a:endParaRPr lang="en-US" sz="3600" dirty="0"/>
          </a:p>
          <a:p>
            <a:r>
              <a:rPr lang="en-US" sz="3600" dirty="0"/>
              <a:t>- Summarize what people should know</a:t>
            </a:r>
          </a:p>
          <a:p>
            <a:r>
              <a:rPr lang="en-US" sz="3600" dirty="0"/>
              <a:t>- WHAT ARE THE 3-5 MAIN TAKE AWAY POINTS?</a:t>
            </a:r>
            <a:endParaRPr lang="en-US" sz="36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E10A4A4-0D9D-B547-852E-0B57D9510113}"/>
              </a:ext>
            </a:extLst>
          </p:cNvPr>
          <p:cNvSpPr txBox="1"/>
          <p:nvPr/>
        </p:nvSpPr>
        <p:spPr>
          <a:xfrm>
            <a:off x="38613200" y="17239302"/>
            <a:ext cx="1149531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/>
              <a:t>Future/Ongoing Work goes here</a:t>
            </a:r>
          </a:p>
          <a:p>
            <a:pPr algn="ctr"/>
            <a:endParaRPr lang="en-US" sz="3600" dirty="0"/>
          </a:p>
          <a:p>
            <a:r>
              <a:rPr lang="en-US" sz="3600" dirty="0"/>
              <a:t>- What are you still doing?</a:t>
            </a:r>
          </a:p>
          <a:p>
            <a:r>
              <a:rPr lang="en-US" sz="3600" dirty="0"/>
              <a:t>- Acknowledgements or key </a:t>
            </a:r>
          </a:p>
          <a:p>
            <a:r>
              <a:rPr lang="en-US" sz="3600" dirty="0"/>
              <a:t>references can go here</a:t>
            </a:r>
            <a:endParaRPr lang="en-US" sz="3600" b="1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50FAEBB-3C47-9F45-B939-B9C70CBD44F2}"/>
              </a:ext>
            </a:extLst>
          </p:cNvPr>
          <p:cNvSpPr/>
          <p:nvPr/>
        </p:nvSpPr>
        <p:spPr>
          <a:xfrm>
            <a:off x="13288837" y="5350297"/>
            <a:ext cx="24650498" cy="2319941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F9EDBD2-5A43-9E45-91C0-03AE593E4BBD}"/>
              </a:ext>
            </a:extLst>
          </p:cNvPr>
          <p:cNvSpPr txBox="1"/>
          <p:nvPr/>
        </p:nvSpPr>
        <p:spPr>
          <a:xfrm>
            <a:off x="20550760" y="5617029"/>
            <a:ext cx="1149531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/>
              <a:t>Results and Interpretations go here</a:t>
            </a:r>
          </a:p>
          <a:p>
            <a:endParaRPr lang="en-US" sz="3600" dirty="0"/>
          </a:p>
          <a:p>
            <a:r>
              <a:rPr lang="en-US" sz="3600" dirty="0"/>
              <a:t>- Short/snappy text is best</a:t>
            </a:r>
          </a:p>
          <a:p>
            <a:r>
              <a:rPr lang="en-US" sz="3600" dirty="0"/>
              <a:t>-Bullet points are better than paragraphs</a:t>
            </a:r>
          </a:p>
          <a:p>
            <a:r>
              <a:rPr lang="en-US" sz="3600" dirty="0"/>
              <a:t>-Large graphs/plots/images are good here</a:t>
            </a:r>
          </a:p>
          <a:p>
            <a:r>
              <a:rPr lang="en-US" sz="3600" dirty="0"/>
              <a:t>-A good interpretive sketch or </a:t>
            </a:r>
          </a:p>
          <a:p>
            <a:r>
              <a:rPr lang="en-US" sz="3600" dirty="0"/>
              <a:t>schematic can be very useful here</a:t>
            </a:r>
            <a:endParaRPr lang="en-US" sz="3600" b="1" dirty="0"/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6280D984-102A-D445-B65F-D6116AC90FD3}"/>
              </a:ext>
            </a:extLst>
          </p:cNvPr>
          <p:cNvSpPr/>
          <p:nvPr/>
        </p:nvSpPr>
        <p:spPr>
          <a:xfrm>
            <a:off x="17923376" y="16057802"/>
            <a:ext cx="15316200" cy="10851684"/>
          </a:xfrm>
          <a:prstGeom prst="roundRect">
            <a:avLst/>
          </a:prstGeom>
          <a:solidFill>
            <a:srgbClr val="4472C4">
              <a:alpha val="45882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Use a “non Serif” font (like </a:t>
            </a:r>
            <a:r>
              <a:rPr lang="en-US" sz="4800" b="1" dirty="0">
                <a:solidFill>
                  <a:schemeClr val="tx1"/>
                </a:solidFill>
                <a:latin typeface="Myriad Pro" panose="020B0503030403020204" pitchFamily="34" charset="0"/>
              </a:rPr>
              <a:t>Myriad Pro</a:t>
            </a:r>
            <a:r>
              <a:rPr lang="en-US" sz="4800" b="1" dirty="0">
                <a:solidFill>
                  <a:schemeClr val="tx1"/>
                </a:solidFill>
              </a:rPr>
              <a:t>, </a:t>
            </a:r>
            <a:r>
              <a:rPr lang="en-US" sz="4800" b="1" dirty="0">
                <a:solidFill>
                  <a:schemeClr val="tx1"/>
                </a:solidFill>
                <a:latin typeface="Helvetica" pitchFamily="2" charset="0"/>
              </a:rPr>
              <a:t>Helvetica</a:t>
            </a:r>
            <a:r>
              <a:rPr lang="en-US" sz="4800" b="1" dirty="0">
                <a:solidFill>
                  <a:schemeClr val="tx1"/>
                </a:solidFill>
              </a:rPr>
              <a:t>, </a:t>
            </a:r>
            <a:r>
              <a:rPr lang="en-US" sz="4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Ariel</a:t>
            </a:r>
            <a:r>
              <a:rPr lang="en-US" sz="4800" b="1" dirty="0">
                <a:solidFill>
                  <a:schemeClr val="tx1"/>
                </a:solidFill>
              </a:rPr>
              <a:t>, Calibri, etc.)</a:t>
            </a:r>
          </a:p>
          <a:p>
            <a:pPr algn="ctr"/>
            <a:r>
              <a:rPr lang="en-US" sz="4800" b="1" dirty="0">
                <a:solidFill>
                  <a:schemeClr val="tx1"/>
                </a:solidFill>
              </a:rPr>
              <a:t>Make sure your text/Figures are readable (e.g., this is 48pt font, bold)</a:t>
            </a:r>
          </a:p>
          <a:p>
            <a:pPr algn="ctr"/>
            <a:endParaRPr lang="en-US" sz="4800" b="1" dirty="0">
              <a:solidFill>
                <a:schemeClr val="tx1"/>
              </a:solidFill>
            </a:endParaRPr>
          </a:p>
          <a:p>
            <a:pPr algn="ctr"/>
            <a:r>
              <a:rPr lang="en-US" sz="4800" b="1" u="sng" dirty="0">
                <a:solidFill>
                  <a:schemeClr val="tx1"/>
                </a:solidFill>
              </a:rPr>
              <a:t>Be sure to check alignment of text/objects, </a:t>
            </a:r>
          </a:p>
          <a:p>
            <a:pPr algn="ctr"/>
            <a:r>
              <a:rPr lang="en-US" sz="4800" b="1" u="sng" dirty="0">
                <a:solidFill>
                  <a:schemeClr val="tx1"/>
                </a:solidFill>
              </a:rPr>
              <a:t>spelling, and colors before printing!</a:t>
            </a:r>
          </a:p>
          <a:p>
            <a:pPr algn="ctr"/>
            <a:endParaRPr lang="en-US" sz="4800" b="1" u="sng" dirty="0">
              <a:solidFill>
                <a:schemeClr val="tx1"/>
              </a:solidFill>
            </a:endParaRPr>
          </a:p>
          <a:p>
            <a:pPr algn="ctr"/>
            <a:r>
              <a:rPr lang="en-US" sz="4800" b="1" dirty="0">
                <a:solidFill>
                  <a:schemeClr val="tx1"/>
                </a:solidFill>
              </a:rPr>
              <a:t>Color and shapes are your friend for drawing people’s attention to the important stuff. </a:t>
            </a:r>
          </a:p>
          <a:p>
            <a:pPr algn="ctr"/>
            <a:r>
              <a:rPr lang="en-US" sz="4800" b="1" dirty="0">
                <a:solidFill>
                  <a:schemeClr val="tx1"/>
                </a:solidFill>
              </a:rPr>
              <a:t>This isn’t a white paper! That said, no one likes a cacophony of color!</a:t>
            </a:r>
          </a:p>
          <a:p>
            <a:pPr algn="ctr"/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31" name="Right Arrow 30">
            <a:extLst>
              <a:ext uri="{FF2B5EF4-FFF2-40B4-BE49-F238E27FC236}">
                <a16:creationId xmlns:a16="http://schemas.microsoft.com/office/drawing/2014/main" id="{2FA29779-4D44-2F41-8508-A0ECF20E8CDF}"/>
              </a:ext>
            </a:extLst>
          </p:cNvPr>
          <p:cNvSpPr/>
          <p:nvPr/>
        </p:nvSpPr>
        <p:spPr>
          <a:xfrm>
            <a:off x="16132628" y="23072271"/>
            <a:ext cx="2416629" cy="1143000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&quot;No&quot; Symbol 31">
            <a:extLst>
              <a:ext uri="{FF2B5EF4-FFF2-40B4-BE49-F238E27FC236}">
                <a16:creationId xmlns:a16="http://schemas.microsoft.com/office/drawing/2014/main" id="{8491A0FD-377F-EE4C-BDD2-C206BD03A62C}"/>
              </a:ext>
            </a:extLst>
          </p:cNvPr>
          <p:cNvSpPr/>
          <p:nvPr/>
        </p:nvSpPr>
        <p:spPr>
          <a:xfrm>
            <a:off x="32640542" y="22337645"/>
            <a:ext cx="1828800" cy="1877626"/>
          </a:xfrm>
          <a:prstGeom prst="noSmoking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22D2FA21-B617-E648-A393-A9F71E83FCBA}"/>
              </a:ext>
            </a:extLst>
          </p:cNvPr>
          <p:cNvSpPr/>
          <p:nvPr/>
        </p:nvSpPr>
        <p:spPr>
          <a:xfrm>
            <a:off x="15218229" y="10842171"/>
            <a:ext cx="7641771" cy="2547258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i="1" dirty="0"/>
              <a:t>4-Panel Boxes!</a:t>
            </a:r>
          </a:p>
          <a:p>
            <a:pPr algn="ctr"/>
            <a:r>
              <a:rPr lang="en-US" sz="6000" i="1" dirty="0"/>
              <a:t>One large Results box</a:t>
            </a:r>
          </a:p>
        </p:txBody>
      </p:sp>
    </p:spTree>
    <p:extLst>
      <p:ext uri="{BB962C8B-B14F-4D97-AF65-F5344CB8AC3E}">
        <p14:creationId xmlns:p14="http://schemas.microsoft.com/office/powerpoint/2010/main" val="16981524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C30E7-D375-7A47-A512-AA82654DD5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799" y="887507"/>
            <a:ext cx="38404800" cy="4195482"/>
          </a:xfrm>
        </p:spPr>
        <p:txBody>
          <a:bodyPr>
            <a:noAutofit/>
          </a:bodyPr>
          <a:lstStyle/>
          <a:p>
            <a:r>
              <a:rPr lang="en-US" sz="7200" b="1" dirty="0">
                <a:latin typeface="+mn-lt"/>
              </a:rPr>
              <a:t>ADD TITLE HERE (this is 72pt font, don’t go much smaller)</a:t>
            </a:r>
            <a:br>
              <a:rPr lang="en-US" sz="7200" b="1" dirty="0">
                <a:latin typeface="+mn-lt"/>
              </a:rPr>
            </a:br>
            <a:br>
              <a:rPr lang="en-US" sz="7200" b="1" dirty="0">
                <a:latin typeface="+mn-lt"/>
              </a:rPr>
            </a:br>
            <a:r>
              <a:rPr lang="en-US" sz="6000" b="1" dirty="0">
                <a:latin typeface="+mn-lt"/>
              </a:rPr>
              <a:t>Add Authors Here (this is 60pt font)</a:t>
            </a:r>
            <a:br>
              <a:rPr lang="en-US" sz="6000" b="1" dirty="0">
                <a:latin typeface="+mn-lt"/>
              </a:rPr>
            </a:br>
            <a:r>
              <a:rPr lang="en-US" sz="6000" dirty="0">
                <a:latin typeface="+mn-lt"/>
              </a:rPr>
              <a:t>Add author’s affiliations here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71D415-EE08-0646-8849-3B5A6C1B5028}"/>
              </a:ext>
            </a:extLst>
          </p:cNvPr>
          <p:cNvSpPr/>
          <p:nvPr/>
        </p:nvSpPr>
        <p:spPr>
          <a:xfrm>
            <a:off x="430306" y="416859"/>
            <a:ext cx="50345789" cy="28427082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Logo, icon&#10;&#10;Description automatically generated">
            <a:extLst>
              <a:ext uri="{FF2B5EF4-FFF2-40B4-BE49-F238E27FC236}">
                <a16:creationId xmlns:a16="http://schemas.microsoft.com/office/drawing/2014/main" id="{D7E5EF51-C4ED-7A49-8F38-91E4D5800D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2442" y="1536356"/>
            <a:ext cx="4343027" cy="2897784"/>
          </a:xfrm>
          <a:prstGeom prst="rect">
            <a:avLst/>
          </a:prstGeom>
        </p:spPr>
      </p:pic>
      <p:pic>
        <p:nvPicPr>
          <p:cNvPr id="9" name="Picture 8" descr="Graphical user interface&#10;&#10;Description automatically generated with low confidence">
            <a:extLst>
              <a:ext uri="{FF2B5EF4-FFF2-40B4-BE49-F238E27FC236}">
                <a16:creationId xmlns:a16="http://schemas.microsoft.com/office/drawing/2014/main" id="{359A5732-F69F-8E4B-9476-D5A4E558BA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80946" y="1872368"/>
            <a:ext cx="8576926" cy="170353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9EF9705-AA48-4940-A06B-22534E4A8560}"/>
              </a:ext>
            </a:extLst>
          </p:cNvPr>
          <p:cNvSpPr txBox="1"/>
          <p:nvPr/>
        </p:nvSpPr>
        <p:spPr>
          <a:xfrm>
            <a:off x="1110343" y="5617029"/>
            <a:ext cx="11495314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/>
              <a:t>Add Introduction/Question/</a:t>
            </a:r>
          </a:p>
          <a:p>
            <a:pPr algn="ctr"/>
            <a:r>
              <a:rPr lang="en-US" sz="4800" b="1" dirty="0"/>
              <a:t>Goals of your poster here</a:t>
            </a:r>
          </a:p>
          <a:p>
            <a:endParaRPr lang="en-US" sz="3600" dirty="0"/>
          </a:p>
          <a:p>
            <a:r>
              <a:rPr lang="en-US" sz="3600" dirty="0"/>
              <a:t>- Short/snappy text is best </a:t>
            </a:r>
          </a:p>
          <a:p>
            <a:r>
              <a:rPr lang="en-US" sz="3600" dirty="0"/>
              <a:t>- Don’t write in a long abstract</a:t>
            </a:r>
          </a:p>
          <a:p>
            <a:r>
              <a:rPr lang="en-US" sz="3600" dirty="0"/>
              <a:t>- Bullet points are better than paragraphs</a:t>
            </a:r>
          </a:p>
          <a:p>
            <a:r>
              <a:rPr lang="en-US" sz="3600" dirty="0"/>
              <a:t>- Make sure you get people’s attention</a:t>
            </a:r>
          </a:p>
          <a:p>
            <a:r>
              <a:rPr lang="en-US" sz="3600" b="1" dirty="0"/>
              <a:t>WHY DO WE CARE?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0C08CA5-E64A-DF4D-86EC-39DA96D3BEF0}"/>
              </a:ext>
            </a:extLst>
          </p:cNvPr>
          <p:cNvSpPr txBox="1"/>
          <p:nvPr/>
        </p:nvSpPr>
        <p:spPr>
          <a:xfrm>
            <a:off x="1122800" y="17108654"/>
            <a:ext cx="11495314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/>
              <a:t>Add background information/</a:t>
            </a:r>
          </a:p>
          <a:p>
            <a:pPr algn="ctr"/>
            <a:r>
              <a:rPr lang="en-US" sz="4800" b="1" dirty="0"/>
              <a:t>methods/geological setting here</a:t>
            </a:r>
          </a:p>
          <a:p>
            <a:pPr algn="ctr"/>
            <a:endParaRPr lang="en-US" sz="3600" dirty="0"/>
          </a:p>
          <a:p>
            <a:r>
              <a:rPr lang="en-US" sz="3600" dirty="0"/>
              <a:t>- Short/snappy text is best </a:t>
            </a:r>
          </a:p>
          <a:p>
            <a:r>
              <a:rPr lang="en-US" sz="3600" dirty="0"/>
              <a:t>- Bullet points are better than paragraphs</a:t>
            </a:r>
          </a:p>
          <a:p>
            <a:r>
              <a:rPr lang="en-US" sz="3600" dirty="0"/>
              <a:t>- Make sure you give people  background on what you’re doing</a:t>
            </a:r>
            <a:endParaRPr lang="en-US" sz="36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3606753-80B4-0147-833E-6EC656912144}"/>
              </a:ext>
            </a:extLst>
          </p:cNvPr>
          <p:cNvSpPr txBox="1"/>
          <p:nvPr/>
        </p:nvSpPr>
        <p:spPr>
          <a:xfrm>
            <a:off x="38600743" y="5617029"/>
            <a:ext cx="11495314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/>
              <a:t>Results Summary or </a:t>
            </a:r>
          </a:p>
          <a:p>
            <a:pPr algn="ctr"/>
            <a:r>
              <a:rPr lang="en-US" sz="4800" b="1" dirty="0"/>
              <a:t>Discussion points goes here</a:t>
            </a:r>
          </a:p>
          <a:p>
            <a:pPr algn="ctr"/>
            <a:endParaRPr lang="en-US" sz="3600" dirty="0"/>
          </a:p>
          <a:p>
            <a:r>
              <a:rPr lang="en-US" sz="3600" dirty="0"/>
              <a:t>- Summarize what people should know</a:t>
            </a:r>
          </a:p>
          <a:p>
            <a:r>
              <a:rPr lang="en-US" sz="3600" dirty="0"/>
              <a:t>- WHAT ARE THE 3-5 MAIN TAKE AWAY POINTS?</a:t>
            </a:r>
            <a:endParaRPr lang="en-US" sz="36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E10A4A4-0D9D-B547-852E-0B57D9510113}"/>
              </a:ext>
            </a:extLst>
          </p:cNvPr>
          <p:cNvSpPr txBox="1"/>
          <p:nvPr/>
        </p:nvSpPr>
        <p:spPr>
          <a:xfrm>
            <a:off x="38613200" y="17239302"/>
            <a:ext cx="1149531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/>
              <a:t>Future/Ongoing Work goes here</a:t>
            </a:r>
          </a:p>
          <a:p>
            <a:pPr algn="ctr"/>
            <a:endParaRPr lang="en-US" sz="3600" dirty="0"/>
          </a:p>
          <a:p>
            <a:r>
              <a:rPr lang="en-US" sz="3600" dirty="0"/>
              <a:t>- What are you still doing?</a:t>
            </a:r>
          </a:p>
          <a:p>
            <a:r>
              <a:rPr lang="en-US" sz="3600" dirty="0"/>
              <a:t>- Acknowledgements or key </a:t>
            </a:r>
          </a:p>
          <a:p>
            <a:r>
              <a:rPr lang="en-US" sz="3600" dirty="0"/>
              <a:t>references can go here</a:t>
            </a:r>
            <a:endParaRPr lang="en-US" sz="36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F9EDBD2-5A43-9E45-91C0-03AE593E4BBD}"/>
              </a:ext>
            </a:extLst>
          </p:cNvPr>
          <p:cNvSpPr txBox="1"/>
          <p:nvPr/>
        </p:nvSpPr>
        <p:spPr>
          <a:xfrm>
            <a:off x="20550760" y="5617029"/>
            <a:ext cx="1149531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/>
              <a:t>Results and Interpretations go here</a:t>
            </a:r>
          </a:p>
          <a:p>
            <a:endParaRPr lang="en-US" sz="3600" dirty="0"/>
          </a:p>
          <a:p>
            <a:r>
              <a:rPr lang="en-US" sz="3600" dirty="0"/>
              <a:t>- Short/snappy text is best</a:t>
            </a:r>
          </a:p>
          <a:p>
            <a:r>
              <a:rPr lang="en-US" sz="3600" dirty="0"/>
              <a:t>-Bullet points are better than paragraphs</a:t>
            </a:r>
          </a:p>
          <a:p>
            <a:r>
              <a:rPr lang="en-US" sz="3600" dirty="0"/>
              <a:t>-Large graphs/plots/images are good here</a:t>
            </a:r>
          </a:p>
          <a:p>
            <a:r>
              <a:rPr lang="en-US" sz="3600" dirty="0"/>
              <a:t>-A good interpretive sketch or </a:t>
            </a:r>
          </a:p>
          <a:p>
            <a:r>
              <a:rPr lang="en-US" sz="3600" dirty="0"/>
              <a:t>schematic can be very useful here</a:t>
            </a:r>
            <a:endParaRPr lang="en-US" sz="3600" b="1" dirty="0"/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6280D984-102A-D445-B65F-D6116AC90FD3}"/>
              </a:ext>
            </a:extLst>
          </p:cNvPr>
          <p:cNvSpPr/>
          <p:nvPr/>
        </p:nvSpPr>
        <p:spPr>
          <a:xfrm>
            <a:off x="17923376" y="16057802"/>
            <a:ext cx="15316200" cy="10851684"/>
          </a:xfrm>
          <a:prstGeom prst="roundRect">
            <a:avLst/>
          </a:prstGeom>
          <a:solidFill>
            <a:srgbClr val="4472C4">
              <a:alpha val="45882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Use a “non Serif” font (like </a:t>
            </a:r>
            <a:r>
              <a:rPr lang="en-US" sz="4800" b="1" dirty="0">
                <a:solidFill>
                  <a:schemeClr val="tx1"/>
                </a:solidFill>
                <a:latin typeface="Myriad Pro" panose="020B0503030403020204" pitchFamily="34" charset="0"/>
              </a:rPr>
              <a:t>Myriad Pro</a:t>
            </a:r>
            <a:r>
              <a:rPr lang="en-US" sz="4800" b="1" dirty="0">
                <a:solidFill>
                  <a:schemeClr val="tx1"/>
                </a:solidFill>
              </a:rPr>
              <a:t>, </a:t>
            </a:r>
            <a:r>
              <a:rPr lang="en-US" sz="4800" b="1" dirty="0">
                <a:solidFill>
                  <a:schemeClr val="tx1"/>
                </a:solidFill>
                <a:latin typeface="Helvetica" pitchFamily="2" charset="0"/>
              </a:rPr>
              <a:t>Helvetica</a:t>
            </a:r>
            <a:r>
              <a:rPr lang="en-US" sz="4800" b="1" dirty="0">
                <a:solidFill>
                  <a:schemeClr val="tx1"/>
                </a:solidFill>
              </a:rPr>
              <a:t>, </a:t>
            </a:r>
            <a:r>
              <a:rPr lang="en-US" sz="4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Ariel</a:t>
            </a:r>
            <a:r>
              <a:rPr lang="en-US" sz="4800" b="1" dirty="0">
                <a:solidFill>
                  <a:schemeClr val="tx1"/>
                </a:solidFill>
              </a:rPr>
              <a:t>, Calibri, etc.)</a:t>
            </a:r>
          </a:p>
          <a:p>
            <a:pPr algn="ctr"/>
            <a:r>
              <a:rPr lang="en-US" sz="4800" b="1" dirty="0">
                <a:solidFill>
                  <a:schemeClr val="tx1"/>
                </a:solidFill>
              </a:rPr>
              <a:t>Make sure your text/Figures are readable (e.g., this is 48pt font, bold)</a:t>
            </a:r>
          </a:p>
          <a:p>
            <a:pPr algn="ctr"/>
            <a:endParaRPr lang="en-US" sz="4800" b="1" dirty="0">
              <a:solidFill>
                <a:schemeClr val="tx1"/>
              </a:solidFill>
            </a:endParaRPr>
          </a:p>
          <a:p>
            <a:pPr algn="ctr"/>
            <a:r>
              <a:rPr lang="en-US" sz="4800" b="1" u="sng" dirty="0">
                <a:solidFill>
                  <a:schemeClr val="tx1"/>
                </a:solidFill>
              </a:rPr>
              <a:t>Be sure to check alignment of text/objects, </a:t>
            </a:r>
          </a:p>
          <a:p>
            <a:pPr algn="ctr"/>
            <a:r>
              <a:rPr lang="en-US" sz="4800" b="1" u="sng" dirty="0">
                <a:solidFill>
                  <a:schemeClr val="tx1"/>
                </a:solidFill>
              </a:rPr>
              <a:t>spelling, and colors before printing!</a:t>
            </a:r>
          </a:p>
          <a:p>
            <a:pPr algn="ctr"/>
            <a:endParaRPr lang="en-US" sz="4800" b="1" u="sng" dirty="0">
              <a:solidFill>
                <a:schemeClr val="tx1"/>
              </a:solidFill>
            </a:endParaRPr>
          </a:p>
          <a:p>
            <a:pPr algn="ctr"/>
            <a:r>
              <a:rPr lang="en-US" sz="4800" b="1" dirty="0">
                <a:solidFill>
                  <a:schemeClr val="tx1"/>
                </a:solidFill>
              </a:rPr>
              <a:t>Color and shapes are your friend for drawing people’s attention to the important stuff. </a:t>
            </a:r>
          </a:p>
          <a:p>
            <a:pPr algn="ctr"/>
            <a:r>
              <a:rPr lang="en-US" sz="4800" b="1" dirty="0">
                <a:solidFill>
                  <a:schemeClr val="tx1"/>
                </a:solidFill>
              </a:rPr>
              <a:t>This isn’t a white paper! That said, no one likes a cacophony of color!</a:t>
            </a:r>
          </a:p>
          <a:p>
            <a:pPr algn="ctr"/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31" name="Right Arrow 30">
            <a:extLst>
              <a:ext uri="{FF2B5EF4-FFF2-40B4-BE49-F238E27FC236}">
                <a16:creationId xmlns:a16="http://schemas.microsoft.com/office/drawing/2014/main" id="{2FA29779-4D44-2F41-8508-A0ECF20E8CDF}"/>
              </a:ext>
            </a:extLst>
          </p:cNvPr>
          <p:cNvSpPr/>
          <p:nvPr/>
        </p:nvSpPr>
        <p:spPr>
          <a:xfrm>
            <a:off x="16132628" y="23072271"/>
            <a:ext cx="2416629" cy="1143000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&quot;No&quot; Symbol 31">
            <a:extLst>
              <a:ext uri="{FF2B5EF4-FFF2-40B4-BE49-F238E27FC236}">
                <a16:creationId xmlns:a16="http://schemas.microsoft.com/office/drawing/2014/main" id="{8491A0FD-377F-EE4C-BDD2-C206BD03A62C}"/>
              </a:ext>
            </a:extLst>
          </p:cNvPr>
          <p:cNvSpPr/>
          <p:nvPr/>
        </p:nvSpPr>
        <p:spPr>
          <a:xfrm>
            <a:off x="32640542" y="22337645"/>
            <a:ext cx="1828800" cy="1877626"/>
          </a:xfrm>
          <a:prstGeom prst="noSmoking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22D2FA21-B617-E648-A393-A9F71E83FCBA}"/>
              </a:ext>
            </a:extLst>
          </p:cNvPr>
          <p:cNvSpPr/>
          <p:nvPr/>
        </p:nvSpPr>
        <p:spPr>
          <a:xfrm>
            <a:off x="15218229" y="10842171"/>
            <a:ext cx="7641771" cy="2547258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i="1" dirty="0"/>
              <a:t>4-Panel Lines!</a:t>
            </a:r>
          </a:p>
          <a:p>
            <a:pPr algn="ctr"/>
            <a:r>
              <a:rPr lang="en-US" sz="6000" i="1" dirty="0"/>
              <a:t>One large Results area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F7A325B-A1C3-364C-9988-D2EB0BA0EBD1}"/>
              </a:ext>
            </a:extLst>
          </p:cNvPr>
          <p:cNvCxnSpPr>
            <a:cxnSpLocks/>
          </p:cNvCxnSpPr>
          <p:nvPr/>
        </p:nvCxnSpPr>
        <p:spPr>
          <a:xfrm>
            <a:off x="767443" y="5082989"/>
            <a:ext cx="4967151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AAE3F84-7C16-A743-A39F-E24B04760DA4}"/>
              </a:ext>
            </a:extLst>
          </p:cNvPr>
          <p:cNvCxnSpPr>
            <a:cxnSpLocks/>
          </p:cNvCxnSpPr>
          <p:nvPr/>
        </p:nvCxnSpPr>
        <p:spPr>
          <a:xfrm>
            <a:off x="767443" y="16404131"/>
            <a:ext cx="1218425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ABE66A0-20FC-A04E-B5AA-2B4E06A90266}"/>
              </a:ext>
            </a:extLst>
          </p:cNvPr>
          <p:cNvCxnSpPr>
            <a:cxnSpLocks/>
          </p:cNvCxnSpPr>
          <p:nvPr/>
        </p:nvCxnSpPr>
        <p:spPr>
          <a:xfrm>
            <a:off x="38254701" y="16404131"/>
            <a:ext cx="1218425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55B8A19-E1D3-A34A-8006-CF7474C19B3F}"/>
              </a:ext>
            </a:extLst>
          </p:cNvPr>
          <p:cNvCxnSpPr>
            <a:cxnSpLocks/>
          </p:cNvCxnSpPr>
          <p:nvPr/>
        </p:nvCxnSpPr>
        <p:spPr>
          <a:xfrm>
            <a:off x="37939335" y="5350297"/>
            <a:ext cx="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42ED88E-8187-D64D-A1C4-329954E2D0D6}"/>
              </a:ext>
            </a:extLst>
          </p:cNvPr>
          <p:cNvCxnSpPr>
            <a:cxnSpLocks/>
          </p:cNvCxnSpPr>
          <p:nvPr/>
        </p:nvCxnSpPr>
        <p:spPr>
          <a:xfrm>
            <a:off x="38091735" y="5502697"/>
            <a:ext cx="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AEAED8C-8C09-2B47-BD7A-965D5C8011BF}"/>
              </a:ext>
            </a:extLst>
          </p:cNvPr>
          <p:cNvCxnSpPr>
            <a:cxnSpLocks/>
          </p:cNvCxnSpPr>
          <p:nvPr/>
        </p:nvCxnSpPr>
        <p:spPr>
          <a:xfrm>
            <a:off x="37837917" y="5617029"/>
            <a:ext cx="0" cy="2293267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6BB21D4-E1BF-B349-A6AC-41FEC2A4DA9D}"/>
              </a:ext>
            </a:extLst>
          </p:cNvPr>
          <p:cNvCxnSpPr>
            <a:cxnSpLocks/>
          </p:cNvCxnSpPr>
          <p:nvPr/>
        </p:nvCxnSpPr>
        <p:spPr>
          <a:xfrm>
            <a:off x="13418958" y="5617029"/>
            <a:ext cx="0" cy="2293267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64785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C30E7-D375-7A47-A512-AA82654DD5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799" y="887507"/>
            <a:ext cx="38404800" cy="4195482"/>
          </a:xfrm>
        </p:spPr>
        <p:txBody>
          <a:bodyPr>
            <a:noAutofit/>
          </a:bodyPr>
          <a:lstStyle/>
          <a:p>
            <a:r>
              <a:rPr lang="en-US" sz="7200" b="1" dirty="0">
                <a:latin typeface="+mn-lt"/>
              </a:rPr>
              <a:t>ADD TITLE HERE (this is 72pt font, don’t go much smaller)</a:t>
            </a:r>
            <a:br>
              <a:rPr lang="en-US" sz="7200" b="1" dirty="0">
                <a:latin typeface="+mn-lt"/>
              </a:rPr>
            </a:br>
            <a:br>
              <a:rPr lang="en-US" sz="7200" b="1" dirty="0">
                <a:latin typeface="+mn-lt"/>
              </a:rPr>
            </a:br>
            <a:r>
              <a:rPr lang="en-US" sz="6000" b="1" dirty="0">
                <a:latin typeface="+mn-lt"/>
              </a:rPr>
              <a:t>Add Authors Here (this is 60pt font)</a:t>
            </a:r>
            <a:br>
              <a:rPr lang="en-US" sz="6000" b="1" dirty="0">
                <a:latin typeface="+mn-lt"/>
              </a:rPr>
            </a:br>
            <a:r>
              <a:rPr lang="en-US" sz="6000" dirty="0">
                <a:latin typeface="+mn-lt"/>
              </a:rPr>
              <a:t>Add author’s affiliations here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71D415-EE08-0646-8849-3B5A6C1B5028}"/>
              </a:ext>
            </a:extLst>
          </p:cNvPr>
          <p:cNvSpPr/>
          <p:nvPr/>
        </p:nvSpPr>
        <p:spPr>
          <a:xfrm>
            <a:off x="430306" y="416859"/>
            <a:ext cx="50345789" cy="28427082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Logo, icon&#10;&#10;Description automatically generated">
            <a:extLst>
              <a:ext uri="{FF2B5EF4-FFF2-40B4-BE49-F238E27FC236}">
                <a16:creationId xmlns:a16="http://schemas.microsoft.com/office/drawing/2014/main" id="{D7E5EF51-C4ED-7A49-8F38-91E4D5800D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2442" y="1536356"/>
            <a:ext cx="4343027" cy="2897784"/>
          </a:xfrm>
          <a:prstGeom prst="rect">
            <a:avLst/>
          </a:prstGeom>
        </p:spPr>
      </p:pic>
      <p:pic>
        <p:nvPicPr>
          <p:cNvPr id="9" name="Picture 8" descr="Graphical user interface&#10;&#10;Description automatically generated with low confidence">
            <a:extLst>
              <a:ext uri="{FF2B5EF4-FFF2-40B4-BE49-F238E27FC236}">
                <a16:creationId xmlns:a16="http://schemas.microsoft.com/office/drawing/2014/main" id="{359A5732-F69F-8E4B-9476-D5A4E558BA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80946" y="1872368"/>
            <a:ext cx="8576926" cy="170353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1CE0D4-5902-8340-992A-0C1226DA6B0F}"/>
              </a:ext>
            </a:extLst>
          </p:cNvPr>
          <p:cNvSpPr/>
          <p:nvPr/>
        </p:nvSpPr>
        <p:spPr>
          <a:xfrm>
            <a:off x="767443" y="711092"/>
            <a:ext cx="49671515" cy="437189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13F2989-BFC0-0547-9373-DC9CB1F2D367}"/>
              </a:ext>
            </a:extLst>
          </p:cNvPr>
          <p:cNvSpPr/>
          <p:nvPr/>
        </p:nvSpPr>
        <p:spPr>
          <a:xfrm>
            <a:off x="767443" y="16636185"/>
            <a:ext cx="12184257" cy="1191352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AB3618A-F932-D341-B3AB-B4D01D463702}"/>
              </a:ext>
            </a:extLst>
          </p:cNvPr>
          <p:cNvSpPr/>
          <p:nvPr/>
        </p:nvSpPr>
        <p:spPr>
          <a:xfrm>
            <a:off x="767443" y="5350296"/>
            <a:ext cx="12206028" cy="1097549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F6F55A3-74C0-8247-80BB-F28887C92355}"/>
              </a:ext>
            </a:extLst>
          </p:cNvPr>
          <p:cNvSpPr/>
          <p:nvPr/>
        </p:nvSpPr>
        <p:spPr>
          <a:xfrm>
            <a:off x="38254701" y="16636185"/>
            <a:ext cx="12184257" cy="1191352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942B9A6-DE85-C34C-9DB7-394A9D0FD2F8}"/>
              </a:ext>
            </a:extLst>
          </p:cNvPr>
          <p:cNvSpPr/>
          <p:nvPr/>
        </p:nvSpPr>
        <p:spPr>
          <a:xfrm>
            <a:off x="38232930" y="5350296"/>
            <a:ext cx="12206028" cy="1097549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9EF9705-AA48-4940-A06B-22534E4A8560}"/>
              </a:ext>
            </a:extLst>
          </p:cNvPr>
          <p:cNvSpPr txBox="1"/>
          <p:nvPr/>
        </p:nvSpPr>
        <p:spPr>
          <a:xfrm>
            <a:off x="1110343" y="5617029"/>
            <a:ext cx="11495314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/>
              <a:t>Add Introduction/Question/</a:t>
            </a:r>
          </a:p>
          <a:p>
            <a:pPr algn="ctr"/>
            <a:r>
              <a:rPr lang="en-US" sz="4800" b="1" dirty="0"/>
              <a:t>Goals of your poster here</a:t>
            </a:r>
          </a:p>
          <a:p>
            <a:endParaRPr lang="en-US" sz="3600" dirty="0"/>
          </a:p>
          <a:p>
            <a:r>
              <a:rPr lang="en-US" sz="3600" dirty="0"/>
              <a:t>- Short/snappy text is best </a:t>
            </a:r>
          </a:p>
          <a:p>
            <a:r>
              <a:rPr lang="en-US" sz="3600" dirty="0"/>
              <a:t>- Don’t write in a long abstract</a:t>
            </a:r>
          </a:p>
          <a:p>
            <a:r>
              <a:rPr lang="en-US" sz="3600" dirty="0"/>
              <a:t>- Bullet points are better than paragraphs</a:t>
            </a:r>
          </a:p>
          <a:p>
            <a:r>
              <a:rPr lang="en-US" sz="3600" dirty="0"/>
              <a:t>- Make sure you get people’s attention</a:t>
            </a:r>
          </a:p>
          <a:p>
            <a:r>
              <a:rPr lang="en-US" sz="3600" b="1" dirty="0"/>
              <a:t>WHY DO WE CARE?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0C08CA5-E64A-DF4D-86EC-39DA96D3BEF0}"/>
              </a:ext>
            </a:extLst>
          </p:cNvPr>
          <p:cNvSpPr txBox="1"/>
          <p:nvPr/>
        </p:nvSpPr>
        <p:spPr>
          <a:xfrm>
            <a:off x="1122800" y="17108654"/>
            <a:ext cx="11495314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/>
              <a:t>Add background information/</a:t>
            </a:r>
          </a:p>
          <a:p>
            <a:pPr algn="ctr"/>
            <a:r>
              <a:rPr lang="en-US" sz="4800" b="1" dirty="0"/>
              <a:t>methods/geological setting here</a:t>
            </a:r>
          </a:p>
          <a:p>
            <a:pPr algn="ctr"/>
            <a:endParaRPr lang="en-US" sz="3600" dirty="0"/>
          </a:p>
          <a:p>
            <a:r>
              <a:rPr lang="en-US" sz="3600" dirty="0"/>
              <a:t>- Short/snappy text is best </a:t>
            </a:r>
          </a:p>
          <a:p>
            <a:r>
              <a:rPr lang="en-US" sz="3600" dirty="0"/>
              <a:t>- Bullet points are better than paragraphs</a:t>
            </a:r>
          </a:p>
          <a:p>
            <a:r>
              <a:rPr lang="en-US" sz="3600" dirty="0"/>
              <a:t>- Make sure you give people  background on what you’re doing</a:t>
            </a:r>
            <a:endParaRPr lang="en-US" sz="36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3606753-80B4-0147-833E-6EC656912144}"/>
              </a:ext>
            </a:extLst>
          </p:cNvPr>
          <p:cNvSpPr txBox="1"/>
          <p:nvPr/>
        </p:nvSpPr>
        <p:spPr>
          <a:xfrm>
            <a:off x="38600743" y="5617029"/>
            <a:ext cx="11495314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/>
              <a:t>Results Summary or </a:t>
            </a:r>
          </a:p>
          <a:p>
            <a:pPr algn="ctr"/>
            <a:r>
              <a:rPr lang="en-US" sz="4800" b="1" dirty="0"/>
              <a:t>Discussion points goes here</a:t>
            </a:r>
          </a:p>
          <a:p>
            <a:pPr algn="ctr"/>
            <a:endParaRPr lang="en-US" sz="3600" dirty="0"/>
          </a:p>
          <a:p>
            <a:r>
              <a:rPr lang="en-US" sz="3600" dirty="0"/>
              <a:t>- Summarize what people should know</a:t>
            </a:r>
          </a:p>
          <a:p>
            <a:r>
              <a:rPr lang="en-US" sz="3600" dirty="0"/>
              <a:t>- WHAT ARE THE 3-5 MAIN TAKE AWAY POINTS?</a:t>
            </a:r>
            <a:endParaRPr lang="en-US" sz="36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E10A4A4-0D9D-B547-852E-0B57D9510113}"/>
              </a:ext>
            </a:extLst>
          </p:cNvPr>
          <p:cNvSpPr txBox="1"/>
          <p:nvPr/>
        </p:nvSpPr>
        <p:spPr>
          <a:xfrm>
            <a:off x="38613200" y="17239302"/>
            <a:ext cx="1149531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/>
              <a:t>Future/Ongoing Work goes here</a:t>
            </a:r>
          </a:p>
          <a:p>
            <a:pPr algn="ctr"/>
            <a:endParaRPr lang="en-US" sz="3600" dirty="0"/>
          </a:p>
          <a:p>
            <a:r>
              <a:rPr lang="en-US" sz="3600" dirty="0"/>
              <a:t>- What are you still doing?</a:t>
            </a:r>
          </a:p>
          <a:p>
            <a:r>
              <a:rPr lang="en-US" sz="3600" dirty="0"/>
              <a:t>- Acknowledgements or key </a:t>
            </a:r>
          </a:p>
          <a:p>
            <a:r>
              <a:rPr lang="en-US" sz="3600" dirty="0"/>
              <a:t>references can go here</a:t>
            </a:r>
            <a:endParaRPr lang="en-US" sz="3600" b="1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50FAEBB-3C47-9F45-B939-B9C70CBD44F2}"/>
              </a:ext>
            </a:extLst>
          </p:cNvPr>
          <p:cNvSpPr/>
          <p:nvPr/>
        </p:nvSpPr>
        <p:spPr>
          <a:xfrm>
            <a:off x="13288837" y="5350297"/>
            <a:ext cx="12047777" cy="2319941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52C1BA6-C923-894F-B877-AD459A752708}"/>
              </a:ext>
            </a:extLst>
          </p:cNvPr>
          <p:cNvSpPr/>
          <p:nvPr/>
        </p:nvSpPr>
        <p:spPr>
          <a:xfrm>
            <a:off x="25891558" y="5350296"/>
            <a:ext cx="12047777" cy="2319941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F9EDBD2-5A43-9E45-91C0-03AE593E4BBD}"/>
              </a:ext>
            </a:extLst>
          </p:cNvPr>
          <p:cNvSpPr txBox="1"/>
          <p:nvPr/>
        </p:nvSpPr>
        <p:spPr>
          <a:xfrm>
            <a:off x="26167789" y="5617029"/>
            <a:ext cx="1149531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/>
              <a:t>Results and Interpretations go here</a:t>
            </a:r>
          </a:p>
          <a:p>
            <a:endParaRPr lang="en-US" sz="3600" dirty="0"/>
          </a:p>
          <a:p>
            <a:r>
              <a:rPr lang="en-US" sz="3600" dirty="0"/>
              <a:t>- Short/snappy text is best</a:t>
            </a:r>
          </a:p>
          <a:p>
            <a:r>
              <a:rPr lang="en-US" sz="3600" dirty="0"/>
              <a:t>-Bullet points are better than paragraphs</a:t>
            </a:r>
          </a:p>
          <a:p>
            <a:r>
              <a:rPr lang="en-US" sz="3600" dirty="0"/>
              <a:t>-Large graphs/plots/images are good here</a:t>
            </a:r>
          </a:p>
          <a:p>
            <a:r>
              <a:rPr lang="en-US" sz="3600" dirty="0"/>
              <a:t>-A good interpretive sketch or </a:t>
            </a:r>
          </a:p>
          <a:p>
            <a:r>
              <a:rPr lang="en-US" sz="3600" dirty="0"/>
              <a:t>schematic can be very useful here</a:t>
            </a:r>
            <a:endParaRPr lang="en-US" sz="36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DC9E559-8313-3844-A3EE-D0A18840ECB7}"/>
              </a:ext>
            </a:extLst>
          </p:cNvPr>
          <p:cNvSpPr txBox="1"/>
          <p:nvPr/>
        </p:nvSpPr>
        <p:spPr>
          <a:xfrm>
            <a:off x="13659324" y="5617029"/>
            <a:ext cx="11495314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/>
              <a:t>Results and Interpretations go here</a:t>
            </a:r>
          </a:p>
          <a:p>
            <a:pPr algn="ctr"/>
            <a:endParaRPr lang="en-US" sz="4800" b="1" dirty="0"/>
          </a:p>
          <a:p>
            <a:r>
              <a:rPr lang="en-US" sz="3600" dirty="0"/>
              <a:t>-Short/snappy text is best</a:t>
            </a:r>
          </a:p>
          <a:p>
            <a:r>
              <a:rPr lang="en-US" sz="3600" dirty="0"/>
              <a:t>-Bullet points are better than paragraphs</a:t>
            </a:r>
          </a:p>
          <a:p>
            <a:r>
              <a:rPr lang="en-US" sz="3600" dirty="0"/>
              <a:t>-Large graphs/plots/images are good here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6280D984-102A-D445-B65F-D6116AC90FD3}"/>
              </a:ext>
            </a:extLst>
          </p:cNvPr>
          <p:cNvSpPr/>
          <p:nvPr/>
        </p:nvSpPr>
        <p:spPr>
          <a:xfrm>
            <a:off x="17923376" y="16057802"/>
            <a:ext cx="15316200" cy="10851684"/>
          </a:xfrm>
          <a:prstGeom prst="roundRect">
            <a:avLst/>
          </a:prstGeom>
          <a:solidFill>
            <a:srgbClr val="4472C4">
              <a:alpha val="45882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Use a “non Serif” font (like </a:t>
            </a:r>
            <a:r>
              <a:rPr lang="en-US" sz="4800" b="1" dirty="0">
                <a:solidFill>
                  <a:schemeClr val="tx1"/>
                </a:solidFill>
                <a:latin typeface="Myriad Pro" panose="020B0503030403020204" pitchFamily="34" charset="0"/>
              </a:rPr>
              <a:t>Myriad Pro</a:t>
            </a:r>
            <a:r>
              <a:rPr lang="en-US" sz="4800" b="1" dirty="0">
                <a:solidFill>
                  <a:schemeClr val="tx1"/>
                </a:solidFill>
              </a:rPr>
              <a:t>, </a:t>
            </a:r>
            <a:r>
              <a:rPr lang="en-US" sz="4800" b="1" dirty="0">
                <a:solidFill>
                  <a:schemeClr val="tx1"/>
                </a:solidFill>
                <a:latin typeface="Helvetica" pitchFamily="2" charset="0"/>
              </a:rPr>
              <a:t>Helvetica</a:t>
            </a:r>
            <a:r>
              <a:rPr lang="en-US" sz="4800" b="1" dirty="0">
                <a:solidFill>
                  <a:schemeClr val="tx1"/>
                </a:solidFill>
              </a:rPr>
              <a:t>, </a:t>
            </a:r>
            <a:r>
              <a:rPr lang="en-US" sz="4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Ariel</a:t>
            </a:r>
            <a:r>
              <a:rPr lang="en-US" sz="4800" b="1" dirty="0">
                <a:solidFill>
                  <a:schemeClr val="tx1"/>
                </a:solidFill>
              </a:rPr>
              <a:t>, Calibri, etc.)</a:t>
            </a:r>
          </a:p>
          <a:p>
            <a:pPr algn="ctr"/>
            <a:r>
              <a:rPr lang="en-US" sz="4800" b="1" dirty="0">
                <a:solidFill>
                  <a:schemeClr val="tx1"/>
                </a:solidFill>
              </a:rPr>
              <a:t>Make sure your text/Figures are readable (e.g., this is 48pt font, bold)</a:t>
            </a:r>
          </a:p>
          <a:p>
            <a:pPr algn="ctr"/>
            <a:endParaRPr lang="en-US" sz="4800" b="1" dirty="0">
              <a:solidFill>
                <a:schemeClr val="tx1"/>
              </a:solidFill>
            </a:endParaRPr>
          </a:p>
          <a:p>
            <a:pPr algn="ctr"/>
            <a:r>
              <a:rPr lang="en-US" sz="4800" b="1" u="sng" dirty="0">
                <a:solidFill>
                  <a:schemeClr val="tx1"/>
                </a:solidFill>
              </a:rPr>
              <a:t>Be sure to check alignment of text/objects, </a:t>
            </a:r>
          </a:p>
          <a:p>
            <a:pPr algn="ctr"/>
            <a:r>
              <a:rPr lang="en-US" sz="4800" b="1" u="sng" dirty="0">
                <a:solidFill>
                  <a:schemeClr val="tx1"/>
                </a:solidFill>
              </a:rPr>
              <a:t>spelling, and colors before printing!</a:t>
            </a:r>
          </a:p>
          <a:p>
            <a:pPr algn="ctr"/>
            <a:endParaRPr lang="en-US" sz="4800" b="1" u="sng" dirty="0">
              <a:solidFill>
                <a:schemeClr val="tx1"/>
              </a:solidFill>
            </a:endParaRPr>
          </a:p>
          <a:p>
            <a:pPr algn="ctr"/>
            <a:r>
              <a:rPr lang="en-US" sz="4800" b="1" dirty="0">
                <a:solidFill>
                  <a:schemeClr val="tx1"/>
                </a:solidFill>
              </a:rPr>
              <a:t>Color and shapes are your friend for drawing people’s attention to the important stuff. </a:t>
            </a:r>
          </a:p>
          <a:p>
            <a:pPr algn="ctr"/>
            <a:r>
              <a:rPr lang="en-US" sz="4800" b="1" dirty="0">
                <a:solidFill>
                  <a:schemeClr val="tx1"/>
                </a:solidFill>
              </a:rPr>
              <a:t>This isn’t a white paper! That said, no one likes a cacophony of color!</a:t>
            </a:r>
          </a:p>
          <a:p>
            <a:pPr algn="ctr"/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31" name="Right Arrow 30">
            <a:extLst>
              <a:ext uri="{FF2B5EF4-FFF2-40B4-BE49-F238E27FC236}">
                <a16:creationId xmlns:a16="http://schemas.microsoft.com/office/drawing/2014/main" id="{2FA29779-4D44-2F41-8508-A0ECF20E8CDF}"/>
              </a:ext>
            </a:extLst>
          </p:cNvPr>
          <p:cNvSpPr/>
          <p:nvPr/>
        </p:nvSpPr>
        <p:spPr>
          <a:xfrm>
            <a:off x="16132628" y="23072271"/>
            <a:ext cx="2416629" cy="1143000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&quot;No&quot; Symbol 31">
            <a:extLst>
              <a:ext uri="{FF2B5EF4-FFF2-40B4-BE49-F238E27FC236}">
                <a16:creationId xmlns:a16="http://schemas.microsoft.com/office/drawing/2014/main" id="{8491A0FD-377F-EE4C-BDD2-C206BD03A62C}"/>
              </a:ext>
            </a:extLst>
          </p:cNvPr>
          <p:cNvSpPr/>
          <p:nvPr/>
        </p:nvSpPr>
        <p:spPr>
          <a:xfrm>
            <a:off x="32640542" y="22337645"/>
            <a:ext cx="1828800" cy="1877626"/>
          </a:xfrm>
          <a:prstGeom prst="noSmoking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22D2FA21-B617-E648-A393-A9F71E83FCBA}"/>
              </a:ext>
            </a:extLst>
          </p:cNvPr>
          <p:cNvSpPr/>
          <p:nvPr/>
        </p:nvSpPr>
        <p:spPr>
          <a:xfrm>
            <a:off x="15218229" y="10842171"/>
            <a:ext cx="7641771" cy="2547258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i="1" dirty="0"/>
              <a:t>4-Panel Boxes!</a:t>
            </a:r>
          </a:p>
        </p:txBody>
      </p:sp>
    </p:spTree>
    <p:extLst>
      <p:ext uri="{BB962C8B-B14F-4D97-AF65-F5344CB8AC3E}">
        <p14:creationId xmlns:p14="http://schemas.microsoft.com/office/powerpoint/2010/main" val="10686365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EA58AC0-1940-344E-B0A7-3D3931D80D2A}"/>
              </a:ext>
            </a:extLst>
          </p:cNvPr>
          <p:cNvCxnSpPr>
            <a:cxnSpLocks/>
          </p:cNvCxnSpPr>
          <p:nvPr/>
        </p:nvCxnSpPr>
        <p:spPr>
          <a:xfrm>
            <a:off x="25603200" y="5617029"/>
            <a:ext cx="0" cy="2293267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9CC30E7-D375-7A47-A512-AA82654DD5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799" y="887507"/>
            <a:ext cx="38404800" cy="4195482"/>
          </a:xfrm>
        </p:spPr>
        <p:txBody>
          <a:bodyPr>
            <a:noAutofit/>
          </a:bodyPr>
          <a:lstStyle/>
          <a:p>
            <a:r>
              <a:rPr lang="en-US" sz="7200" b="1" dirty="0">
                <a:latin typeface="+mn-lt"/>
              </a:rPr>
              <a:t>ADD TITLE HERE (this is 72pt font, don’t go much smaller)</a:t>
            </a:r>
            <a:br>
              <a:rPr lang="en-US" sz="7200" b="1" dirty="0">
                <a:latin typeface="+mn-lt"/>
              </a:rPr>
            </a:br>
            <a:br>
              <a:rPr lang="en-US" sz="7200" b="1" dirty="0">
                <a:latin typeface="+mn-lt"/>
              </a:rPr>
            </a:br>
            <a:r>
              <a:rPr lang="en-US" sz="6000" b="1" dirty="0">
                <a:latin typeface="+mn-lt"/>
              </a:rPr>
              <a:t>Add Authors Here (this is 60pt font)</a:t>
            </a:r>
            <a:br>
              <a:rPr lang="en-US" sz="6000" b="1" dirty="0">
                <a:latin typeface="+mn-lt"/>
              </a:rPr>
            </a:br>
            <a:r>
              <a:rPr lang="en-US" sz="6000" dirty="0">
                <a:latin typeface="+mn-lt"/>
              </a:rPr>
              <a:t>Add author’s affiliations here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71D415-EE08-0646-8849-3B5A6C1B5028}"/>
              </a:ext>
            </a:extLst>
          </p:cNvPr>
          <p:cNvSpPr/>
          <p:nvPr/>
        </p:nvSpPr>
        <p:spPr>
          <a:xfrm>
            <a:off x="430306" y="416859"/>
            <a:ext cx="50345789" cy="28427082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Logo, icon&#10;&#10;Description automatically generated">
            <a:extLst>
              <a:ext uri="{FF2B5EF4-FFF2-40B4-BE49-F238E27FC236}">
                <a16:creationId xmlns:a16="http://schemas.microsoft.com/office/drawing/2014/main" id="{D7E5EF51-C4ED-7A49-8F38-91E4D5800D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2442" y="1536356"/>
            <a:ext cx="4343027" cy="2897784"/>
          </a:xfrm>
          <a:prstGeom prst="rect">
            <a:avLst/>
          </a:prstGeom>
        </p:spPr>
      </p:pic>
      <p:pic>
        <p:nvPicPr>
          <p:cNvPr id="9" name="Picture 8" descr="Graphical user interface&#10;&#10;Description automatically generated with low confidence">
            <a:extLst>
              <a:ext uri="{FF2B5EF4-FFF2-40B4-BE49-F238E27FC236}">
                <a16:creationId xmlns:a16="http://schemas.microsoft.com/office/drawing/2014/main" id="{359A5732-F69F-8E4B-9476-D5A4E558BA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80946" y="1872368"/>
            <a:ext cx="8576926" cy="170353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9EF9705-AA48-4940-A06B-22534E4A8560}"/>
              </a:ext>
            </a:extLst>
          </p:cNvPr>
          <p:cNvSpPr txBox="1"/>
          <p:nvPr/>
        </p:nvSpPr>
        <p:spPr>
          <a:xfrm>
            <a:off x="1110343" y="5617029"/>
            <a:ext cx="11495314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/>
              <a:t>Add Introduction/Question/</a:t>
            </a:r>
          </a:p>
          <a:p>
            <a:pPr algn="ctr"/>
            <a:r>
              <a:rPr lang="en-US" sz="4800" b="1" dirty="0"/>
              <a:t>Goals of your poster here</a:t>
            </a:r>
          </a:p>
          <a:p>
            <a:endParaRPr lang="en-US" sz="3600" dirty="0"/>
          </a:p>
          <a:p>
            <a:r>
              <a:rPr lang="en-US" sz="3600" dirty="0"/>
              <a:t>- Short/snappy text is best </a:t>
            </a:r>
          </a:p>
          <a:p>
            <a:r>
              <a:rPr lang="en-US" sz="3600" dirty="0"/>
              <a:t>- Don’t write in a long abstract</a:t>
            </a:r>
          </a:p>
          <a:p>
            <a:r>
              <a:rPr lang="en-US" sz="3600" dirty="0"/>
              <a:t>- Bullet points are better than paragraphs</a:t>
            </a:r>
          </a:p>
          <a:p>
            <a:r>
              <a:rPr lang="en-US" sz="3600" dirty="0"/>
              <a:t>- Make sure you get people’s attention</a:t>
            </a:r>
          </a:p>
          <a:p>
            <a:r>
              <a:rPr lang="en-US" sz="3600" b="1" dirty="0"/>
              <a:t>WHY DO WE CARE?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0C08CA5-E64A-DF4D-86EC-39DA96D3BEF0}"/>
              </a:ext>
            </a:extLst>
          </p:cNvPr>
          <p:cNvSpPr txBox="1"/>
          <p:nvPr/>
        </p:nvSpPr>
        <p:spPr>
          <a:xfrm>
            <a:off x="1122800" y="17108654"/>
            <a:ext cx="11495314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/>
              <a:t>Add background information/</a:t>
            </a:r>
          </a:p>
          <a:p>
            <a:pPr algn="ctr"/>
            <a:r>
              <a:rPr lang="en-US" sz="4800" b="1" dirty="0"/>
              <a:t>methods/geological setting here</a:t>
            </a:r>
          </a:p>
          <a:p>
            <a:pPr algn="ctr"/>
            <a:endParaRPr lang="en-US" sz="3600" dirty="0"/>
          </a:p>
          <a:p>
            <a:r>
              <a:rPr lang="en-US" sz="3600" dirty="0"/>
              <a:t>- Short/snappy text is best </a:t>
            </a:r>
          </a:p>
          <a:p>
            <a:r>
              <a:rPr lang="en-US" sz="3600" dirty="0"/>
              <a:t>- Bullet points are better than paragraphs</a:t>
            </a:r>
          </a:p>
          <a:p>
            <a:r>
              <a:rPr lang="en-US" sz="3600" dirty="0"/>
              <a:t>- Make sure you give people  background on what you’re doing</a:t>
            </a:r>
            <a:endParaRPr lang="en-US" sz="36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3606753-80B4-0147-833E-6EC656912144}"/>
              </a:ext>
            </a:extLst>
          </p:cNvPr>
          <p:cNvSpPr txBox="1"/>
          <p:nvPr/>
        </p:nvSpPr>
        <p:spPr>
          <a:xfrm>
            <a:off x="38600743" y="5617029"/>
            <a:ext cx="11495314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/>
              <a:t>Results Summary or </a:t>
            </a:r>
          </a:p>
          <a:p>
            <a:pPr algn="ctr"/>
            <a:r>
              <a:rPr lang="en-US" sz="4800" b="1" dirty="0"/>
              <a:t>Discussion points goes here</a:t>
            </a:r>
          </a:p>
          <a:p>
            <a:pPr algn="ctr"/>
            <a:endParaRPr lang="en-US" sz="3600" dirty="0"/>
          </a:p>
          <a:p>
            <a:r>
              <a:rPr lang="en-US" sz="3600" dirty="0"/>
              <a:t>- Summarize what people should know</a:t>
            </a:r>
          </a:p>
          <a:p>
            <a:r>
              <a:rPr lang="en-US" sz="3600" dirty="0"/>
              <a:t>- WHAT ARE THE 3-5 MAIN TAKE AWAY POINTS?</a:t>
            </a:r>
            <a:endParaRPr lang="en-US" sz="36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E10A4A4-0D9D-B547-852E-0B57D9510113}"/>
              </a:ext>
            </a:extLst>
          </p:cNvPr>
          <p:cNvSpPr txBox="1"/>
          <p:nvPr/>
        </p:nvSpPr>
        <p:spPr>
          <a:xfrm>
            <a:off x="38613200" y="17239302"/>
            <a:ext cx="1149531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/>
              <a:t>Future/Ongoing Work goes here</a:t>
            </a:r>
          </a:p>
          <a:p>
            <a:pPr algn="ctr"/>
            <a:endParaRPr lang="en-US" sz="3600" dirty="0"/>
          </a:p>
          <a:p>
            <a:r>
              <a:rPr lang="en-US" sz="3600" dirty="0"/>
              <a:t>- What are you still doing?</a:t>
            </a:r>
          </a:p>
          <a:p>
            <a:r>
              <a:rPr lang="en-US" sz="3600" dirty="0"/>
              <a:t>- Acknowledgements or key </a:t>
            </a:r>
          </a:p>
          <a:p>
            <a:r>
              <a:rPr lang="en-US" sz="3600" dirty="0"/>
              <a:t>references can go here</a:t>
            </a:r>
            <a:endParaRPr lang="en-US" sz="3600" b="1" dirty="0"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22D2FA21-B617-E648-A393-A9F71E83FCBA}"/>
              </a:ext>
            </a:extLst>
          </p:cNvPr>
          <p:cNvSpPr/>
          <p:nvPr/>
        </p:nvSpPr>
        <p:spPr>
          <a:xfrm>
            <a:off x="15218229" y="10842171"/>
            <a:ext cx="7641771" cy="2547258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i="1" dirty="0"/>
              <a:t>4-Panel Lines!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F7A325B-A1C3-364C-9988-D2EB0BA0EBD1}"/>
              </a:ext>
            </a:extLst>
          </p:cNvPr>
          <p:cNvCxnSpPr>
            <a:cxnSpLocks/>
          </p:cNvCxnSpPr>
          <p:nvPr/>
        </p:nvCxnSpPr>
        <p:spPr>
          <a:xfrm>
            <a:off x="767443" y="5082989"/>
            <a:ext cx="4967151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AAE3F84-7C16-A743-A39F-E24B04760DA4}"/>
              </a:ext>
            </a:extLst>
          </p:cNvPr>
          <p:cNvCxnSpPr>
            <a:cxnSpLocks/>
          </p:cNvCxnSpPr>
          <p:nvPr/>
        </p:nvCxnSpPr>
        <p:spPr>
          <a:xfrm>
            <a:off x="767443" y="16404131"/>
            <a:ext cx="1218425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ABE66A0-20FC-A04E-B5AA-2B4E06A90266}"/>
              </a:ext>
            </a:extLst>
          </p:cNvPr>
          <p:cNvCxnSpPr>
            <a:cxnSpLocks/>
          </p:cNvCxnSpPr>
          <p:nvPr/>
        </p:nvCxnSpPr>
        <p:spPr>
          <a:xfrm>
            <a:off x="38254701" y="16404131"/>
            <a:ext cx="1218425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55B8A19-E1D3-A34A-8006-CF7474C19B3F}"/>
              </a:ext>
            </a:extLst>
          </p:cNvPr>
          <p:cNvCxnSpPr>
            <a:cxnSpLocks/>
          </p:cNvCxnSpPr>
          <p:nvPr/>
        </p:nvCxnSpPr>
        <p:spPr>
          <a:xfrm>
            <a:off x="37939335" y="5350297"/>
            <a:ext cx="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42ED88E-8187-D64D-A1C4-329954E2D0D6}"/>
              </a:ext>
            </a:extLst>
          </p:cNvPr>
          <p:cNvCxnSpPr>
            <a:cxnSpLocks/>
          </p:cNvCxnSpPr>
          <p:nvPr/>
        </p:nvCxnSpPr>
        <p:spPr>
          <a:xfrm>
            <a:off x="38091735" y="5502697"/>
            <a:ext cx="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AEAED8C-8C09-2B47-BD7A-965D5C8011BF}"/>
              </a:ext>
            </a:extLst>
          </p:cNvPr>
          <p:cNvCxnSpPr>
            <a:cxnSpLocks/>
          </p:cNvCxnSpPr>
          <p:nvPr/>
        </p:nvCxnSpPr>
        <p:spPr>
          <a:xfrm>
            <a:off x="37837917" y="5617029"/>
            <a:ext cx="0" cy="2293267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6BB21D4-E1BF-B349-A6AC-41FEC2A4DA9D}"/>
              </a:ext>
            </a:extLst>
          </p:cNvPr>
          <p:cNvCxnSpPr>
            <a:cxnSpLocks/>
          </p:cNvCxnSpPr>
          <p:nvPr/>
        </p:nvCxnSpPr>
        <p:spPr>
          <a:xfrm>
            <a:off x="13418958" y="5617029"/>
            <a:ext cx="0" cy="2293267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6280D984-102A-D445-B65F-D6116AC90FD3}"/>
              </a:ext>
            </a:extLst>
          </p:cNvPr>
          <p:cNvSpPr/>
          <p:nvPr/>
        </p:nvSpPr>
        <p:spPr>
          <a:xfrm>
            <a:off x="17923376" y="16057802"/>
            <a:ext cx="15316200" cy="10851684"/>
          </a:xfrm>
          <a:prstGeom prst="roundRect">
            <a:avLst/>
          </a:prstGeom>
          <a:solidFill>
            <a:srgbClr val="4472C4">
              <a:alpha val="45882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Use a “non Serif” font (like </a:t>
            </a:r>
            <a:r>
              <a:rPr lang="en-US" sz="4800" b="1" dirty="0">
                <a:solidFill>
                  <a:schemeClr val="tx1"/>
                </a:solidFill>
                <a:latin typeface="Myriad Pro" panose="020B0503030403020204" pitchFamily="34" charset="0"/>
              </a:rPr>
              <a:t>Myriad Pro</a:t>
            </a:r>
            <a:r>
              <a:rPr lang="en-US" sz="4800" b="1" dirty="0">
                <a:solidFill>
                  <a:schemeClr val="tx1"/>
                </a:solidFill>
              </a:rPr>
              <a:t>, </a:t>
            </a:r>
            <a:r>
              <a:rPr lang="en-US" sz="4800" b="1" dirty="0">
                <a:solidFill>
                  <a:schemeClr val="tx1"/>
                </a:solidFill>
                <a:latin typeface="Helvetica" pitchFamily="2" charset="0"/>
              </a:rPr>
              <a:t>Helvetica</a:t>
            </a:r>
            <a:r>
              <a:rPr lang="en-US" sz="4800" b="1" dirty="0">
                <a:solidFill>
                  <a:schemeClr val="tx1"/>
                </a:solidFill>
              </a:rPr>
              <a:t>, </a:t>
            </a:r>
            <a:r>
              <a:rPr lang="en-US" sz="4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Ariel</a:t>
            </a:r>
            <a:r>
              <a:rPr lang="en-US" sz="4800" b="1" dirty="0">
                <a:solidFill>
                  <a:schemeClr val="tx1"/>
                </a:solidFill>
              </a:rPr>
              <a:t>, Calibri, etc.)</a:t>
            </a:r>
          </a:p>
          <a:p>
            <a:pPr algn="ctr"/>
            <a:r>
              <a:rPr lang="en-US" sz="4800" b="1" dirty="0">
                <a:solidFill>
                  <a:schemeClr val="tx1"/>
                </a:solidFill>
              </a:rPr>
              <a:t>Make sure your text/Figures are readable (e.g., this is 48pt font, bold)</a:t>
            </a:r>
          </a:p>
          <a:p>
            <a:pPr algn="ctr"/>
            <a:endParaRPr lang="en-US" sz="4800" b="1" dirty="0">
              <a:solidFill>
                <a:schemeClr val="tx1"/>
              </a:solidFill>
            </a:endParaRPr>
          </a:p>
          <a:p>
            <a:pPr algn="ctr"/>
            <a:r>
              <a:rPr lang="en-US" sz="4800" b="1" u="sng" dirty="0">
                <a:solidFill>
                  <a:schemeClr val="tx1"/>
                </a:solidFill>
              </a:rPr>
              <a:t>Be sure to check alignment of text/objects, </a:t>
            </a:r>
          </a:p>
          <a:p>
            <a:pPr algn="ctr"/>
            <a:r>
              <a:rPr lang="en-US" sz="4800" b="1" u="sng" dirty="0">
                <a:solidFill>
                  <a:schemeClr val="tx1"/>
                </a:solidFill>
              </a:rPr>
              <a:t>spelling, and colors before printing!</a:t>
            </a:r>
          </a:p>
          <a:p>
            <a:pPr algn="ctr"/>
            <a:endParaRPr lang="en-US" sz="4800" b="1" u="sng" dirty="0">
              <a:solidFill>
                <a:schemeClr val="tx1"/>
              </a:solidFill>
            </a:endParaRPr>
          </a:p>
          <a:p>
            <a:pPr algn="ctr"/>
            <a:r>
              <a:rPr lang="en-US" sz="4800" b="1" dirty="0">
                <a:solidFill>
                  <a:schemeClr val="tx1"/>
                </a:solidFill>
              </a:rPr>
              <a:t>Color and shapes are your friend for drawing people’s attention to the important stuff. </a:t>
            </a:r>
          </a:p>
          <a:p>
            <a:pPr algn="ctr"/>
            <a:r>
              <a:rPr lang="en-US" sz="4800" b="1" dirty="0">
                <a:solidFill>
                  <a:schemeClr val="tx1"/>
                </a:solidFill>
              </a:rPr>
              <a:t>This isn’t a white paper! That said, no one likes a cacophony of color!</a:t>
            </a:r>
          </a:p>
          <a:p>
            <a:pPr algn="ctr"/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31" name="Right Arrow 30">
            <a:extLst>
              <a:ext uri="{FF2B5EF4-FFF2-40B4-BE49-F238E27FC236}">
                <a16:creationId xmlns:a16="http://schemas.microsoft.com/office/drawing/2014/main" id="{2FA29779-4D44-2F41-8508-A0ECF20E8CDF}"/>
              </a:ext>
            </a:extLst>
          </p:cNvPr>
          <p:cNvSpPr/>
          <p:nvPr/>
        </p:nvSpPr>
        <p:spPr>
          <a:xfrm>
            <a:off x="16132628" y="23072271"/>
            <a:ext cx="2416629" cy="1143000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&quot;No&quot; Symbol 31">
            <a:extLst>
              <a:ext uri="{FF2B5EF4-FFF2-40B4-BE49-F238E27FC236}">
                <a16:creationId xmlns:a16="http://schemas.microsoft.com/office/drawing/2014/main" id="{8491A0FD-377F-EE4C-BDD2-C206BD03A62C}"/>
              </a:ext>
            </a:extLst>
          </p:cNvPr>
          <p:cNvSpPr/>
          <p:nvPr/>
        </p:nvSpPr>
        <p:spPr>
          <a:xfrm>
            <a:off x="32640542" y="22337645"/>
            <a:ext cx="1828800" cy="1877626"/>
          </a:xfrm>
          <a:prstGeom prst="noSmoking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008DD0F-34E6-E04B-A862-D59AFA118FE7}"/>
              </a:ext>
            </a:extLst>
          </p:cNvPr>
          <p:cNvSpPr txBox="1"/>
          <p:nvPr/>
        </p:nvSpPr>
        <p:spPr>
          <a:xfrm>
            <a:off x="26167789" y="5617029"/>
            <a:ext cx="1149531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/>
              <a:t>Results and Interpretations go here</a:t>
            </a:r>
          </a:p>
          <a:p>
            <a:endParaRPr lang="en-US" sz="3600" dirty="0"/>
          </a:p>
          <a:p>
            <a:r>
              <a:rPr lang="en-US" sz="3600" dirty="0"/>
              <a:t>- Short/snappy text is best</a:t>
            </a:r>
          </a:p>
          <a:p>
            <a:r>
              <a:rPr lang="en-US" sz="3600" dirty="0"/>
              <a:t>-Bullet points are better than paragraphs</a:t>
            </a:r>
          </a:p>
          <a:p>
            <a:r>
              <a:rPr lang="en-US" sz="3600" dirty="0"/>
              <a:t>-Large graphs/plots/images are good here</a:t>
            </a:r>
          </a:p>
          <a:p>
            <a:r>
              <a:rPr lang="en-US" sz="3600" dirty="0"/>
              <a:t>-A good interpretive sketch or </a:t>
            </a:r>
          </a:p>
          <a:p>
            <a:r>
              <a:rPr lang="en-US" sz="3600" dirty="0"/>
              <a:t>schematic can be very useful here</a:t>
            </a:r>
            <a:endParaRPr lang="en-US" sz="3600" b="1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CE91689-38A4-DF46-B76C-DF8E8CD47C9A}"/>
              </a:ext>
            </a:extLst>
          </p:cNvPr>
          <p:cNvSpPr txBox="1"/>
          <p:nvPr/>
        </p:nvSpPr>
        <p:spPr>
          <a:xfrm>
            <a:off x="13659324" y="5617029"/>
            <a:ext cx="11495314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/>
              <a:t>Results and Interpretations go here</a:t>
            </a:r>
          </a:p>
          <a:p>
            <a:pPr algn="ctr"/>
            <a:endParaRPr lang="en-US" sz="4800" b="1" dirty="0"/>
          </a:p>
          <a:p>
            <a:r>
              <a:rPr lang="en-US" sz="3600" dirty="0"/>
              <a:t>-Short/snappy text is best</a:t>
            </a:r>
          </a:p>
          <a:p>
            <a:r>
              <a:rPr lang="en-US" sz="3600" dirty="0"/>
              <a:t>-Bullet points are better than paragraphs</a:t>
            </a:r>
          </a:p>
          <a:p>
            <a:r>
              <a:rPr lang="en-US" sz="3600" dirty="0"/>
              <a:t>-Large graphs/plots/images are good here</a:t>
            </a:r>
          </a:p>
        </p:txBody>
      </p:sp>
    </p:spTree>
    <p:extLst>
      <p:ext uri="{BB962C8B-B14F-4D97-AF65-F5344CB8AC3E}">
        <p14:creationId xmlns:p14="http://schemas.microsoft.com/office/powerpoint/2010/main" val="41002049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C30E7-D375-7A47-A512-AA82654DD5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ADD091-D2DE-6B44-8FEC-0ACCF5AB02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E189B8-0B1D-5241-B8A5-E6090F68AE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1991" y="228600"/>
            <a:ext cx="48442418" cy="2880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5419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C30E7-D375-7A47-A512-AA82654DD5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799" y="887507"/>
            <a:ext cx="38404800" cy="4195482"/>
          </a:xfrm>
        </p:spPr>
        <p:txBody>
          <a:bodyPr>
            <a:noAutofit/>
          </a:bodyPr>
          <a:lstStyle/>
          <a:p>
            <a:r>
              <a:rPr lang="en-US" sz="7200" b="1" dirty="0">
                <a:latin typeface="+mn-lt"/>
              </a:rPr>
              <a:t>ADD TITLE HERE (this is 72pt font, don’t go much smaller)</a:t>
            </a:r>
            <a:br>
              <a:rPr lang="en-US" sz="7200" b="1" dirty="0">
                <a:latin typeface="+mn-lt"/>
              </a:rPr>
            </a:br>
            <a:br>
              <a:rPr lang="en-US" sz="7200" b="1" dirty="0">
                <a:latin typeface="+mn-lt"/>
              </a:rPr>
            </a:br>
            <a:r>
              <a:rPr lang="en-US" sz="6000" b="1" dirty="0">
                <a:latin typeface="+mn-lt"/>
              </a:rPr>
              <a:t>Add Authors Here (this is 60pt font)</a:t>
            </a:r>
            <a:br>
              <a:rPr lang="en-US" sz="6000" b="1" dirty="0">
                <a:latin typeface="+mn-lt"/>
              </a:rPr>
            </a:br>
            <a:r>
              <a:rPr lang="en-US" sz="6000" dirty="0">
                <a:latin typeface="+mn-lt"/>
              </a:rPr>
              <a:t>Add author’s affiliations here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71D415-EE08-0646-8849-3B5A6C1B5028}"/>
              </a:ext>
            </a:extLst>
          </p:cNvPr>
          <p:cNvSpPr/>
          <p:nvPr/>
        </p:nvSpPr>
        <p:spPr>
          <a:xfrm>
            <a:off x="430306" y="416859"/>
            <a:ext cx="50345789" cy="28427082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Logo, icon&#10;&#10;Description automatically generated">
            <a:extLst>
              <a:ext uri="{FF2B5EF4-FFF2-40B4-BE49-F238E27FC236}">
                <a16:creationId xmlns:a16="http://schemas.microsoft.com/office/drawing/2014/main" id="{D7E5EF51-C4ED-7A49-8F38-91E4D5800D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2442" y="1536356"/>
            <a:ext cx="4343027" cy="2897784"/>
          </a:xfrm>
          <a:prstGeom prst="rect">
            <a:avLst/>
          </a:prstGeom>
        </p:spPr>
      </p:pic>
      <p:pic>
        <p:nvPicPr>
          <p:cNvPr id="9" name="Picture 8" descr="Graphical user interface&#10;&#10;Description automatically generated with low confidence">
            <a:extLst>
              <a:ext uri="{FF2B5EF4-FFF2-40B4-BE49-F238E27FC236}">
                <a16:creationId xmlns:a16="http://schemas.microsoft.com/office/drawing/2014/main" id="{359A5732-F69F-8E4B-9476-D5A4E558BA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80946" y="1872368"/>
            <a:ext cx="8576926" cy="170353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1CE0D4-5902-8340-992A-0C1226DA6B0F}"/>
              </a:ext>
            </a:extLst>
          </p:cNvPr>
          <p:cNvSpPr/>
          <p:nvPr/>
        </p:nvSpPr>
        <p:spPr>
          <a:xfrm>
            <a:off x="767443" y="711092"/>
            <a:ext cx="49671515" cy="437189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13F2989-BFC0-0547-9373-DC9CB1F2D367}"/>
              </a:ext>
            </a:extLst>
          </p:cNvPr>
          <p:cNvSpPr/>
          <p:nvPr/>
        </p:nvSpPr>
        <p:spPr>
          <a:xfrm>
            <a:off x="781786" y="16636185"/>
            <a:ext cx="16054955" cy="1191352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AB3618A-F932-D341-B3AB-B4D01D463702}"/>
              </a:ext>
            </a:extLst>
          </p:cNvPr>
          <p:cNvSpPr/>
          <p:nvPr/>
        </p:nvSpPr>
        <p:spPr>
          <a:xfrm>
            <a:off x="767442" y="5350296"/>
            <a:ext cx="16083643" cy="1097549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F6F55A3-74C0-8247-80BB-F28887C92355}"/>
              </a:ext>
            </a:extLst>
          </p:cNvPr>
          <p:cNvSpPr/>
          <p:nvPr/>
        </p:nvSpPr>
        <p:spPr>
          <a:xfrm>
            <a:off x="34455075" y="16636185"/>
            <a:ext cx="15969616" cy="1191352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942B9A6-DE85-C34C-9DB7-394A9D0FD2F8}"/>
              </a:ext>
            </a:extLst>
          </p:cNvPr>
          <p:cNvSpPr/>
          <p:nvPr/>
        </p:nvSpPr>
        <p:spPr>
          <a:xfrm>
            <a:off x="34440808" y="5350296"/>
            <a:ext cx="15998151" cy="1097549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9EF9705-AA48-4940-A06B-22534E4A8560}"/>
              </a:ext>
            </a:extLst>
          </p:cNvPr>
          <p:cNvSpPr txBox="1"/>
          <p:nvPr/>
        </p:nvSpPr>
        <p:spPr>
          <a:xfrm>
            <a:off x="1077686" y="5617029"/>
            <a:ext cx="15606252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/>
              <a:t>Add Introduction/Question/</a:t>
            </a:r>
          </a:p>
          <a:p>
            <a:pPr algn="ctr"/>
            <a:r>
              <a:rPr lang="en-US" sz="4800" b="1" dirty="0"/>
              <a:t>Goals of your poster here</a:t>
            </a:r>
          </a:p>
          <a:p>
            <a:endParaRPr lang="en-US" sz="3600" dirty="0"/>
          </a:p>
          <a:p>
            <a:r>
              <a:rPr lang="en-US" sz="3600" dirty="0"/>
              <a:t>- Short/snappy text is best </a:t>
            </a:r>
          </a:p>
          <a:p>
            <a:r>
              <a:rPr lang="en-US" sz="3600" dirty="0"/>
              <a:t>- Don’t write in a long abstract</a:t>
            </a:r>
          </a:p>
          <a:p>
            <a:r>
              <a:rPr lang="en-US" sz="3600" dirty="0"/>
              <a:t>- Bullet points are better than paragraphs</a:t>
            </a:r>
          </a:p>
          <a:p>
            <a:r>
              <a:rPr lang="en-US" sz="3600" dirty="0"/>
              <a:t>- Make sure you get people’s attention</a:t>
            </a:r>
          </a:p>
          <a:p>
            <a:r>
              <a:rPr lang="en-US" sz="3600" b="1" dirty="0"/>
              <a:t>WHY DO WE CARE?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0C08CA5-E64A-DF4D-86EC-39DA96D3BEF0}"/>
              </a:ext>
            </a:extLst>
          </p:cNvPr>
          <p:cNvSpPr txBox="1"/>
          <p:nvPr/>
        </p:nvSpPr>
        <p:spPr>
          <a:xfrm>
            <a:off x="1077686" y="17108654"/>
            <a:ext cx="1560625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/>
              <a:t>Add background information/</a:t>
            </a:r>
          </a:p>
          <a:p>
            <a:pPr algn="ctr"/>
            <a:r>
              <a:rPr lang="en-US" sz="4800" b="1" dirty="0"/>
              <a:t>methods/geological setting here</a:t>
            </a:r>
          </a:p>
          <a:p>
            <a:pPr algn="ctr"/>
            <a:endParaRPr lang="en-US" sz="3600" dirty="0"/>
          </a:p>
          <a:p>
            <a:r>
              <a:rPr lang="en-US" sz="3600" dirty="0"/>
              <a:t>- Short/snappy text is best </a:t>
            </a:r>
          </a:p>
          <a:p>
            <a:r>
              <a:rPr lang="en-US" sz="3600" dirty="0"/>
              <a:t>- Bullet points are better than paragraphs</a:t>
            </a:r>
          </a:p>
          <a:p>
            <a:r>
              <a:rPr lang="en-US" sz="3600" dirty="0"/>
              <a:t>- Make sure you give people  background on what you’re doing</a:t>
            </a:r>
            <a:endParaRPr lang="en-US" sz="36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3606753-80B4-0147-833E-6EC656912144}"/>
              </a:ext>
            </a:extLst>
          </p:cNvPr>
          <p:cNvSpPr txBox="1"/>
          <p:nvPr/>
        </p:nvSpPr>
        <p:spPr>
          <a:xfrm>
            <a:off x="34721761" y="5617029"/>
            <a:ext cx="15406953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/>
              <a:t>Summary or Discussion points go here</a:t>
            </a:r>
          </a:p>
          <a:p>
            <a:pPr algn="ctr"/>
            <a:endParaRPr lang="en-US" sz="3600" dirty="0"/>
          </a:p>
          <a:p>
            <a:r>
              <a:rPr lang="en-US" sz="3600" dirty="0"/>
              <a:t>- Summarize what people should know</a:t>
            </a:r>
          </a:p>
          <a:p>
            <a:r>
              <a:rPr lang="en-US" sz="3600" dirty="0"/>
              <a:t>- WHAT ARE THE 3-5 MAIN TAKE AWAY POINTS?</a:t>
            </a:r>
            <a:endParaRPr lang="en-US" sz="36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E10A4A4-0D9D-B547-852E-0B57D9510113}"/>
              </a:ext>
            </a:extLst>
          </p:cNvPr>
          <p:cNvSpPr txBox="1"/>
          <p:nvPr/>
        </p:nvSpPr>
        <p:spPr>
          <a:xfrm>
            <a:off x="34721761" y="17239302"/>
            <a:ext cx="15406953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/>
              <a:t>Future/Ongoing Work goes here</a:t>
            </a:r>
          </a:p>
          <a:p>
            <a:pPr algn="ctr"/>
            <a:endParaRPr lang="en-US" sz="3600" dirty="0"/>
          </a:p>
          <a:p>
            <a:r>
              <a:rPr lang="en-US" sz="3600" dirty="0"/>
              <a:t>- What are you still doing?</a:t>
            </a:r>
          </a:p>
          <a:p>
            <a:r>
              <a:rPr lang="en-US" sz="3600" dirty="0"/>
              <a:t>- Acknowledgements or key references can go here</a:t>
            </a:r>
            <a:endParaRPr lang="en-US" sz="3600" b="1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50FAEBB-3C47-9F45-B939-B9C70CBD44F2}"/>
              </a:ext>
            </a:extLst>
          </p:cNvPr>
          <p:cNvSpPr/>
          <p:nvPr/>
        </p:nvSpPr>
        <p:spPr>
          <a:xfrm>
            <a:off x="17443968" y="5350297"/>
            <a:ext cx="16251077" cy="2319941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F9EDBD2-5A43-9E45-91C0-03AE593E4BBD}"/>
              </a:ext>
            </a:extLst>
          </p:cNvPr>
          <p:cNvSpPr txBox="1"/>
          <p:nvPr/>
        </p:nvSpPr>
        <p:spPr>
          <a:xfrm>
            <a:off x="17863457" y="5617029"/>
            <a:ext cx="15316200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/>
              <a:t>Results go here</a:t>
            </a:r>
          </a:p>
          <a:p>
            <a:endParaRPr lang="en-US" sz="3600" dirty="0"/>
          </a:p>
          <a:p>
            <a:r>
              <a:rPr lang="en-US" sz="3600" dirty="0"/>
              <a:t>- Short/snappy text is best</a:t>
            </a:r>
          </a:p>
          <a:p>
            <a:r>
              <a:rPr lang="en-US" sz="3600" dirty="0"/>
              <a:t>-Bullet points are better than paragraphs</a:t>
            </a:r>
          </a:p>
          <a:p>
            <a:r>
              <a:rPr lang="en-US" sz="3600" dirty="0"/>
              <a:t>-Large graphs/plots/images are good here</a:t>
            </a:r>
          </a:p>
          <a:p>
            <a:endParaRPr lang="en-US" sz="3600" b="1" dirty="0"/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6280D984-102A-D445-B65F-D6116AC90FD3}"/>
              </a:ext>
            </a:extLst>
          </p:cNvPr>
          <p:cNvSpPr/>
          <p:nvPr/>
        </p:nvSpPr>
        <p:spPr>
          <a:xfrm>
            <a:off x="18209966" y="8554516"/>
            <a:ext cx="15316200" cy="9931281"/>
          </a:xfrm>
          <a:prstGeom prst="roundRect">
            <a:avLst/>
          </a:prstGeom>
          <a:solidFill>
            <a:srgbClr val="4472C4">
              <a:alpha val="45882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Use a “non Serif” font (like </a:t>
            </a:r>
            <a:r>
              <a:rPr lang="en-US" sz="4800" b="1" dirty="0">
                <a:solidFill>
                  <a:schemeClr val="tx1"/>
                </a:solidFill>
                <a:latin typeface="Myriad Pro" panose="020B0503030403020204" pitchFamily="34" charset="0"/>
              </a:rPr>
              <a:t>Myriad Pro</a:t>
            </a:r>
            <a:r>
              <a:rPr lang="en-US" sz="4800" b="1" dirty="0">
                <a:solidFill>
                  <a:schemeClr val="tx1"/>
                </a:solidFill>
              </a:rPr>
              <a:t>, </a:t>
            </a:r>
            <a:r>
              <a:rPr lang="en-US" sz="4800" b="1" dirty="0">
                <a:solidFill>
                  <a:schemeClr val="tx1"/>
                </a:solidFill>
                <a:latin typeface="Helvetica" pitchFamily="2" charset="0"/>
              </a:rPr>
              <a:t>Helvetica</a:t>
            </a:r>
            <a:r>
              <a:rPr lang="en-US" sz="4800" b="1" dirty="0">
                <a:solidFill>
                  <a:schemeClr val="tx1"/>
                </a:solidFill>
              </a:rPr>
              <a:t>, </a:t>
            </a:r>
            <a:r>
              <a:rPr lang="en-US" sz="4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Ariel</a:t>
            </a:r>
            <a:r>
              <a:rPr lang="en-US" sz="4800" b="1" dirty="0">
                <a:solidFill>
                  <a:schemeClr val="tx1"/>
                </a:solidFill>
              </a:rPr>
              <a:t>, Calibri, etc.)</a:t>
            </a:r>
          </a:p>
          <a:p>
            <a:pPr algn="ctr"/>
            <a:r>
              <a:rPr lang="en-US" sz="4800" b="1" dirty="0">
                <a:solidFill>
                  <a:schemeClr val="tx1"/>
                </a:solidFill>
              </a:rPr>
              <a:t>Make sure your text/Figures are readable (e.g., this is 48pt font, bold)</a:t>
            </a:r>
          </a:p>
          <a:p>
            <a:pPr algn="ctr"/>
            <a:endParaRPr lang="en-US" sz="4800" b="1" dirty="0">
              <a:solidFill>
                <a:schemeClr val="tx1"/>
              </a:solidFill>
            </a:endParaRPr>
          </a:p>
          <a:p>
            <a:pPr algn="ctr"/>
            <a:r>
              <a:rPr lang="en-US" sz="4800" b="1" u="sng" dirty="0">
                <a:solidFill>
                  <a:schemeClr val="tx1"/>
                </a:solidFill>
              </a:rPr>
              <a:t>Be sure to check alignment of text/objects, </a:t>
            </a:r>
          </a:p>
          <a:p>
            <a:pPr algn="ctr"/>
            <a:r>
              <a:rPr lang="en-US" sz="4800" b="1" u="sng" dirty="0">
                <a:solidFill>
                  <a:schemeClr val="tx1"/>
                </a:solidFill>
              </a:rPr>
              <a:t>spelling, and colors before printing!</a:t>
            </a:r>
          </a:p>
          <a:p>
            <a:pPr algn="ctr"/>
            <a:endParaRPr lang="en-US" sz="4800" b="1" u="sng" dirty="0">
              <a:solidFill>
                <a:schemeClr val="tx1"/>
              </a:solidFill>
            </a:endParaRPr>
          </a:p>
          <a:p>
            <a:pPr algn="ctr"/>
            <a:r>
              <a:rPr lang="en-US" sz="4800" b="1" dirty="0">
                <a:solidFill>
                  <a:schemeClr val="tx1"/>
                </a:solidFill>
              </a:rPr>
              <a:t>Color and shapes are your friend for drawing people’s attention to the important stuff. </a:t>
            </a:r>
          </a:p>
          <a:p>
            <a:pPr algn="ctr"/>
            <a:r>
              <a:rPr lang="en-US" sz="4800" b="1" dirty="0">
                <a:solidFill>
                  <a:schemeClr val="tx1"/>
                </a:solidFill>
              </a:rPr>
              <a:t>This isn’t a white paper! That said, no one likes a cacophony of color!</a:t>
            </a:r>
          </a:p>
          <a:p>
            <a:pPr algn="ctr"/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31" name="Right Arrow 30">
            <a:extLst>
              <a:ext uri="{FF2B5EF4-FFF2-40B4-BE49-F238E27FC236}">
                <a16:creationId xmlns:a16="http://schemas.microsoft.com/office/drawing/2014/main" id="{2FA29779-4D44-2F41-8508-A0ECF20E8CDF}"/>
              </a:ext>
            </a:extLst>
          </p:cNvPr>
          <p:cNvSpPr/>
          <p:nvPr/>
        </p:nvSpPr>
        <p:spPr>
          <a:xfrm>
            <a:off x="16569443" y="15531187"/>
            <a:ext cx="2416629" cy="1143000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&quot;No&quot; Symbol 31">
            <a:extLst>
              <a:ext uri="{FF2B5EF4-FFF2-40B4-BE49-F238E27FC236}">
                <a16:creationId xmlns:a16="http://schemas.microsoft.com/office/drawing/2014/main" id="{8491A0FD-377F-EE4C-BDD2-C206BD03A62C}"/>
              </a:ext>
            </a:extLst>
          </p:cNvPr>
          <p:cNvSpPr/>
          <p:nvPr/>
        </p:nvSpPr>
        <p:spPr>
          <a:xfrm>
            <a:off x="32381633" y="14147026"/>
            <a:ext cx="1828800" cy="1877626"/>
          </a:xfrm>
          <a:prstGeom prst="noSmoking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22D2FA21-B617-E648-A393-A9F71E83FCBA}"/>
              </a:ext>
            </a:extLst>
          </p:cNvPr>
          <p:cNvSpPr/>
          <p:nvPr/>
        </p:nvSpPr>
        <p:spPr>
          <a:xfrm>
            <a:off x="10573249" y="10549249"/>
            <a:ext cx="7641771" cy="2547258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i="1" dirty="0"/>
              <a:t>3-Panel Boxes!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8022C73-08E9-324A-883F-3F5D138124B3}"/>
              </a:ext>
            </a:extLst>
          </p:cNvPr>
          <p:cNvSpPr txBox="1"/>
          <p:nvPr/>
        </p:nvSpPr>
        <p:spPr>
          <a:xfrm>
            <a:off x="17979833" y="18736838"/>
            <a:ext cx="15316200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/>
              <a:t>Interpretations go here</a:t>
            </a:r>
          </a:p>
          <a:p>
            <a:endParaRPr lang="en-US" sz="3600" dirty="0"/>
          </a:p>
          <a:p>
            <a:r>
              <a:rPr lang="en-US" sz="3600" dirty="0"/>
              <a:t>- Short/snappy text is best</a:t>
            </a:r>
          </a:p>
          <a:p>
            <a:r>
              <a:rPr lang="en-US" sz="3600" dirty="0"/>
              <a:t>-Bullet points are better than paragraphs</a:t>
            </a:r>
          </a:p>
          <a:p>
            <a:r>
              <a:rPr lang="en-US" sz="3600" dirty="0"/>
              <a:t>-Large graphs/plots/images are good here</a:t>
            </a:r>
          </a:p>
          <a:p>
            <a:r>
              <a:rPr lang="en-US" sz="3600" dirty="0"/>
              <a:t>-A good interpretive sketch or  schematic can be very useful here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8130977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4BE0D51-BB02-3843-B0BF-950A57AAB8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1991" y="228600"/>
            <a:ext cx="48442418" cy="288036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2EADD091-D2DE-6B44-8FEC-0ACCF5AB02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7201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C30E7-D375-7A47-A512-AA82654DD5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799" y="887507"/>
            <a:ext cx="38404800" cy="4195482"/>
          </a:xfrm>
        </p:spPr>
        <p:txBody>
          <a:bodyPr>
            <a:noAutofit/>
          </a:bodyPr>
          <a:lstStyle/>
          <a:p>
            <a:r>
              <a:rPr lang="en-US" sz="7200" b="1" dirty="0">
                <a:latin typeface="+mn-lt"/>
              </a:rPr>
              <a:t>ADD TITLE HERE (this is 72pt font, don’t go much smaller)</a:t>
            </a:r>
            <a:br>
              <a:rPr lang="en-US" sz="7200" b="1" dirty="0">
                <a:latin typeface="+mn-lt"/>
              </a:rPr>
            </a:br>
            <a:br>
              <a:rPr lang="en-US" sz="7200" b="1" dirty="0">
                <a:latin typeface="+mn-lt"/>
              </a:rPr>
            </a:br>
            <a:r>
              <a:rPr lang="en-US" sz="6000" b="1" dirty="0">
                <a:latin typeface="+mn-lt"/>
              </a:rPr>
              <a:t>Add Authors Here (this is 60pt font)</a:t>
            </a:r>
            <a:br>
              <a:rPr lang="en-US" sz="6000" b="1" dirty="0">
                <a:latin typeface="+mn-lt"/>
              </a:rPr>
            </a:br>
            <a:r>
              <a:rPr lang="en-US" sz="6000" dirty="0">
                <a:latin typeface="+mn-lt"/>
              </a:rPr>
              <a:t>Add author’s affiliations here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71D415-EE08-0646-8849-3B5A6C1B5028}"/>
              </a:ext>
            </a:extLst>
          </p:cNvPr>
          <p:cNvSpPr/>
          <p:nvPr/>
        </p:nvSpPr>
        <p:spPr>
          <a:xfrm>
            <a:off x="430306" y="416859"/>
            <a:ext cx="50345789" cy="28427082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Logo, icon&#10;&#10;Description automatically generated">
            <a:extLst>
              <a:ext uri="{FF2B5EF4-FFF2-40B4-BE49-F238E27FC236}">
                <a16:creationId xmlns:a16="http://schemas.microsoft.com/office/drawing/2014/main" id="{D7E5EF51-C4ED-7A49-8F38-91E4D5800D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2442" y="1536356"/>
            <a:ext cx="4343027" cy="2897784"/>
          </a:xfrm>
          <a:prstGeom prst="rect">
            <a:avLst/>
          </a:prstGeom>
        </p:spPr>
      </p:pic>
      <p:pic>
        <p:nvPicPr>
          <p:cNvPr id="9" name="Picture 8" descr="Graphical user interface&#10;&#10;Description automatically generated with low confidence">
            <a:extLst>
              <a:ext uri="{FF2B5EF4-FFF2-40B4-BE49-F238E27FC236}">
                <a16:creationId xmlns:a16="http://schemas.microsoft.com/office/drawing/2014/main" id="{359A5732-F69F-8E4B-9476-D5A4E558BA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80946" y="1872368"/>
            <a:ext cx="8576926" cy="170353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9EF9705-AA48-4940-A06B-22534E4A8560}"/>
              </a:ext>
            </a:extLst>
          </p:cNvPr>
          <p:cNvSpPr txBox="1"/>
          <p:nvPr/>
        </p:nvSpPr>
        <p:spPr>
          <a:xfrm>
            <a:off x="1077686" y="5617029"/>
            <a:ext cx="15606252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/>
              <a:t>Add Introduction/Question/</a:t>
            </a:r>
          </a:p>
          <a:p>
            <a:pPr algn="ctr"/>
            <a:r>
              <a:rPr lang="en-US" sz="4800" b="1" dirty="0"/>
              <a:t>Goals of your poster here</a:t>
            </a:r>
          </a:p>
          <a:p>
            <a:endParaRPr lang="en-US" sz="3600" dirty="0"/>
          </a:p>
          <a:p>
            <a:r>
              <a:rPr lang="en-US" sz="3600" dirty="0"/>
              <a:t>- Short/snappy text is best </a:t>
            </a:r>
          </a:p>
          <a:p>
            <a:r>
              <a:rPr lang="en-US" sz="3600" dirty="0"/>
              <a:t>- Don’t write in a long abstract</a:t>
            </a:r>
          </a:p>
          <a:p>
            <a:r>
              <a:rPr lang="en-US" sz="3600" dirty="0"/>
              <a:t>- Bullet points are better than paragraphs</a:t>
            </a:r>
          </a:p>
          <a:p>
            <a:r>
              <a:rPr lang="en-US" sz="3600" dirty="0"/>
              <a:t>- Make sure you get people’s attention</a:t>
            </a:r>
          </a:p>
          <a:p>
            <a:r>
              <a:rPr lang="en-US" sz="3600" b="1" dirty="0"/>
              <a:t>WHY DO WE CARE?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0C08CA5-E64A-DF4D-86EC-39DA96D3BEF0}"/>
              </a:ext>
            </a:extLst>
          </p:cNvPr>
          <p:cNvSpPr txBox="1"/>
          <p:nvPr/>
        </p:nvSpPr>
        <p:spPr>
          <a:xfrm>
            <a:off x="1077686" y="17108654"/>
            <a:ext cx="1560625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/>
              <a:t>Add background information/</a:t>
            </a:r>
          </a:p>
          <a:p>
            <a:pPr algn="ctr"/>
            <a:r>
              <a:rPr lang="en-US" sz="4800" b="1" dirty="0"/>
              <a:t>methods/geological setting here</a:t>
            </a:r>
          </a:p>
          <a:p>
            <a:pPr algn="ctr"/>
            <a:endParaRPr lang="en-US" sz="3600" dirty="0"/>
          </a:p>
          <a:p>
            <a:r>
              <a:rPr lang="en-US" sz="3600" dirty="0"/>
              <a:t>- Short/snappy text is best </a:t>
            </a:r>
          </a:p>
          <a:p>
            <a:r>
              <a:rPr lang="en-US" sz="3600" dirty="0"/>
              <a:t>- Bullet points are better than paragraphs</a:t>
            </a:r>
          </a:p>
          <a:p>
            <a:r>
              <a:rPr lang="en-US" sz="3600" dirty="0"/>
              <a:t>- Make sure you give people  background on what you’re doing</a:t>
            </a:r>
            <a:endParaRPr lang="en-US" sz="36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3606753-80B4-0147-833E-6EC656912144}"/>
              </a:ext>
            </a:extLst>
          </p:cNvPr>
          <p:cNvSpPr txBox="1"/>
          <p:nvPr/>
        </p:nvSpPr>
        <p:spPr>
          <a:xfrm>
            <a:off x="34721761" y="5617029"/>
            <a:ext cx="15406953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/>
              <a:t>Summary or Discussion points go here</a:t>
            </a:r>
          </a:p>
          <a:p>
            <a:pPr algn="ctr"/>
            <a:endParaRPr lang="en-US" sz="3600" dirty="0"/>
          </a:p>
          <a:p>
            <a:r>
              <a:rPr lang="en-US" sz="3600" dirty="0"/>
              <a:t>- Summarize what people should know</a:t>
            </a:r>
          </a:p>
          <a:p>
            <a:r>
              <a:rPr lang="en-US" sz="3600" dirty="0"/>
              <a:t>- WHAT ARE THE 3-5 MAIN TAKE AWAY POINTS?</a:t>
            </a:r>
            <a:endParaRPr lang="en-US" sz="36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E10A4A4-0D9D-B547-852E-0B57D9510113}"/>
              </a:ext>
            </a:extLst>
          </p:cNvPr>
          <p:cNvSpPr txBox="1"/>
          <p:nvPr/>
        </p:nvSpPr>
        <p:spPr>
          <a:xfrm>
            <a:off x="34721761" y="17239302"/>
            <a:ext cx="15406953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/>
              <a:t>Future/Ongoing Work goes here</a:t>
            </a:r>
          </a:p>
          <a:p>
            <a:pPr algn="ctr"/>
            <a:endParaRPr lang="en-US" sz="3600" dirty="0"/>
          </a:p>
          <a:p>
            <a:r>
              <a:rPr lang="en-US" sz="3600" dirty="0"/>
              <a:t>- What are you still doing?</a:t>
            </a:r>
          </a:p>
          <a:p>
            <a:r>
              <a:rPr lang="en-US" sz="3600" dirty="0"/>
              <a:t>- Acknowledgements or key references can go here</a:t>
            </a:r>
            <a:endParaRPr lang="en-US" sz="36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F9EDBD2-5A43-9E45-91C0-03AE593E4BBD}"/>
              </a:ext>
            </a:extLst>
          </p:cNvPr>
          <p:cNvSpPr txBox="1"/>
          <p:nvPr/>
        </p:nvSpPr>
        <p:spPr>
          <a:xfrm>
            <a:off x="17863457" y="5617029"/>
            <a:ext cx="15316200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/>
              <a:t>Results go here</a:t>
            </a:r>
          </a:p>
          <a:p>
            <a:endParaRPr lang="en-US" sz="3600" dirty="0"/>
          </a:p>
          <a:p>
            <a:r>
              <a:rPr lang="en-US" sz="3600" dirty="0"/>
              <a:t>- Short/snappy text is best</a:t>
            </a:r>
          </a:p>
          <a:p>
            <a:r>
              <a:rPr lang="en-US" sz="3600" dirty="0"/>
              <a:t>-Bullet points are better than paragraphs</a:t>
            </a:r>
          </a:p>
          <a:p>
            <a:r>
              <a:rPr lang="en-US" sz="3600" dirty="0"/>
              <a:t>-Large graphs/plots/images are good here</a:t>
            </a:r>
          </a:p>
          <a:p>
            <a:endParaRPr lang="en-US" sz="3600" b="1" dirty="0"/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6280D984-102A-D445-B65F-D6116AC90FD3}"/>
              </a:ext>
            </a:extLst>
          </p:cNvPr>
          <p:cNvSpPr/>
          <p:nvPr/>
        </p:nvSpPr>
        <p:spPr>
          <a:xfrm>
            <a:off x="18209966" y="8554516"/>
            <a:ext cx="15316200" cy="9931281"/>
          </a:xfrm>
          <a:prstGeom prst="roundRect">
            <a:avLst/>
          </a:prstGeom>
          <a:solidFill>
            <a:srgbClr val="4472C4">
              <a:alpha val="45882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Use a “non Serif” font (like </a:t>
            </a:r>
            <a:r>
              <a:rPr lang="en-US" sz="4800" b="1" dirty="0">
                <a:solidFill>
                  <a:schemeClr val="tx1"/>
                </a:solidFill>
                <a:latin typeface="Myriad Pro" panose="020B0503030403020204" pitchFamily="34" charset="0"/>
              </a:rPr>
              <a:t>Myriad Pro</a:t>
            </a:r>
            <a:r>
              <a:rPr lang="en-US" sz="4800" b="1" dirty="0">
                <a:solidFill>
                  <a:schemeClr val="tx1"/>
                </a:solidFill>
              </a:rPr>
              <a:t>, </a:t>
            </a:r>
            <a:r>
              <a:rPr lang="en-US" sz="4800" b="1" dirty="0">
                <a:solidFill>
                  <a:schemeClr val="tx1"/>
                </a:solidFill>
                <a:latin typeface="Helvetica" pitchFamily="2" charset="0"/>
              </a:rPr>
              <a:t>Helvetica</a:t>
            </a:r>
            <a:r>
              <a:rPr lang="en-US" sz="4800" b="1" dirty="0">
                <a:solidFill>
                  <a:schemeClr val="tx1"/>
                </a:solidFill>
              </a:rPr>
              <a:t>, </a:t>
            </a:r>
            <a:r>
              <a:rPr lang="en-US" sz="4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Ariel</a:t>
            </a:r>
            <a:r>
              <a:rPr lang="en-US" sz="4800" b="1" dirty="0">
                <a:solidFill>
                  <a:schemeClr val="tx1"/>
                </a:solidFill>
              </a:rPr>
              <a:t>, Calibri, etc.)</a:t>
            </a:r>
          </a:p>
          <a:p>
            <a:pPr algn="ctr"/>
            <a:r>
              <a:rPr lang="en-US" sz="4800" b="1" dirty="0">
                <a:solidFill>
                  <a:schemeClr val="tx1"/>
                </a:solidFill>
              </a:rPr>
              <a:t>Make sure your text/Figures are readable (e.g., this is 48pt font, bold)</a:t>
            </a:r>
          </a:p>
          <a:p>
            <a:pPr algn="ctr"/>
            <a:endParaRPr lang="en-US" sz="4800" b="1" dirty="0">
              <a:solidFill>
                <a:schemeClr val="tx1"/>
              </a:solidFill>
            </a:endParaRPr>
          </a:p>
          <a:p>
            <a:pPr algn="ctr"/>
            <a:r>
              <a:rPr lang="en-US" sz="4800" b="1" u="sng" dirty="0">
                <a:solidFill>
                  <a:schemeClr val="tx1"/>
                </a:solidFill>
              </a:rPr>
              <a:t>Be sure to check alignment of text/objects, </a:t>
            </a:r>
          </a:p>
          <a:p>
            <a:pPr algn="ctr"/>
            <a:r>
              <a:rPr lang="en-US" sz="4800" b="1" u="sng" dirty="0">
                <a:solidFill>
                  <a:schemeClr val="tx1"/>
                </a:solidFill>
              </a:rPr>
              <a:t>spelling, and colors before printing!</a:t>
            </a:r>
          </a:p>
          <a:p>
            <a:pPr algn="ctr"/>
            <a:endParaRPr lang="en-US" sz="4800" b="1" u="sng" dirty="0">
              <a:solidFill>
                <a:schemeClr val="tx1"/>
              </a:solidFill>
            </a:endParaRPr>
          </a:p>
          <a:p>
            <a:pPr algn="ctr"/>
            <a:r>
              <a:rPr lang="en-US" sz="4800" b="1" dirty="0">
                <a:solidFill>
                  <a:schemeClr val="tx1"/>
                </a:solidFill>
              </a:rPr>
              <a:t>Color and shapes are your friend for drawing people’s attention to the important stuff. </a:t>
            </a:r>
          </a:p>
          <a:p>
            <a:pPr algn="ctr"/>
            <a:r>
              <a:rPr lang="en-US" sz="4800" b="1" dirty="0">
                <a:solidFill>
                  <a:schemeClr val="tx1"/>
                </a:solidFill>
              </a:rPr>
              <a:t>This isn’t a white paper! That said, no one likes a cacophony of color!</a:t>
            </a:r>
          </a:p>
          <a:p>
            <a:pPr algn="ctr"/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31" name="Right Arrow 30">
            <a:extLst>
              <a:ext uri="{FF2B5EF4-FFF2-40B4-BE49-F238E27FC236}">
                <a16:creationId xmlns:a16="http://schemas.microsoft.com/office/drawing/2014/main" id="{2FA29779-4D44-2F41-8508-A0ECF20E8CDF}"/>
              </a:ext>
            </a:extLst>
          </p:cNvPr>
          <p:cNvSpPr/>
          <p:nvPr/>
        </p:nvSpPr>
        <p:spPr>
          <a:xfrm>
            <a:off x="16569443" y="15531187"/>
            <a:ext cx="2416629" cy="1143000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&quot;No&quot; Symbol 31">
            <a:extLst>
              <a:ext uri="{FF2B5EF4-FFF2-40B4-BE49-F238E27FC236}">
                <a16:creationId xmlns:a16="http://schemas.microsoft.com/office/drawing/2014/main" id="{8491A0FD-377F-EE4C-BDD2-C206BD03A62C}"/>
              </a:ext>
            </a:extLst>
          </p:cNvPr>
          <p:cNvSpPr/>
          <p:nvPr/>
        </p:nvSpPr>
        <p:spPr>
          <a:xfrm>
            <a:off x="32381633" y="14147026"/>
            <a:ext cx="1828800" cy="1877626"/>
          </a:xfrm>
          <a:prstGeom prst="noSmoking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22D2FA21-B617-E648-A393-A9F71E83FCBA}"/>
              </a:ext>
            </a:extLst>
          </p:cNvPr>
          <p:cNvSpPr/>
          <p:nvPr/>
        </p:nvSpPr>
        <p:spPr>
          <a:xfrm>
            <a:off x="8967114" y="11310831"/>
            <a:ext cx="7641771" cy="2547258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i="1" dirty="0"/>
              <a:t>3-Panel Lines!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8022C73-08E9-324A-883F-3F5D138124B3}"/>
              </a:ext>
            </a:extLst>
          </p:cNvPr>
          <p:cNvSpPr txBox="1"/>
          <p:nvPr/>
        </p:nvSpPr>
        <p:spPr>
          <a:xfrm>
            <a:off x="17979833" y="18736838"/>
            <a:ext cx="15316200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/>
              <a:t>Interpretations go here</a:t>
            </a:r>
          </a:p>
          <a:p>
            <a:endParaRPr lang="en-US" sz="3600" dirty="0"/>
          </a:p>
          <a:p>
            <a:r>
              <a:rPr lang="en-US" sz="3600" dirty="0"/>
              <a:t>- Short/snappy text is best</a:t>
            </a:r>
          </a:p>
          <a:p>
            <a:r>
              <a:rPr lang="en-US" sz="3600" dirty="0"/>
              <a:t>-Bullet points are better than paragraphs</a:t>
            </a:r>
          </a:p>
          <a:p>
            <a:r>
              <a:rPr lang="en-US" sz="3600" dirty="0"/>
              <a:t>-Large graphs/plots/images are good here</a:t>
            </a:r>
          </a:p>
          <a:p>
            <a:r>
              <a:rPr lang="en-US" sz="3600" dirty="0"/>
              <a:t>-A good interpretive sketch or  schematic can be very useful here</a:t>
            </a:r>
            <a:endParaRPr lang="en-US" sz="3600" b="1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F368CCF-A41C-694E-BEC2-0CDA9C47DFD0}"/>
              </a:ext>
            </a:extLst>
          </p:cNvPr>
          <p:cNvCxnSpPr>
            <a:cxnSpLocks/>
          </p:cNvCxnSpPr>
          <p:nvPr/>
        </p:nvCxnSpPr>
        <p:spPr>
          <a:xfrm>
            <a:off x="767443" y="5082989"/>
            <a:ext cx="4967151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C677BF1-B29D-2742-89A6-CD7B08150A69}"/>
              </a:ext>
            </a:extLst>
          </p:cNvPr>
          <p:cNvCxnSpPr>
            <a:cxnSpLocks/>
          </p:cNvCxnSpPr>
          <p:nvPr/>
        </p:nvCxnSpPr>
        <p:spPr>
          <a:xfrm>
            <a:off x="767443" y="16404131"/>
            <a:ext cx="155448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9D6FC68-0709-3F46-871E-FC14D1AEFC79}"/>
              </a:ext>
            </a:extLst>
          </p:cNvPr>
          <p:cNvCxnSpPr>
            <a:cxnSpLocks/>
          </p:cNvCxnSpPr>
          <p:nvPr/>
        </p:nvCxnSpPr>
        <p:spPr>
          <a:xfrm>
            <a:off x="34721760" y="16404131"/>
            <a:ext cx="155448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5D2BBBCE-BECA-CC40-A40D-0ECCCFCACF66}"/>
              </a:ext>
            </a:extLst>
          </p:cNvPr>
          <p:cNvCxnSpPr>
            <a:cxnSpLocks/>
          </p:cNvCxnSpPr>
          <p:nvPr/>
        </p:nvCxnSpPr>
        <p:spPr>
          <a:xfrm>
            <a:off x="34115002" y="5354116"/>
            <a:ext cx="0" cy="2293267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267FC8B-B5B3-B942-8BA8-107F5BA19DE9}"/>
              </a:ext>
            </a:extLst>
          </p:cNvPr>
          <p:cNvCxnSpPr>
            <a:cxnSpLocks/>
          </p:cNvCxnSpPr>
          <p:nvPr/>
        </p:nvCxnSpPr>
        <p:spPr>
          <a:xfrm>
            <a:off x="17076558" y="5354116"/>
            <a:ext cx="0" cy="2293267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25840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36</TotalTime>
  <Words>1818</Words>
  <Application>Microsoft Macintosh PowerPoint</Application>
  <PresentationFormat>Custom</PresentationFormat>
  <Paragraphs>262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Helvetica</vt:lpstr>
      <vt:lpstr>Myriad Pro</vt:lpstr>
      <vt:lpstr>Office Theme</vt:lpstr>
      <vt:lpstr>PowerPoint Presentation</vt:lpstr>
      <vt:lpstr>ADD TITLE HERE (this is 72pt font, don’t go much smaller)  Add Authors Here (this is 60pt font) Add author’s affiliations here</vt:lpstr>
      <vt:lpstr>ADD TITLE HERE (this is 72pt font, don’t go much smaller)  Add Authors Here (this is 60pt font) Add author’s affiliations here</vt:lpstr>
      <vt:lpstr>ADD TITLE HERE (this is 72pt font, don’t go much smaller)  Add Authors Here (this is 60pt font) Add author’s affiliations here</vt:lpstr>
      <vt:lpstr>ADD TITLE HERE (this is 72pt font, don’t go much smaller)  Add Authors Here (this is 60pt font) Add author’s affiliations here</vt:lpstr>
      <vt:lpstr>PowerPoint Presentation</vt:lpstr>
      <vt:lpstr>ADD TITLE HERE (this is 72pt font, don’t go much smaller)  Add Authors Here (this is 60pt font) Add author’s affiliations here</vt:lpstr>
      <vt:lpstr>PowerPoint Presentation</vt:lpstr>
      <vt:lpstr>ADD TITLE HERE (this is 72pt font, don’t go much smaller)  Add Authors Here (this is 60pt font) Add author’s affiliations here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Rowan Martindale</dc:creator>
  <cp:lastModifiedBy>Rowan Martindale</cp:lastModifiedBy>
  <cp:revision>3</cp:revision>
  <dcterms:created xsi:type="dcterms:W3CDTF">2022-02-22T21:44:57Z</dcterms:created>
  <dcterms:modified xsi:type="dcterms:W3CDTF">2022-02-22T22:21:10Z</dcterms:modified>
</cp:coreProperties>
</file>