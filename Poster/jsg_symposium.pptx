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62" r:id="rId2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8227"/>
    <a:srgbClr val="285481"/>
    <a:srgbClr val="19354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3814" autoAdjust="0"/>
    <p:restoredTop sz="94660"/>
  </p:normalViewPr>
  <p:slideViewPr>
    <p:cSldViewPr snapToGrid="0">
      <p:cViewPr>
        <p:scale>
          <a:sx n="50" d="100"/>
          <a:sy n="50" d="100"/>
        </p:scale>
        <p:origin x="24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EA247927-AD14-4C4A-9AD1-C5AB820B0C7C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D622073C-4320-4058-B720-89590188E6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836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22073C-4320-4058-B720-89590188E65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048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94549-90CA-B928-A272-166BCDD70A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C78FBA-75E4-D66B-A7A9-5DAF81DD24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FA5DE-BA4B-AD9E-90E5-17E2CC69F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3B092-DFBC-44DF-B5D9-0A47EBA31158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7FA968-FE88-862E-08D4-77F12C2A90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DCAFE-EC8C-7C44-A901-8F6E3E720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2E918-7384-4697-9EAD-633BCEA15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508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CCA05-B9B4-4321-4C3B-CF8D3F966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3FC07E-9995-0808-8268-BB5F40CFE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C9629-7630-B8F7-709B-C29F7598C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3B092-DFBC-44DF-B5D9-0A47EBA31158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E8ABC-7691-C134-8B40-B623003D0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BA430-8119-F987-55A3-32E7729C6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2E918-7384-4697-9EAD-633BCEA15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682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853B9-ECA0-A403-2848-3B4AD662D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E999B0-3F19-4D32-91E7-3283F8DB4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CC3232-5C58-739C-1335-0A877CA65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3B092-DFBC-44DF-B5D9-0A47EBA31158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45E00-078E-1BAE-C888-2AE0B9E0E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12127-44B5-37CF-0F0D-0DE40FD1F2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2E918-7384-4697-9EAD-633BCEA15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403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31ACC-C75D-7525-39FB-80FE08CAD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1B482C-5434-99F6-C61E-00A0015F75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4C6F7B-9C17-BE91-BEA0-5B2B72D299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FA924C-1D73-617A-1149-F387A78310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3B092-DFBC-44DF-B5D9-0A47EBA31158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78A962-2074-82E2-4953-37E09CEDB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509C35-65A0-3A3D-5273-8D6D6361D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2E918-7384-4697-9EAD-633BCEA15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0507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6D0FA-0B0A-5BA0-23E1-D42478379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D74933-172B-DAFF-064E-25CFA5F2D3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FC0439-FB19-89A2-A70A-4FE504615B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6F1203-69F8-F4D4-2632-4971CF31F7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C1A724-63A9-FA89-84C6-3759A51E81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87C691-0FDC-4F45-F6C5-919905463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3B092-DFBC-44DF-B5D9-0A47EBA31158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008701-A6E0-83D7-1DE3-F21DBC77E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E1228F-24E7-6A25-B488-1B6F01BF1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2E918-7384-4697-9EAD-633BCEA15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11501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4FF39-D335-CDB6-0628-E1FD8E4F1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E5C504D-03FA-636A-BB99-E05ECD2E0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3B092-DFBC-44DF-B5D9-0A47EBA31158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74D0F9-4E05-5C97-B556-0ADEFBC96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3AABE5-870D-9A88-215A-7887FF521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2E918-7384-4697-9EAD-633BCEA15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3987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7370A7-2C9B-2DC5-0913-DB664C0E1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3B092-DFBC-44DF-B5D9-0A47EBA31158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BD1E5E-E6F9-97A0-9B30-3EB2AACF4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8662DE-A489-0DC8-E38E-373D8C455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2E918-7384-4697-9EAD-633BCEA15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413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3A184-93F4-79E2-7101-49CB51C07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C089D-9584-CEA9-7F59-6A82F4F10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F0DD7C-6B1A-AB39-ED69-4863F4C1C8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E8D0EB-1D45-CC66-1ADB-5430E0FC8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3B092-DFBC-44DF-B5D9-0A47EBA31158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BF55AE-2D5A-9660-2D84-95B592664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05BA22-85EC-A653-6D1C-3BECCD9D8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2E918-7384-4697-9EAD-633BCEA15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4562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F77FB-4AE8-5E6B-03E1-A75A98B5E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990C07-6EE9-5356-85D0-358B5FEDF4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9D65A2-7B82-EF97-4C21-4A0367BBBB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C1D95-5ED5-6E11-60CD-4E149FBD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3B092-DFBC-44DF-B5D9-0A47EBA31158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26331-8D1B-C636-2DB2-416624AAB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0A7CAD-7EB1-C078-F579-A2B7C1DD1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2E918-7384-4697-9EAD-633BCEA15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2575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3D4D5D-2B70-C7DE-4A80-43FF0A65C4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B72CCC-0C04-DB5F-DC7A-7A7032820A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A3917-963F-F643-645E-1CA221136E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3B092-DFBC-44DF-B5D9-0A47EBA31158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CBCED-D4C6-1798-E1CA-D3CA1D3D7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3E3B4-C70C-48D1-0785-1C0C2C233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2E918-7384-4697-9EAD-633BCEA15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202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A3CEB3-309E-FB35-3003-87B30F3C74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068F92-D08E-49CE-1B19-0A2849BAEC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98BC3-20AD-A73D-8442-873E25388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3B092-DFBC-44DF-B5D9-0A47EBA31158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684A6-8D35-B657-FAB6-646E8D757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5A3A0-9D11-E75C-4013-9AA49389A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D2E918-7384-4697-9EAD-633BCEA15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2350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F54639-BFDE-541B-FAF3-83904E5DD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AEDBBA-7A05-DBC5-158C-04020C5C0F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490E16-6B2F-E045-47B1-51BF914F6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753B092-DFBC-44DF-B5D9-0A47EBA31158}" type="datetimeFigureOut">
              <a:rPr lang="en-US" smtClean="0"/>
              <a:t>06-Feb-26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442361-C300-7318-8B41-434945FA46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8FB7A-3DA2-3545-97D6-20F716582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D2E918-7384-4697-9EAD-633BCEA1586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47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0">
            <a:extLst>
              <a:ext uri="{FF2B5EF4-FFF2-40B4-BE49-F238E27FC236}">
                <a16:creationId xmlns:a16="http://schemas.microsoft.com/office/drawing/2014/main" id="{BA2AA684-0884-001C-5D5E-CA908EF3B5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4" b="464"/>
          <a:stretch/>
        </p:blipFill>
        <p:spPr>
          <a:xfrm>
            <a:off x="5883758" y="1236165"/>
            <a:ext cx="4115611" cy="29153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CC30E7-D375-7A47-A512-AA82654DD5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60029" y="207801"/>
            <a:ext cx="9001125" cy="983316"/>
          </a:xfrm>
        </p:spPr>
        <p:txBody>
          <a:bodyPr>
            <a:noAutofit/>
          </a:bodyPr>
          <a:lstStyle/>
          <a:p>
            <a:r>
              <a:rPr lang="en-US" sz="1688" b="1" dirty="0">
                <a:latin typeface="+mn-lt"/>
              </a:rPr>
              <a:t>High-resolution Coral Geodesy in the Solomon Islands</a:t>
            </a:r>
            <a:br>
              <a:rPr lang="en-US" sz="1688" b="1" dirty="0">
                <a:latin typeface="+mn-lt"/>
              </a:rPr>
            </a:br>
            <a:br>
              <a:rPr lang="en-US" sz="1688" b="1" dirty="0">
                <a:latin typeface="+mn-lt"/>
              </a:rPr>
            </a:br>
            <a:r>
              <a:rPr lang="en-US" sz="1406" b="1" dirty="0">
                <a:latin typeface="+mn-lt"/>
              </a:rPr>
              <a:t>M. Ege Karaesmen</a:t>
            </a:r>
            <a:r>
              <a:rPr lang="en-US" sz="1406" b="1" baseline="30000" dirty="0">
                <a:latin typeface="+mn-lt"/>
              </a:rPr>
              <a:t>1</a:t>
            </a:r>
            <a:r>
              <a:rPr lang="en-US" sz="1406" b="1" dirty="0">
                <a:latin typeface="+mn-lt"/>
              </a:rPr>
              <a:t>, Luc Lavier</a:t>
            </a:r>
            <a:r>
              <a:rPr lang="en-US" sz="1406" b="1" baseline="30000" dirty="0"/>
              <a:t>1</a:t>
            </a:r>
            <a:r>
              <a:rPr lang="en-US" sz="1406" b="1" dirty="0">
                <a:latin typeface="+mn-lt"/>
              </a:rPr>
              <a:t>, </a:t>
            </a:r>
            <a:r>
              <a:rPr lang="en-US" sz="1406" b="1" dirty="0"/>
              <a:t>Frederick</a:t>
            </a:r>
            <a:r>
              <a:rPr lang="en-US" sz="1406" b="1" dirty="0">
                <a:latin typeface="+mn-lt"/>
              </a:rPr>
              <a:t> Taylor</a:t>
            </a:r>
            <a:r>
              <a:rPr lang="en-US" sz="1406" b="1" baseline="30000" dirty="0"/>
              <a:t>1</a:t>
            </a:r>
            <a:br>
              <a:rPr lang="en-US" sz="1406" b="1" dirty="0">
                <a:latin typeface="+mn-lt"/>
              </a:rPr>
            </a:br>
            <a:r>
              <a:rPr lang="en-US" sz="1400" b="1" baseline="30000" dirty="0"/>
              <a:t>1</a:t>
            </a:r>
            <a:r>
              <a:rPr lang="en-US" sz="1400" dirty="0"/>
              <a:t>University of Texas at Austin, UTIG</a:t>
            </a:r>
            <a:endParaRPr lang="en-US" sz="1406" dirty="0">
              <a:latin typeface="+mn-l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71D415-EE08-0646-8849-3B5A6C1B5028}"/>
              </a:ext>
            </a:extLst>
          </p:cNvPr>
          <p:cNvSpPr/>
          <p:nvPr/>
        </p:nvSpPr>
        <p:spPr>
          <a:xfrm>
            <a:off x="196102" y="63414"/>
            <a:ext cx="11799794" cy="6662597"/>
          </a:xfrm>
          <a:prstGeom prst="rect">
            <a:avLst/>
          </a:prstGeom>
          <a:noFill/>
          <a:ln w="76200">
            <a:solidFill>
              <a:srgbClr val="28548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22"/>
          </a:p>
        </p:txBody>
      </p:sp>
      <p:pic>
        <p:nvPicPr>
          <p:cNvPr id="9" name="Picture 8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359A5732-F69F-8E4B-9476-D5A4E558BA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15407" y="374677"/>
            <a:ext cx="2562631" cy="508986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F7A325B-A1C3-364C-9988-D2EB0BA0EBD1}"/>
              </a:ext>
            </a:extLst>
          </p:cNvPr>
          <p:cNvCxnSpPr>
            <a:cxnSpLocks/>
          </p:cNvCxnSpPr>
          <p:nvPr/>
        </p:nvCxnSpPr>
        <p:spPr>
          <a:xfrm flipV="1">
            <a:off x="2484081" y="1169001"/>
            <a:ext cx="9506501" cy="10530"/>
          </a:xfrm>
          <a:prstGeom prst="line">
            <a:avLst/>
          </a:prstGeom>
          <a:ln w="38100">
            <a:solidFill>
              <a:srgbClr val="285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AAE3F84-7C16-A743-A39F-E24B04760DA4}"/>
              </a:ext>
            </a:extLst>
          </p:cNvPr>
          <p:cNvCxnSpPr>
            <a:cxnSpLocks/>
          </p:cNvCxnSpPr>
          <p:nvPr/>
        </p:nvCxnSpPr>
        <p:spPr>
          <a:xfrm>
            <a:off x="214568" y="2120005"/>
            <a:ext cx="2287978" cy="0"/>
          </a:xfrm>
          <a:prstGeom prst="line">
            <a:avLst/>
          </a:prstGeom>
          <a:ln w="38100">
            <a:solidFill>
              <a:srgbClr val="285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ABE66A0-20FC-A04E-B5AA-2B4E06A90266}"/>
              </a:ext>
            </a:extLst>
          </p:cNvPr>
          <p:cNvCxnSpPr>
            <a:cxnSpLocks/>
          </p:cNvCxnSpPr>
          <p:nvPr/>
        </p:nvCxnSpPr>
        <p:spPr>
          <a:xfrm>
            <a:off x="10126325" y="4974790"/>
            <a:ext cx="1901280" cy="1581"/>
          </a:xfrm>
          <a:prstGeom prst="line">
            <a:avLst/>
          </a:prstGeom>
          <a:ln w="38100">
            <a:solidFill>
              <a:srgbClr val="285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55B8A19-E1D3-A34A-8006-CF7474C19B3F}"/>
              </a:ext>
            </a:extLst>
          </p:cNvPr>
          <p:cNvCxnSpPr>
            <a:cxnSpLocks/>
          </p:cNvCxnSpPr>
          <p:nvPr/>
        </p:nvCxnSpPr>
        <p:spPr>
          <a:xfrm>
            <a:off x="8987282" y="1253976"/>
            <a:ext cx="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42ED88E-8187-D64D-A1C4-329954E2D0D6}"/>
              </a:ext>
            </a:extLst>
          </p:cNvPr>
          <p:cNvCxnSpPr>
            <a:cxnSpLocks/>
          </p:cNvCxnSpPr>
          <p:nvPr/>
        </p:nvCxnSpPr>
        <p:spPr>
          <a:xfrm>
            <a:off x="9023000" y="1289695"/>
            <a:ext cx="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AEAED8C-8C09-2B47-BD7A-965D5C8011BF}"/>
              </a:ext>
            </a:extLst>
          </p:cNvPr>
          <p:cNvCxnSpPr>
            <a:cxnSpLocks/>
          </p:cNvCxnSpPr>
          <p:nvPr/>
        </p:nvCxnSpPr>
        <p:spPr>
          <a:xfrm>
            <a:off x="10130059" y="2829210"/>
            <a:ext cx="3348" cy="3931088"/>
          </a:xfrm>
          <a:prstGeom prst="line">
            <a:avLst/>
          </a:prstGeom>
          <a:ln w="38100">
            <a:solidFill>
              <a:srgbClr val="285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6BB21D4-E1BF-B349-A6AC-41FEC2A4DA9D}"/>
              </a:ext>
            </a:extLst>
          </p:cNvPr>
          <p:cNvCxnSpPr>
            <a:cxnSpLocks/>
          </p:cNvCxnSpPr>
          <p:nvPr/>
        </p:nvCxnSpPr>
        <p:spPr>
          <a:xfrm>
            <a:off x="2484081" y="97701"/>
            <a:ext cx="36930" cy="6662597"/>
          </a:xfrm>
          <a:prstGeom prst="line">
            <a:avLst/>
          </a:prstGeom>
          <a:ln w="38100">
            <a:solidFill>
              <a:srgbClr val="285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6B3F383D-5DA0-AE99-B277-D5232BF6B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0" r="1355"/>
          <a:stretch>
            <a:fillRect/>
          </a:stretch>
        </p:blipFill>
        <p:spPr>
          <a:xfrm>
            <a:off x="258068" y="3316138"/>
            <a:ext cx="2212684" cy="1906046"/>
          </a:xfrm>
          <a:prstGeom prst="rect">
            <a:avLst/>
          </a:prstGeom>
        </p:spPr>
      </p:pic>
      <p:pic>
        <p:nvPicPr>
          <p:cNvPr id="38" name="Picture 37" descr="A graph of different colored lines&#10;&#10;AI-generated content may be incorrect.">
            <a:extLst>
              <a:ext uri="{FF2B5EF4-FFF2-40B4-BE49-F238E27FC236}">
                <a16:creationId xmlns:a16="http://schemas.microsoft.com/office/drawing/2014/main" id="{8B458973-D1A8-0BDF-11D7-3C48C5FA04E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7" t="9522" r="-166" b="4286"/>
          <a:stretch>
            <a:fillRect/>
          </a:stretch>
        </p:blipFill>
        <p:spPr>
          <a:xfrm>
            <a:off x="2527134" y="4393085"/>
            <a:ext cx="2932672" cy="2256905"/>
          </a:xfrm>
          <a:prstGeom prst="rect">
            <a:avLst/>
          </a:prstGeom>
        </p:spPr>
      </p:pic>
      <p:sp>
        <p:nvSpPr>
          <p:cNvPr id="68" name="TextBox 67">
            <a:extLst>
              <a:ext uri="{FF2B5EF4-FFF2-40B4-BE49-F238E27FC236}">
                <a16:creationId xmlns:a16="http://schemas.microsoft.com/office/drawing/2014/main" id="{33CEDEDD-6C12-1985-0D7C-4B88D594CDC4}"/>
              </a:ext>
            </a:extLst>
          </p:cNvPr>
          <p:cNvSpPr txBox="1"/>
          <p:nvPr/>
        </p:nvSpPr>
        <p:spPr>
          <a:xfrm>
            <a:off x="221818" y="97701"/>
            <a:ext cx="2173542" cy="20467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1000" b="1" u="sng" dirty="0"/>
              <a:t>Introduction &amp; Objectives</a:t>
            </a:r>
          </a:p>
          <a:p>
            <a:pPr algn="just"/>
            <a:r>
              <a:rPr lang="en-US" sz="900" b="1" dirty="0"/>
              <a:t>The Problem:</a:t>
            </a:r>
            <a:r>
              <a:rPr lang="en-US" sz="900" dirty="0"/>
              <a:t> Modern geodetic data (GPS) is crucial for monitoring megathrust earthquakes but is temporally limited, with most records only beginning in the 1990s.</a:t>
            </a:r>
          </a:p>
          <a:p>
            <a:pPr algn="just"/>
            <a:r>
              <a:rPr lang="en-US" sz="900" b="1" dirty="0"/>
              <a:t>The Solution:</a:t>
            </a:r>
            <a:r>
              <a:rPr lang="en-US" sz="900" dirty="0"/>
              <a:t> We utilize coral skeletons as</a:t>
            </a:r>
            <a:r>
              <a:rPr lang="tr-TR" sz="900" dirty="0"/>
              <a:t> temporally</a:t>
            </a:r>
            <a:r>
              <a:rPr lang="en-US" sz="900" dirty="0"/>
              <a:t> high-resolved</a:t>
            </a:r>
            <a:r>
              <a:rPr lang="tr-TR" sz="900" dirty="0"/>
              <a:t> and</a:t>
            </a:r>
            <a:r>
              <a:rPr lang="en-US" sz="900" dirty="0"/>
              <a:t> purely vertical historical geodetic recorders</a:t>
            </a:r>
            <a:r>
              <a:rPr lang="tr-TR" sz="900" dirty="0"/>
              <a:t> in subduction settings</a:t>
            </a:r>
            <a:r>
              <a:rPr lang="en-US" sz="900" dirty="0"/>
              <a:t>.</a:t>
            </a:r>
          </a:p>
          <a:p>
            <a:pPr algn="just"/>
            <a:r>
              <a:rPr lang="en-US" sz="900" b="1" dirty="0"/>
              <a:t>Goal:</a:t>
            </a:r>
            <a:r>
              <a:rPr lang="en-US" sz="900" dirty="0"/>
              <a:t> To establish an annual-scale geodetic record that extends centuries back, providing a deeper understanding of the long-term earthquake cycle.</a:t>
            </a:r>
          </a:p>
        </p:txBody>
      </p:sp>
      <p:sp>
        <p:nvSpPr>
          <p:cNvPr id="69" name="Rectangle 1">
            <a:extLst>
              <a:ext uri="{FF2B5EF4-FFF2-40B4-BE49-F238E27FC236}">
                <a16:creationId xmlns:a16="http://schemas.microsoft.com/office/drawing/2014/main" id="{33639359-45C3-4B33-0916-42355D5A4D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9883" y="2110286"/>
            <a:ext cx="2282663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en-US" sz="1000" b="1" u="sng" dirty="0"/>
              <a:t>Geological Setting &amp; Methodology</a:t>
            </a:r>
          </a:p>
          <a:p>
            <a:pPr algn="just"/>
            <a:r>
              <a:rPr lang="en-US" altLang="en-US" sz="900" b="1" dirty="0"/>
              <a:t>Solomon Islands</a:t>
            </a:r>
          </a:p>
          <a:p>
            <a:pPr algn="just"/>
            <a:r>
              <a:rPr lang="en-US" altLang="en-US" sz="900" dirty="0"/>
              <a:t>Study focused on the New Georgia Group, where the active trench is exceptionally close to the coastline (&lt;30 km). This proximity makes the region highly sensitive to vertical deformation from subduction zone processes.</a:t>
            </a:r>
            <a:endParaRPr lang="tr-TR" altLang="en-US" sz="900" dirty="0"/>
          </a:p>
        </p:txBody>
      </p:sp>
      <p:sp>
        <p:nvSpPr>
          <p:cNvPr id="73" name="Rectangle 2">
            <a:extLst>
              <a:ext uri="{FF2B5EF4-FFF2-40B4-BE49-F238E27FC236}">
                <a16:creationId xmlns:a16="http://schemas.microsoft.com/office/drawing/2014/main" id="{BE5F17BC-F3A4-4EFD-F2A2-92F16F4215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95975" y="4171747"/>
            <a:ext cx="2819444" cy="2662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9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900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Decoupling Tectonic vs. Climatic Signals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900" dirty="0"/>
              <a:t>Isotopic signals are influenced by</a:t>
            </a:r>
            <a:r>
              <a:rPr lang="tr-TR" altLang="en-US" sz="900" dirty="0"/>
              <a:t> any local and global sea level change,</a:t>
            </a:r>
            <a:r>
              <a:rPr lang="en-US" altLang="en-US" sz="900" dirty="0"/>
              <a:t> Sea Surface Temperature (SST), Sea Surface Salinity (SSS), ENSO variability</a:t>
            </a:r>
            <a:r>
              <a:rPr lang="tr-TR" altLang="en-US" sz="900" dirty="0"/>
              <a:t> or Pacific Decadal Oscillation (PDO).</a:t>
            </a:r>
            <a:endParaRPr lang="en-US" altLang="en-US" sz="900" dirty="0"/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900" dirty="0"/>
              <a:t>By comparing coral data with external instrumental datasets, we successfully isolated the </a:t>
            </a:r>
            <a:r>
              <a:rPr lang="en-US" altLang="en-US" sz="900" b="1" dirty="0"/>
              <a:t>tectonic signal </a:t>
            </a:r>
            <a:r>
              <a:rPr lang="en-US" altLang="en-US" sz="900" dirty="0"/>
              <a:t>from climatic noise.</a:t>
            </a:r>
            <a:r>
              <a:rPr lang="tr-TR" altLang="en-US" sz="900" dirty="0"/>
              <a:t> Also spectral tools help to filter high frequency parameters compared to tectonics.</a:t>
            </a:r>
            <a:endParaRPr lang="en-US" altLang="en-US" sz="900" dirty="0"/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900" u="sng" dirty="0"/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u="sng" dirty="0"/>
              <a:t>Morphology vs. Geochemistry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While coral morphology</a:t>
            </a:r>
            <a:r>
              <a:rPr kumimoji="0" lang="tr-TR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indicates RSL change, it is often "binary"</a:t>
            </a:r>
            <a:r>
              <a:rPr lang="tr-TR" altLang="en-US" sz="900" dirty="0"/>
              <a:t>. I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 only records events that reach the low-tide level.</a:t>
            </a:r>
            <a:r>
              <a:rPr kumimoji="0" lang="tr-TR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Isotop</a:t>
            </a:r>
            <a:r>
              <a:rPr kumimoji="0" lang="tr-TR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</a:t>
            </a: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analysis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provides a continuous vertical record, even when the coral remains submerged.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640E7B5-8421-AAE3-75E6-6D7C141773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98" t="12383" r="9587" b="12383"/>
          <a:stretch>
            <a:fillRect/>
          </a:stretch>
        </p:blipFill>
        <p:spPr>
          <a:xfrm>
            <a:off x="6035126" y="2500356"/>
            <a:ext cx="2167551" cy="17061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AEF867E-A0C1-3F83-A7A4-431411CA6CC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0" t="9491" r="6910" b="5719"/>
          <a:stretch>
            <a:fillRect/>
          </a:stretch>
        </p:blipFill>
        <p:spPr>
          <a:xfrm>
            <a:off x="2521011" y="1268149"/>
            <a:ext cx="3257690" cy="2573601"/>
          </a:xfrm>
          <a:prstGeom prst="rect">
            <a:avLst/>
          </a:prstGeom>
        </p:spPr>
      </p:pic>
      <p:sp>
        <p:nvSpPr>
          <p:cNvPr id="74" name="Rectangle 3">
            <a:extLst>
              <a:ext uri="{FF2B5EF4-FFF2-40B4-BE49-F238E27FC236}">
                <a16:creationId xmlns:a16="http://schemas.microsoft.com/office/drawing/2014/main" id="{C18814DF-60F9-C63E-2C15-89B4060290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7052" y="2829210"/>
            <a:ext cx="1740908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00" b="1" i="0" u="sng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Summary &amp; Conclusions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l-GR" altLang="en-US" sz="900" dirty="0"/>
              <a:t>δ</a:t>
            </a:r>
            <a:r>
              <a:rPr lang="en-US" altLang="en-US" sz="900" dirty="0"/>
              <a:t>13C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correlates strongly with RSL and aligns with external environmental datasets (SST, SSS, and Tide Gauges).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Coral morphology provides a structural "sanity check" that validates the isotopic trends.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9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Major Finding: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We demonstrate that </a:t>
            </a:r>
            <a:r>
              <a:rPr lang="el-GR" altLang="en-US" sz="900" dirty="0"/>
              <a:t>δ</a:t>
            </a:r>
            <a:r>
              <a:rPr lang="en-US" altLang="en-US" sz="900" dirty="0"/>
              <a:t>13C</a:t>
            </a:r>
            <a:r>
              <a:rPr lang="tr-TR" altLang="en-US" sz="900" dirty="0"/>
              <a:t> 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is a robust indicator of vertical tectonics and serves as a powerful proxy for </a:t>
            </a:r>
            <a:r>
              <a:rPr kumimoji="0" lang="en-US" altLang="en-US" sz="9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paleogeodesy</a:t>
            </a:r>
            <a:r>
              <a:rPr kumimoji="0" lang="en-US" altLang="en-US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subduction environments.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C566CC1-1521-9589-673A-F1E09B920B19}"/>
              </a:ext>
            </a:extLst>
          </p:cNvPr>
          <p:cNvSpPr txBox="1"/>
          <p:nvPr/>
        </p:nvSpPr>
        <p:spPr>
          <a:xfrm>
            <a:off x="6811346" y="2154666"/>
            <a:ext cx="9793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800" dirty="0">
                <a:solidFill>
                  <a:srgbClr val="FF0000"/>
                </a:solidFill>
                <a:highlight>
                  <a:srgbClr val="C0C0C0"/>
                </a:highlight>
              </a:rPr>
              <a:t>Horizontal Paths</a:t>
            </a:r>
            <a:endParaRPr lang="en-US" sz="800" dirty="0">
              <a:solidFill>
                <a:srgbClr val="FF0000"/>
              </a:solidFill>
              <a:highlight>
                <a:srgbClr val="C0C0C0"/>
              </a:highlight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7488784-0194-355E-F1A3-A95F83D45C28}"/>
              </a:ext>
            </a:extLst>
          </p:cNvPr>
          <p:cNvSpPr txBox="1"/>
          <p:nvPr/>
        </p:nvSpPr>
        <p:spPr>
          <a:xfrm>
            <a:off x="8628267" y="2383887"/>
            <a:ext cx="9793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800" dirty="0">
                <a:solidFill>
                  <a:srgbClr val="FFFF00"/>
                </a:solidFill>
                <a:highlight>
                  <a:srgbClr val="808080"/>
                </a:highlight>
              </a:rPr>
              <a:t>Vertical Paths</a:t>
            </a:r>
            <a:endParaRPr lang="en-US" sz="800" dirty="0">
              <a:solidFill>
                <a:srgbClr val="FFFF00"/>
              </a:solidFill>
              <a:highlight>
                <a:srgbClr val="808080"/>
              </a:highlight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1D66C020-51E3-2078-F853-C26BF6E13FB4}"/>
              </a:ext>
            </a:extLst>
          </p:cNvPr>
          <p:cNvSpPr txBox="1"/>
          <p:nvPr/>
        </p:nvSpPr>
        <p:spPr>
          <a:xfrm>
            <a:off x="10116974" y="5042487"/>
            <a:ext cx="176106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sz="900" b="1" u="sng" dirty="0"/>
              <a:t>Ongoing &amp; Future Work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900" dirty="0"/>
              <a:t>Implementing a </a:t>
            </a:r>
            <a:r>
              <a:rPr lang="en-US" sz="900" b="1" dirty="0" err="1"/>
              <a:t>bayesian</a:t>
            </a:r>
            <a:r>
              <a:rPr lang="en-US" sz="900" b="1" dirty="0"/>
              <a:t> age model</a:t>
            </a:r>
            <a:r>
              <a:rPr lang="en-US" sz="900" dirty="0"/>
              <a:t> to refine the temporal resolution of the proxy.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sz="900" b="1" dirty="0"/>
              <a:t>Scaling:</a:t>
            </a:r>
            <a:r>
              <a:rPr lang="en-US" sz="900" dirty="0"/>
              <a:t> Expanding the analysis to a broader suite of coral samples for a comprehensive regional reconstruction of the Solomon Islands' seismic history.</a:t>
            </a:r>
          </a:p>
        </p:txBody>
      </p:sp>
      <p:pic>
        <p:nvPicPr>
          <p:cNvPr id="81" name="Picture 80" descr="A blue and white logo&#10;&#10;AI-generated content may be incorrect.">
            <a:extLst>
              <a:ext uri="{FF2B5EF4-FFF2-40B4-BE49-F238E27FC236}">
                <a16:creationId xmlns:a16="http://schemas.microsoft.com/office/drawing/2014/main" id="{9ECE1D58-03AC-3706-858C-F129CE30D7B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3513" y="175428"/>
            <a:ext cx="948334" cy="948334"/>
          </a:xfrm>
          <a:prstGeom prst="rect">
            <a:avLst/>
          </a:prstGeom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672542F6-A98D-3224-911F-B2808AA625BD}"/>
              </a:ext>
            </a:extLst>
          </p:cNvPr>
          <p:cNvSpPr txBox="1"/>
          <p:nvPr/>
        </p:nvSpPr>
        <p:spPr>
          <a:xfrm>
            <a:off x="250773" y="5195915"/>
            <a:ext cx="21876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en-US" sz="900" b="1" dirty="0"/>
              <a:t>Methods</a:t>
            </a:r>
          </a:p>
          <a:p>
            <a:pPr algn="just"/>
            <a:r>
              <a:rPr lang="en-US" altLang="en-US" sz="900" u="sng" dirty="0"/>
              <a:t>Sampling:</a:t>
            </a:r>
            <a:r>
              <a:rPr lang="en-US" altLang="en-US" sz="900" dirty="0"/>
              <a:t> Collected </a:t>
            </a:r>
            <a:r>
              <a:rPr lang="en-US" altLang="en-US" sz="900" b="1" dirty="0"/>
              <a:t>575</a:t>
            </a:r>
            <a:r>
              <a:rPr lang="en-US" altLang="en-US" sz="900" dirty="0"/>
              <a:t> horizontal and </a:t>
            </a:r>
            <a:r>
              <a:rPr lang="en-US" altLang="en-US" sz="900" b="1" dirty="0"/>
              <a:t>141</a:t>
            </a:r>
            <a:r>
              <a:rPr lang="en-US" altLang="en-US" sz="900" dirty="0"/>
              <a:t> vertical coral samples. We measured stable isotopes </a:t>
            </a:r>
            <a:r>
              <a:rPr lang="el-GR" altLang="en-US" sz="900" dirty="0"/>
              <a:t>δ</a:t>
            </a:r>
            <a:r>
              <a:rPr lang="en-US" altLang="en-US" sz="900" baseline="30000" dirty="0"/>
              <a:t>13</a:t>
            </a:r>
            <a:r>
              <a:rPr lang="en-US" altLang="en-US" sz="900" dirty="0"/>
              <a:t>C and</a:t>
            </a:r>
            <a:r>
              <a:rPr lang="el-GR" altLang="en-US" sz="900" dirty="0"/>
              <a:t> δ</a:t>
            </a:r>
            <a:r>
              <a:rPr lang="en-US" altLang="en-US" sz="900" baseline="30000" dirty="0"/>
              <a:t>18</a:t>
            </a:r>
            <a:r>
              <a:rPr lang="en-US" altLang="en-US" sz="900" dirty="0"/>
              <a:t>O to estimate relative sea level (RSL).</a:t>
            </a:r>
          </a:p>
          <a:p>
            <a:pPr algn="just"/>
            <a:endParaRPr lang="en-US" altLang="en-US" sz="900" dirty="0"/>
          </a:p>
          <a:p>
            <a:pPr algn="just"/>
            <a:r>
              <a:rPr lang="en-US" altLang="en-US" sz="900" u="sng" dirty="0"/>
              <a:t>Calibration:</a:t>
            </a:r>
            <a:r>
              <a:rPr lang="en-US" altLang="en-US" sz="900" dirty="0"/>
              <a:t> Established a nearly linear relationship between water depth and </a:t>
            </a:r>
            <a:r>
              <a:rPr lang="el-GR" altLang="en-US" sz="900" dirty="0"/>
              <a:t>δ</a:t>
            </a:r>
            <a:r>
              <a:rPr lang="en-US" altLang="en-US" sz="900" baseline="30000" dirty="0"/>
              <a:t>13</a:t>
            </a:r>
            <a:r>
              <a:rPr lang="en-US" altLang="en-US" sz="900" dirty="0"/>
              <a:t>C by analyzing vertical samples from synchronized ages.</a:t>
            </a:r>
          </a:p>
          <a:p>
            <a:pPr algn="just"/>
            <a:endParaRPr lang="en-US" sz="600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E4306318-714E-0CC4-7759-4149FD6E3600}"/>
              </a:ext>
            </a:extLst>
          </p:cNvPr>
          <p:cNvSpPr txBox="1"/>
          <p:nvPr/>
        </p:nvSpPr>
        <p:spPr>
          <a:xfrm>
            <a:off x="2584902" y="3771637"/>
            <a:ext cx="321163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just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en-US" sz="1000" b="1" u="sng" dirty="0"/>
              <a:t>Results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900" dirty="0"/>
              <a:t>Stable isotopes clearly record major regional seismic events: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900" b="1" dirty="0"/>
              <a:t>1936 Event 7.0 M</a:t>
            </a:r>
            <a:r>
              <a:rPr lang="en-US" altLang="en-US" sz="900" b="1" baseline="-25000" dirty="0"/>
              <a:t>W</a:t>
            </a:r>
            <a:r>
              <a:rPr lang="en-US" altLang="en-US" sz="900" b="1" dirty="0"/>
              <a:t>:</a:t>
            </a:r>
            <a:r>
              <a:rPr lang="en-US" altLang="en-US" sz="900" dirty="0"/>
              <a:t> Captured primarily in the </a:t>
            </a:r>
            <a:r>
              <a:rPr lang="el-GR" altLang="en-US" sz="9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δ</a:t>
            </a:r>
            <a:r>
              <a:rPr lang="en-US" altLang="en-US" sz="9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18O</a:t>
            </a:r>
            <a:endParaRPr lang="tr-TR" altLang="en-US" sz="9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900" b="1" dirty="0"/>
              <a:t>2007 Event 8.1 M</a:t>
            </a:r>
            <a:r>
              <a:rPr lang="en-US" altLang="en-US" sz="900" b="1" baseline="-25000" dirty="0"/>
              <a:t>W</a:t>
            </a:r>
            <a:r>
              <a:rPr lang="en-US" altLang="en-US" sz="900" b="1" dirty="0"/>
              <a:t>: </a:t>
            </a:r>
            <a:r>
              <a:rPr lang="en-US" altLang="en-US" sz="900" dirty="0"/>
              <a:t>Strongly reflected in </a:t>
            </a:r>
            <a:r>
              <a:rPr lang="el-GR" altLang="en-US" sz="900" dirty="0">
                <a:solidFill>
                  <a:schemeClr val="accent6">
                    <a:lumMod val="75000"/>
                  </a:schemeClr>
                </a:solidFill>
              </a:rPr>
              <a:t>δ</a:t>
            </a:r>
            <a:r>
              <a:rPr lang="en-US" altLang="en-US" sz="900" dirty="0">
                <a:solidFill>
                  <a:schemeClr val="accent6">
                    <a:lumMod val="75000"/>
                  </a:schemeClr>
                </a:solidFill>
              </a:rPr>
              <a:t>13C</a:t>
            </a:r>
          </a:p>
          <a:p>
            <a:endParaRPr lang="en-US" sz="900" dirty="0"/>
          </a:p>
        </p:txBody>
      </p:sp>
      <p:pic>
        <p:nvPicPr>
          <p:cNvPr id="97" name="Picture 96" descr="A graph of different types of data&#10;&#10;AI-generated content may be incorrect.">
            <a:extLst>
              <a:ext uri="{FF2B5EF4-FFF2-40B4-BE49-F238E27FC236}">
                <a16:creationId xmlns:a16="http://schemas.microsoft.com/office/drawing/2014/main" id="{7579D738-FD0B-E806-C60F-3ABBF90BD6A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3026"/>
          <a:stretch>
            <a:fillRect/>
          </a:stretch>
        </p:blipFill>
        <p:spPr>
          <a:xfrm>
            <a:off x="8347128" y="4291422"/>
            <a:ext cx="1655248" cy="2281315"/>
          </a:xfrm>
          <a:prstGeom prst="rect">
            <a:avLst/>
          </a:prstGeom>
        </p:spPr>
      </p:pic>
      <p:cxnSp>
        <p:nvCxnSpPr>
          <p:cNvPr id="103" name="Straight Connector 102">
            <a:extLst>
              <a:ext uri="{FF2B5EF4-FFF2-40B4-BE49-F238E27FC236}">
                <a16:creationId xmlns:a16="http://schemas.microsoft.com/office/drawing/2014/main" id="{B1D1D568-4E34-06D3-6F79-A0C51DE196D1}"/>
              </a:ext>
            </a:extLst>
          </p:cNvPr>
          <p:cNvCxnSpPr>
            <a:cxnSpLocks/>
          </p:cNvCxnSpPr>
          <p:nvPr/>
        </p:nvCxnSpPr>
        <p:spPr>
          <a:xfrm flipH="1">
            <a:off x="9226702" y="3199102"/>
            <a:ext cx="481217" cy="127317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06" name="TextBox 105">
            <a:extLst>
              <a:ext uri="{FF2B5EF4-FFF2-40B4-BE49-F238E27FC236}">
                <a16:creationId xmlns:a16="http://schemas.microsoft.com/office/drawing/2014/main" id="{4DAD4CFF-4E63-0379-0E38-262F4D75527D}"/>
              </a:ext>
            </a:extLst>
          </p:cNvPr>
          <p:cNvSpPr txBox="1"/>
          <p:nvPr/>
        </p:nvSpPr>
        <p:spPr>
          <a:xfrm>
            <a:off x="8997741" y="3316138"/>
            <a:ext cx="8135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1">
                    <a:lumMod val="60000"/>
                    <a:lumOff val="40000"/>
                  </a:schemeClr>
                </a:solidFill>
                <a:highlight>
                  <a:srgbClr val="808080"/>
                </a:highlight>
              </a:rPr>
              <a:t>Prior Results</a:t>
            </a: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D0035428-44BF-B39F-DFF7-48371A46C549}"/>
              </a:ext>
            </a:extLst>
          </p:cNvPr>
          <p:cNvSpPr txBox="1"/>
          <p:nvPr/>
        </p:nvSpPr>
        <p:spPr>
          <a:xfrm>
            <a:off x="6136098" y="1337583"/>
            <a:ext cx="9793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solidFill>
                  <a:schemeClr val="accent2">
                    <a:lumMod val="50000"/>
                  </a:schemeClr>
                </a:solidFill>
                <a:highlight>
                  <a:srgbClr val="C0C0C0"/>
                </a:highlight>
              </a:rPr>
              <a:t>Die Down Surface</a:t>
            </a:r>
          </a:p>
        </p:txBody>
      </p:sp>
      <p:cxnSp>
        <p:nvCxnSpPr>
          <p:cNvPr id="112" name="Straight Connector 111">
            <a:extLst>
              <a:ext uri="{FF2B5EF4-FFF2-40B4-BE49-F238E27FC236}">
                <a16:creationId xmlns:a16="http://schemas.microsoft.com/office/drawing/2014/main" id="{D345A353-4668-492A-5C43-230803226BF4}"/>
              </a:ext>
            </a:extLst>
          </p:cNvPr>
          <p:cNvCxnSpPr>
            <a:cxnSpLocks/>
          </p:cNvCxnSpPr>
          <p:nvPr/>
        </p:nvCxnSpPr>
        <p:spPr>
          <a:xfrm>
            <a:off x="10113081" y="2827629"/>
            <a:ext cx="1901280" cy="1581"/>
          </a:xfrm>
          <a:prstGeom prst="line">
            <a:avLst/>
          </a:prstGeom>
          <a:ln w="38100">
            <a:solidFill>
              <a:srgbClr val="28548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4" name="Picture 113" descr="A map of the world with orange dots&#10;&#10;AI-generated content may be incorrect.">
            <a:extLst>
              <a:ext uri="{FF2B5EF4-FFF2-40B4-BE49-F238E27FC236}">
                <a16:creationId xmlns:a16="http://schemas.microsoft.com/office/drawing/2014/main" id="{8FBB15AD-AF3B-0BF9-08B1-BDB38003CEA4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4193" r="5509"/>
          <a:stretch>
            <a:fillRect/>
          </a:stretch>
        </p:blipFill>
        <p:spPr>
          <a:xfrm>
            <a:off x="9987589" y="1348155"/>
            <a:ext cx="1947936" cy="1282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4785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</TotalTime>
  <Words>462</Words>
  <Application>Microsoft Office PowerPoint</Application>
  <PresentationFormat>Widescreen</PresentationFormat>
  <Paragraphs>35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High-resolution Coral Geodesy in the Solomon Islands  M. Ege Karaesmen1, Luc Lavier1, Frederick Taylor1 1University of Texas at Austin, UTIG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Karaesmen, Mehmet E</dc:creator>
  <cp:lastModifiedBy>Karaesmen, Mehmet E</cp:lastModifiedBy>
  <cp:revision>30</cp:revision>
  <dcterms:created xsi:type="dcterms:W3CDTF">2026-02-05T16:50:42Z</dcterms:created>
  <dcterms:modified xsi:type="dcterms:W3CDTF">2026-02-06T06:14:20Z</dcterms:modified>
</cp:coreProperties>
</file>